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not a concept deck. The pipeline runs today, and we have finished testing it against real farmer-reported data. Some of what we found is good and some of it is not, and both are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ask so nobody spends the next twelve slides wondering where this is going. Put weight on the closing line: the data is the part only this room can supply.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slide. Do not rush it. The audience knows the self-reporting problem intimately, because they pay for it. Land the last line so the honesty later reads as credibility rather than retreat.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band is the cost story: no hardware, no per-acre imagery fee. The imagery is a public good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Linger here. Everything is computed, not drawn by hand. The winter gap in the Texas panel is exactly the erosion-exposure window a Fieldprint score should care about, and nobody visited either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idea is that armor counts residue and living cover together. That is deliberate, and it is also why armor turns out not to be a tillage detector.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n of 9 on the reduced class honestly if asked: too small to lean on, and excluded from every accuracy figure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one sit on screen. The point to make out loud is that every field in the picture except the orange one is a free measurement -- no enrolment, no contact, no data request -- and that is what makes a local comparison group possible at all. The next slide ranks the orange field against the cotton among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capability slide for anyone who asks what the data is FOR. Members tell us national and state benchmarks do not describe their farm, and this is the answer: a field against its own neighbours, matched to its own crop, with nobody else having to enrol. The catch is the one the rest of this deck is about -- the cover numbers underneath it are uncalibrated on cotton.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blind scoring and the by-field cross-validation. Technical audiences will ask; getting in front of it buys trust 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hide the footnote. The in-sample figures are the optimistic view; the cross-validated ones are what to plan against. Both are in the written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shows operational maturity rather than a science result. Knowing when to refuse to answer is what a platform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slide for the funding ask. The defect was invisible for the entire life of the project and took real ground truth to surface. Say that plainly: we could not have found it any other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Include this slide deliberately. An audience that has been sold remote sensing before is waiting for the catch, and showing it ourselves is worth more than any accuracy figure.</a:t>
            </a:r>
          </a:p>
          <a:p/>
          <a:p>
            <a:r>
              <a:t>The table is the evidence; the four named fields are the demonstration. If anyone doubts it, open the app and filter the field library on "grower-confirmed". Read the four down the columns, not across: the two with a cover crop average 0.589, the two without average 0.484. Tillage moves these four by 0.03, the cover crop by 0.11 -- the same split the 174 field-years show.</a:t>
            </a:r>
          </a:p>
          <a:p/>
          <a:p>
            <a:r>
              <a:t>Do not offer a ratio for how much more armor reads cover than tillage. The slide used to say 0.26 against 0.02, which took the largest cover cell and the smallest tillage cell from opposite corners of the table. Read fairly it is 0.19 against 0.09, and on marginal medians 0.200 against 0.186. The direction holds under every reading; no single multiple does, so make the point with the three cells instead.</a:t>
            </a:r>
          </a:p>
          <a:p/>
          <a:p>
            <a:r>
              <a:t>Do not lean on the 0.480 against 0.488 pair even though it points the right way. Eight thousandths on an index this deck calls provisional is not a number to defend in a room, and offering it invites the one objection that would cost us the rest.</a:t>
            </a:r>
          </a:p>
          <a:p/>
          <a:p>
            <a:r>
              <a:t>Jefferson Co. is the soft one if pressed: its 2021 phenology confidence is low, and the armor window closes three days before an estimated planting date. It still lands above both fields with no cover crop, which is the point being made.</a:t>
            </a:r>
          </a:p>
          <a:p/>
          <a:p>
            <a:r>
              <a:t>Be straight that four fields illustrate rather than prove. They also differ in size, county and irrigation. The 174 field-years carry the claim.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asking for measurements that are cheap on the ground but impossible to synthesise from orbit. Make clear we are not asking anyone to fund a satellite.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in brackets need filling before this is presented. Do not improvise them in the room. If pressed, offer to follow up in writing the same week.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not the technology. Offer the written validation report in the room: it contains every number in this deck plus the ones that did not flatter us, and handing it over is the strongest trust signal available.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if a technical evaluator is in the room. Per-field runtime of over a minute rules out a synchronous API, which is why orchestration is the largest line. The retired-risk card is the one to dwell on: the biggest contingency in the September estimate was closed by building it. Be candid that the integration row cannot be estimated from outside.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TM-H_wTAG_rgb.png"/>
          <p:cNvPicPr>
            <a:picLocks noChangeAspect="1"/>
          </p:cNvPicPr>
          <p:nvPr/>
        </p:nvPicPr>
        <p:blipFill>
          <a:blip r:embed="rId2"/>
          <a:stretch>
            <a:fillRect/>
          </a:stretch>
        </p:blipFill>
        <p:spPr>
          <a:xfrm>
            <a:off x="502920" y="685800"/>
            <a:ext cx="4206240" cy="1605360"/>
          </a:xfrm>
          <a:prstGeom prst="rect">
            <a:avLst/>
          </a:prstGeom>
        </p:spPr>
      </p:pic>
      <p:sp>
        <p:nvSpPr>
          <p:cNvPr id="10" name="TextBox 9"/>
          <p:cNvSpPr txBox="1"/>
          <p:nvPr/>
        </p:nvSpPr>
        <p:spPr>
          <a:xfrm>
            <a:off x="502920" y="2286000"/>
            <a:ext cx="10789920" cy="1828800"/>
          </a:xfrm>
          <a:prstGeom prst="rect">
            <a:avLst/>
          </a:prstGeom>
          <a:noFill/>
        </p:spPr>
        <p:txBody>
          <a:bodyPr wrap="square" lIns="0" rIns="0" tIns="0" bIns="0" anchor="t">
            <a:spAutoFit/>
          </a:bodyPr>
          <a:lstStyle/>
          <a:p>
            <a:pPr algn="l">
              <a:lnSpc>
                <a:spcPct val="100000"/>
              </a:lnSpc>
            </a:pPr>
            <a:r>
              <a:rPr sz="4600" b="1">
                <a:solidFill>
                  <a:srgbClr val="10427C"/>
                </a:solidFill>
                <a:latin typeface="Arial Narrow"/>
              </a:rPr>
              <a:t>Cotton ground,</a:t>
            </a:r>
          </a:p>
          <a:p>
            <a:pPr algn="l">
              <a:lnSpc>
                <a:spcPct val="100000"/>
              </a:lnSpc>
            </a:pPr>
            <a:r>
              <a:rPr sz="4600" b="1">
                <a:solidFill>
                  <a:srgbClr val="10427C"/>
                </a:solidFill>
                <a:latin typeface="Arial Narrow"/>
              </a:rPr>
              <a:t>measured from orbit</a:t>
            </a:r>
          </a:p>
        </p:txBody>
      </p:sp>
      <p:sp>
        <p:nvSpPr>
          <p:cNvPr id="11" name="Rectangle 10"/>
          <p:cNvSpPr/>
          <p:nvPr/>
        </p:nvSpPr>
        <p:spPr>
          <a:xfrm>
            <a:off x="502920" y="4224528"/>
            <a:ext cx="2011680"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526280"/>
            <a:ext cx="9326880" cy="914400"/>
          </a:xfrm>
          <a:prstGeom prst="rect">
            <a:avLst/>
          </a:prstGeom>
          <a:noFill/>
        </p:spPr>
        <p:txBody>
          <a:bodyPr wrap="square" lIns="0" rIns="0" tIns="0" bIns="0" anchor="t">
            <a:spAutoFit/>
          </a:bodyPr>
          <a:lstStyle/>
          <a:p>
            <a:pPr algn="l">
              <a:lnSpc>
                <a:spcPct val="135000"/>
              </a:lnSpc>
            </a:pPr>
            <a:r>
              <a:rPr sz="1700" b="0">
                <a:solidFill>
                  <a:srgbClr val="58595B"/>
                </a:solidFill>
                <a:latin typeface="Arial"/>
              </a:rPr>
              <a:t>A working pipeline that reads tillage, residue and cover crops off free satellite imagery — and an honest account of what it can and cannot do yet.</a:t>
            </a:r>
          </a:p>
        </p:txBody>
      </p:sp>
      <p:sp>
        <p:nvSpPr>
          <p:cNvPr id="13" name="TextBox 12"/>
          <p:cNvSpPr txBox="1"/>
          <p:nvPr/>
        </p:nvSpPr>
        <p:spPr>
          <a:xfrm>
            <a:off x="502920" y="5897880"/>
            <a:ext cx="3383280" cy="274320"/>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Validated against 183 cotton field-years</a:t>
            </a:r>
          </a:p>
        </p:txBody>
      </p:sp>
      <p:sp>
        <p:nvSpPr>
          <p:cNvPr id="14" name="TextBox 13"/>
          <p:cNvSpPr txBox="1"/>
          <p:nvPr/>
        </p:nvSpPr>
        <p:spPr>
          <a:xfrm>
            <a:off x="4069080" y="5897880"/>
            <a:ext cx="3383280" cy="274320"/>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Georgia, 2018–2021</a:t>
            </a:r>
          </a:p>
        </p:txBody>
      </p:sp>
      <p:sp>
        <p:nvSpPr>
          <p:cNvPr id="15" name="TextBox 14"/>
          <p:cNvSpPr txBox="1"/>
          <p:nvPr/>
        </p:nvSpPr>
        <p:spPr>
          <a:xfrm>
            <a:off x="7635240" y="5897880"/>
            <a:ext cx="3383280" cy="274320"/>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What we are asking cotton for</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457200"/>
          </a:xfrm>
          <a:prstGeom prst="rect">
            <a:avLst/>
          </a:prstGeom>
          <a:noFill/>
        </p:spPr>
        <p:txBody>
          <a:bodyPr wrap="square" lIns="0" rIns="0" tIns="0" bIns="0" anchor="t">
            <a:spAutoFit/>
          </a:bodyPr>
          <a:lstStyle/>
          <a:p>
            <a:pPr algn="l">
              <a:lnSpc>
                <a:spcPct val="130000"/>
              </a:lnSpc>
            </a:pPr>
            <a:r>
              <a:rPr sz="1500" b="0">
                <a:solidFill>
                  <a:srgbClr val="58595B"/>
                </a:solidFill>
                <a:latin typeface="Arial"/>
              </a:rPr>
              <a:t>The ask comes first, because the technical work only matters if it gets finished. Two things are needed, and one of them is not money.</a:t>
            </a:r>
          </a:p>
        </p:txBody>
      </p:sp>
      <p:sp>
        <p:nvSpPr>
          <p:cNvPr id="13" name="Rounded Rectangle 12"/>
          <p:cNvSpPr/>
          <p:nvPr/>
        </p:nvSpPr>
        <p:spPr>
          <a:xfrm>
            <a:off x="502920" y="2240280"/>
            <a:ext cx="5257800" cy="2057400"/>
          </a:xfrm>
          <a:prstGeom prst="roundRect">
            <a:avLst>
              <a:gd name="adj" fmla="val 5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87168"/>
            <a:ext cx="3657600" cy="228600"/>
          </a:xfrm>
          <a:prstGeom prst="rect">
            <a:avLst/>
          </a:prstGeom>
          <a:noFill/>
        </p:spPr>
        <p:txBody>
          <a:bodyPr wrap="square" lIns="0" rIns="0" tIns="0" bIns="0" anchor="t">
            <a:spAutoFit/>
          </a:bodyPr>
          <a:lstStyle/>
          <a:p>
            <a:pPr algn="l">
              <a:lnSpc>
                <a:spcPct val="120000"/>
              </a:lnSpc>
            </a:pPr>
            <a:r>
              <a:rPr sz="1100" b="1">
                <a:solidFill>
                  <a:srgbClr val="10427C"/>
                </a:solidFill>
                <a:latin typeface="Arial Narrow"/>
              </a:rPr>
              <a:t>ONE</a:t>
            </a:r>
          </a:p>
        </p:txBody>
      </p:sp>
      <p:sp>
        <p:nvSpPr>
          <p:cNvPr id="15" name="TextBox 14"/>
          <p:cNvSpPr txBox="1"/>
          <p:nvPr/>
        </p:nvSpPr>
        <p:spPr>
          <a:xfrm>
            <a:off x="822960" y="2788920"/>
            <a:ext cx="4617720" cy="457200"/>
          </a:xfrm>
          <a:prstGeom prst="rect">
            <a:avLst/>
          </a:prstGeom>
          <a:noFill/>
        </p:spPr>
        <p:txBody>
          <a:bodyPr wrap="square" lIns="0" rIns="0" tIns="0" bIns="0" anchor="t">
            <a:spAutoFit/>
          </a:bodyPr>
          <a:lstStyle/>
          <a:p>
            <a:pPr algn="l">
              <a:lnSpc>
                <a:spcPct val="120000"/>
              </a:lnSpc>
            </a:pPr>
            <a:r>
              <a:rPr sz="2000" b="1">
                <a:solidFill>
                  <a:srgbClr val="212121"/>
                </a:solidFill>
                <a:latin typeface="Arial Narrow"/>
              </a:rPr>
              <a:t>Implementation funding</a:t>
            </a:r>
          </a:p>
        </p:txBody>
      </p:sp>
      <p:sp>
        <p:nvSpPr>
          <p:cNvPr id="16" name="TextBox 15"/>
          <p:cNvSpPr txBox="1"/>
          <p:nvPr/>
        </p:nvSpPr>
        <p:spPr>
          <a:xfrm>
            <a:off x="822960" y="3401568"/>
            <a:ext cx="4617720" cy="731520"/>
          </a:xfrm>
          <a:prstGeom prst="rect">
            <a:avLst/>
          </a:prstGeom>
          <a:noFill/>
        </p:spPr>
        <p:txBody>
          <a:bodyPr wrap="square" lIns="0" rIns="0" tIns="0" bIns="0" anchor="t">
            <a:spAutoFit/>
          </a:bodyPr>
          <a:lstStyle/>
          <a:p>
            <a:pPr algn="l">
              <a:lnSpc>
                <a:spcPct val="130000"/>
              </a:lnSpc>
            </a:pPr>
            <a:r>
              <a:rPr sz="1300" b="0">
                <a:solidFill>
                  <a:srgbClr val="58595B"/>
                </a:solidFill>
                <a:latin typeface="Arial"/>
              </a:rPr>
              <a:t>To move this out of demonstration and into the Fieldprint Platform, where growers and brands actually use it.</a:t>
            </a:r>
          </a:p>
        </p:txBody>
      </p:sp>
      <p:sp>
        <p:nvSpPr>
          <p:cNvPr id="17" name="Rounded Rectangle 16"/>
          <p:cNvSpPr/>
          <p:nvPr/>
        </p:nvSpPr>
        <p:spPr>
          <a:xfrm>
            <a:off x="6126480" y="2240280"/>
            <a:ext cx="5257800" cy="2057400"/>
          </a:xfrm>
          <a:prstGeom prst="roundRect">
            <a:avLst>
              <a:gd name="adj" fmla="val 5000"/>
            </a:avLst>
          </a:prstGeom>
          <a:solidFill>
            <a:srgbClr val="FFFFFF"/>
          </a:solidFill>
          <a:ln w="1905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87168"/>
            <a:ext cx="3657600" cy="228600"/>
          </a:xfrm>
          <a:prstGeom prst="rect">
            <a:avLst/>
          </a:prstGeom>
          <a:noFill/>
        </p:spPr>
        <p:txBody>
          <a:bodyPr wrap="square" lIns="0" rIns="0" tIns="0" bIns="0" anchor="t">
            <a:spAutoFit/>
          </a:bodyPr>
          <a:lstStyle/>
          <a:p>
            <a:pPr algn="l">
              <a:lnSpc>
                <a:spcPct val="120000"/>
              </a:lnSpc>
            </a:pPr>
            <a:r>
              <a:rPr sz="1100" b="1">
                <a:solidFill>
                  <a:srgbClr val="F46C09"/>
                </a:solidFill>
                <a:latin typeface="Arial Narrow"/>
              </a:rPr>
              <a:t>TWO</a:t>
            </a:r>
          </a:p>
        </p:txBody>
      </p:sp>
      <p:sp>
        <p:nvSpPr>
          <p:cNvPr id="19" name="TextBox 18"/>
          <p:cNvSpPr txBox="1"/>
          <p:nvPr/>
        </p:nvSpPr>
        <p:spPr>
          <a:xfrm>
            <a:off x="6446520" y="2788920"/>
            <a:ext cx="4617720" cy="457200"/>
          </a:xfrm>
          <a:prstGeom prst="rect">
            <a:avLst/>
          </a:prstGeom>
          <a:noFill/>
        </p:spPr>
        <p:txBody>
          <a:bodyPr wrap="square" lIns="0" rIns="0" tIns="0" bIns="0" anchor="t">
            <a:spAutoFit/>
          </a:bodyPr>
          <a:lstStyle/>
          <a:p>
            <a:pPr algn="l">
              <a:lnSpc>
                <a:spcPct val="120000"/>
              </a:lnSpc>
            </a:pPr>
            <a:r>
              <a:rPr sz="2000" b="1">
                <a:solidFill>
                  <a:srgbClr val="212121"/>
                </a:solidFill>
                <a:latin typeface="Arial Narrow"/>
              </a:rPr>
              <a:t>Ground truth from cotton ground</a:t>
            </a:r>
          </a:p>
        </p:txBody>
      </p:sp>
      <p:sp>
        <p:nvSpPr>
          <p:cNvPr id="20" name="TextBox 19"/>
          <p:cNvSpPr txBox="1"/>
          <p:nvPr/>
        </p:nvSpPr>
        <p:spPr>
          <a:xfrm>
            <a:off x="6446520" y="3401568"/>
            <a:ext cx="4617720" cy="731520"/>
          </a:xfrm>
          <a:prstGeom prst="rect">
            <a:avLst/>
          </a:prstGeom>
          <a:noFill/>
        </p:spPr>
        <p:txBody>
          <a:bodyPr wrap="square" lIns="0" rIns="0" tIns="0" bIns="0" anchor="t">
            <a:spAutoFit/>
          </a:bodyPr>
          <a:lstStyle/>
          <a:p>
            <a:pPr algn="l">
              <a:lnSpc>
                <a:spcPct val="130000"/>
              </a:lnSpc>
            </a:pPr>
            <a:r>
              <a:rPr sz="1300" b="0">
                <a:solidFill>
                  <a:srgbClr val="58595B"/>
                </a:solidFill>
                <a:latin typeface="Arial"/>
              </a:rPr>
              <a:t>Residue transects and practice records. Without them the numbers stay provisional, and we will keep saying so.</a:t>
            </a:r>
          </a:p>
        </p:txBody>
      </p:sp>
      <p:sp>
        <p:nvSpPr>
          <p:cNvPr id="21" name="TextBox 20"/>
          <p:cNvSpPr txBox="1"/>
          <p:nvPr/>
        </p:nvSpPr>
        <p:spPr>
          <a:xfrm>
            <a:off x="502920" y="4617720"/>
            <a:ext cx="10789920" cy="548640"/>
          </a:xfrm>
          <a:prstGeom prst="rect">
            <a:avLst/>
          </a:prstGeom>
          <a:noFill/>
        </p:spPr>
        <p:txBody>
          <a:bodyPr wrap="square" lIns="0" rIns="0" tIns="0" bIns="0" anchor="t">
            <a:spAutoFit/>
          </a:bodyPr>
          <a:lstStyle/>
          <a:p>
            <a:pPr algn="l">
              <a:lnSpc>
                <a:spcPct val="130000"/>
              </a:lnSpc>
            </a:pPr>
            <a:r>
              <a:rPr sz="1400" b="1">
                <a:solidFill>
                  <a:srgbClr val="10427C"/>
                </a:solidFill>
                <a:latin typeface="Arial"/>
              </a:rPr>
              <a:t>The second cannot be bought from a vendor. </a:t>
            </a:r>
            <a:r>
              <a:rPr sz="1400" b="0">
                <a:solidFill>
                  <a:srgbClr val="10427C"/>
                </a:solidFill>
                <a:latin typeface="Arial"/>
              </a:rPr>
              <a:t>Only growers and their agronomists have it, which is why this conversation is with you and not with a software company.</a:t>
            </a:r>
          </a:p>
        </p:txBody>
      </p:sp>
      <p:sp>
        <p:nvSpPr>
          <p:cNvPr id="22" name="TextBox 21"/>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Field to Market  ·  Cotton remote sensing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34440"/>
            <a:ext cx="10881360" cy="1737360"/>
          </a:xfrm>
          <a:prstGeom prst="rect">
            <a:avLst/>
          </a:prstGeom>
          <a:noFill/>
        </p:spPr>
        <p:txBody>
          <a:bodyPr wrap="square" lIns="0" rIns="0" tIns="0" bIns="0" anchor="t">
            <a:spAutoFit/>
          </a:bodyPr>
          <a:lstStyle/>
          <a:p>
            <a:pPr algn="l">
              <a:lnSpc>
                <a:spcPct val="112000"/>
              </a:lnSpc>
            </a:pPr>
            <a:r>
              <a:rPr sz="3400" b="1">
                <a:solidFill>
                  <a:srgbClr val="FFFFFF"/>
                </a:solidFill>
                <a:latin typeface="Arial Narrow"/>
              </a:rPr>
              <a:t>Nearly every sustainability claim made about cotton rests on what someone remembered and wrote down.</a:t>
            </a:r>
          </a:p>
        </p:txBody>
      </p:sp>
      <p:sp>
        <p:nvSpPr>
          <p:cNvPr id="10" name="Rectangle 9"/>
          <p:cNvSpPr/>
          <p:nvPr/>
        </p:nvSpPr>
        <p:spPr>
          <a:xfrm>
            <a:off x="502920" y="3200400"/>
            <a:ext cx="2011680"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566160"/>
            <a:ext cx="5120640" cy="1188720"/>
          </a:xfrm>
          <a:prstGeom prst="rect">
            <a:avLst/>
          </a:prstGeom>
          <a:noFill/>
        </p:spPr>
        <p:txBody>
          <a:bodyPr wrap="square" lIns="0" rIns="0" tIns="0" bIns="0" anchor="t">
            <a:spAutoFit/>
          </a:bodyPr>
          <a:lstStyle/>
          <a:p>
            <a:pPr algn="l">
              <a:lnSpc>
                <a:spcPct val="140000"/>
              </a:lnSpc>
            </a:pPr>
            <a:r>
              <a:rPr sz="1400" b="0">
                <a:solidFill>
                  <a:srgbClr val="D6E0EC"/>
                </a:solidFill>
                <a:latin typeface="Arial"/>
              </a:rPr>
              <a:t>Self-reported practice data is costly to collect, impossible to audit at scale, and slow to arrive. Brands are being asked to verify what nobody can see.</a:t>
            </a:r>
          </a:p>
        </p:txBody>
      </p:sp>
      <p:sp>
        <p:nvSpPr>
          <p:cNvPr id="12" name="TextBox 11"/>
          <p:cNvSpPr txBox="1"/>
          <p:nvPr/>
        </p:nvSpPr>
        <p:spPr>
          <a:xfrm>
            <a:off x="6217920" y="3566160"/>
            <a:ext cx="5120640" cy="1188720"/>
          </a:xfrm>
          <a:prstGeom prst="rect">
            <a:avLst/>
          </a:prstGeom>
          <a:noFill/>
        </p:spPr>
        <p:txBody>
          <a:bodyPr wrap="square" lIns="0" rIns="0" tIns="0" bIns="0" anchor="t">
            <a:spAutoFit/>
          </a:bodyPr>
          <a:lstStyle/>
          <a:p>
            <a:pPr algn="l">
              <a:lnSpc>
                <a:spcPct val="140000"/>
              </a:lnSpc>
            </a:pPr>
            <a:r>
              <a:rPr sz="1400" b="0">
                <a:solidFill>
                  <a:srgbClr val="D6E0EC"/>
                </a:solidFill>
                <a:latin typeface="Arial"/>
              </a:rPr>
              <a:t>Meanwhile satellites photograph every cotton field in the country every five days, free of charge, and have done since 2017. The question is whether that imagery can carry the claim.</a:t>
            </a:r>
          </a:p>
        </p:txBody>
      </p:sp>
      <p:sp>
        <p:nvSpPr>
          <p:cNvPr id="13" name="TextBox 12"/>
          <p:cNvSpPr txBox="1"/>
          <p:nvPr/>
        </p:nvSpPr>
        <p:spPr>
          <a:xfrm>
            <a:off x="502920" y="5303520"/>
            <a:ext cx="9601200" cy="457200"/>
          </a:xfrm>
          <a:prstGeom prst="rect">
            <a:avLst/>
          </a:prstGeom>
          <a:noFill/>
        </p:spPr>
        <p:txBody>
          <a:bodyPr wrap="square" lIns="0" rIns="0" tIns="0" bIns="0" anchor="t">
            <a:spAutoFit/>
          </a:bodyPr>
          <a:lstStyle/>
          <a:p>
            <a:pPr algn="l">
              <a:lnSpc>
                <a:spcPct val="130000"/>
              </a:lnSpc>
            </a:pPr>
            <a:r>
              <a:rPr sz="1500" b="0">
                <a:solidFill>
                  <a:srgbClr val="FFD103"/>
                </a:solidFill>
                <a:latin typeface="Arial"/>
              </a:rPr>
              <a:t>We spent this year finding out. This deck is what we learned, including where it fell short.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What we built</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365760"/>
          </a:xfrm>
          <a:prstGeom prst="rect">
            <a:avLst/>
          </a:prstGeom>
          <a:noFill/>
        </p:spPr>
        <p:txBody>
          <a:bodyPr wrap="square" lIns="0" rIns="0" tIns="0" bIns="0" anchor="t">
            <a:spAutoFit/>
          </a:bodyPr>
          <a:lstStyle/>
          <a:p>
            <a:pPr algn="l">
              <a:lnSpc>
                <a:spcPct val="130000"/>
              </a:lnSpc>
            </a:pPr>
            <a:r>
              <a:rPr sz="1500" b="0">
                <a:solidFill>
                  <a:srgbClr val="58595B"/>
                </a:solidFill>
                <a:latin typeface="Arial"/>
              </a:rPr>
              <a:t>A field boundary goes in. All of this comes out, for every season back to 2017, with no field visit and no cost per acre.</a:t>
            </a:r>
          </a:p>
        </p:txBody>
      </p:sp>
      <p:sp>
        <p:nvSpPr>
          <p:cNvPr id="13" name="Rounded Rectangle 12"/>
          <p:cNvSpPr/>
          <p:nvPr/>
        </p:nvSpPr>
        <p:spPr>
          <a:xfrm>
            <a:off x="502920" y="2148840"/>
            <a:ext cx="2624328" cy="1783080"/>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359152"/>
            <a:ext cx="310896"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514600"/>
            <a:ext cx="2194560" cy="411480"/>
          </a:xfrm>
          <a:prstGeom prst="rect">
            <a:avLst/>
          </a:prstGeom>
          <a:noFill/>
        </p:spPr>
        <p:txBody>
          <a:bodyPr wrap="square" lIns="0" rIns="0" tIns="0" bIns="0" anchor="t">
            <a:spAutoFit/>
          </a:bodyPr>
          <a:lstStyle/>
          <a:p>
            <a:pPr algn="l">
              <a:lnSpc>
                <a:spcPct val="120000"/>
              </a:lnSpc>
            </a:pPr>
            <a:r>
              <a:rPr sz="1500" b="1">
                <a:solidFill>
                  <a:srgbClr val="10427C"/>
                </a:solidFill>
                <a:latin typeface="Arial Narrow"/>
              </a:rPr>
              <a:t>Crop grown</a:t>
            </a:r>
          </a:p>
        </p:txBody>
      </p:sp>
      <p:sp>
        <p:nvSpPr>
          <p:cNvPr id="16" name="TextBox 15"/>
          <p:cNvSpPr txBox="1"/>
          <p:nvPr/>
        </p:nvSpPr>
        <p:spPr>
          <a:xfrm>
            <a:off x="731520" y="2999232"/>
            <a:ext cx="2194560" cy="868680"/>
          </a:xfrm>
          <a:prstGeom prst="rect">
            <a:avLst/>
          </a:prstGeom>
          <a:noFill/>
        </p:spPr>
        <p:txBody>
          <a:bodyPr wrap="square" lIns="0" rIns="0" tIns="0" bIns="0" anchor="t">
            <a:spAutoFit/>
          </a:bodyPr>
          <a:lstStyle/>
          <a:p>
            <a:pPr algn="l">
              <a:lnSpc>
                <a:spcPct val="130000"/>
              </a:lnSpc>
            </a:pPr>
            <a:r>
              <a:rPr sz="1100" b="0">
                <a:solidFill>
                  <a:srgbClr val="58595B"/>
                </a:solidFill>
                <a:latin typeface="Arial"/>
              </a:rPr>
              <a:t>Each year of the rotation, from the USDA Cropland Data Layer.</a:t>
            </a:r>
          </a:p>
        </p:txBody>
      </p:sp>
      <p:sp>
        <p:nvSpPr>
          <p:cNvPr id="17" name="Rounded Rectangle 16"/>
          <p:cNvSpPr/>
          <p:nvPr/>
        </p:nvSpPr>
        <p:spPr>
          <a:xfrm>
            <a:off x="3310128" y="2148840"/>
            <a:ext cx="2624328" cy="1783080"/>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38728" y="2359152"/>
            <a:ext cx="310896"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8728" y="2514600"/>
            <a:ext cx="2194560" cy="411480"/>
          </a:xfrm>
          <a:prstGeom prst="rect">
            <a:avLst/>
          </a:prstGeom>
          <a:noFill/>
        </p:spPr>
        <p:txBody>
          <a:bodyPr wrap="square" lIns="0" rIns="0" tIns="0" bIns="0" anchor="t">
            <a:spAutoFit/>
          </a:bodyPr>
          <a:lstStyle/>
          <a:p>
            <a:pPr algn="l">
              <a:lnSpc>
                <a:spcPct val="120000"/>
              </a:lnSpc>
            </a:pPr>
            <a:r>
              <a:rPr sz="1500" b="1">
                <a:solidFill>
                  <a:srgbClr val="10427C"/>
                </a:solidFill>
                <a:latin typeface="Arial Narrow"/>
              </a:rPr>
              <a:t>Planting and harvest</a:t>
            </a:r>
          </a:p>
        </p:txBody>
      </p:sp>
      <p:sp>
        <p:nvSpPr>
          <p:cNvPr id="20" name="TextBox 19"/>
          <p:cNvSpPr txBox="1"/>
          <p:nvPr/>
        </p:nvSpPr>
        <p:spPr>
          <a:xfrm>
            <a:off x="3538728" y="2999232"/>
            <a:ext cx="2194560" cy="868680"/>
          </a:xfrm>
          <a:prstGeom prst="rect">
            <a:avLst/>
          </a:prstGeom>
          <a:noFill/>
        </p:spPr>
        <p:txBody>
          <a:bodyPr wrap="square" lIns="0" rIns="0" tIns="0" bIns="0" anchor="t">
            <a:spAutoFit/>
          </a:bodyPr>
          <a:lstStyle/>
          <a:p>
            <a:pPr algn="l">
              <a:lnSpc>
                <a:spcPct val="130000"/>
              </a:lnSpc>
            </a:pPr>
            <a:r>
              <a:rPr sz="1100" b="0">
                <a:solidFill>
                  <a:srgbClr val="58595B"/>
                </a:solidFill>
                <a:latin typeface="Arial"/>
              </a:rPr>
              <a:t>Inferred from the green-up and senescence curve.</a:t>
            </a:r>
          </a:p>
        </p:txBody>
      </p:sp>
      <p:sp>
        <p:nvSpPr>
          <p:cNvPr id="21" name="Rounded Rectangle 20"/>
          <p:cNvSpPr/>
          <p:nvPr/>
        </p:nvSpPr>
        <p:spPr>
          <a:xfrm>
            <a:off x="6117336" y="2148840"/>
            <a:ext cx="2624328" cy="1783080"/>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45936" y="2359152"/>
            <a:ext cx="310896"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514600"/>
            <a:ext cx="2194560" cy="411480"/>
          </a:xfrm>
          <a:prstGeom prst="rect">
            <a:avLst/>
          </a:prstGeom>
          <a:noFill/>
        </p:spPr>
        <p:txBody>
          <a:bodyPr wrap="square" lIns="0" rIns="0" tIns="0" bIns="0" anchor="t">
            <a:spAutoFit/>
          </a:bodyPr>
          <a:lstStyle/>
          <a:p>
            <a:pPr algn="l">
              <a:lnSpc>
                <a:spcPct val="120000"/>
              </a:lnSpc>
            </a:pPr>
            <a:r>
              <a:rPr sz="1500" b="1">
                <a:solidFill>
                  <a:srgbClr val="10427C"/>
                </a:solidFill>
                <a:latin typeface="Arial Narrow"/>
              </a:rPr>
              <a:t>Cover crops</a:t>
            </a:r>
          </a:p>
        </p:txBody>
      </p:sp>
      <p:sp>
        <p:nvSpPr>
          <p:cNvPr id="24" name="TextBox 23"/>
          <p:cNvSpPr txBox="1"/>
          <p:nvPr/>
        </p:nvSpPr>
        <p:spPr>
          <a:xfrm>
            <a:off x="6345936" y="2999232"/>
            <a:ext cx="2194560" cy="868680"/>
          </a:xfrm>
          <a:prstGeom prst="rect">
            <a:avLst/>
          </a:prstGeom>
          <a:noFill/>
        </p:spPr>
        <p:txBody>
          <a:bodyPr wrap="square" lIns="0" rIns="0" tIns="0" bIns="0" anchor="t">
            <a:spAutoFit/>
          </a:bodyPr>
          <a:lstStyle/>
          <a:p>
            <a:pPr algn="l">
              <a:lnSpc>
                <a:spcPct val="130000"/>
              </a:lnSpc>
            </a:pPr>
            <a:r>
              <a:rPr sz="1100" b="0">
                <a:solidFill>
                  <a:srgbClr val="58595B"/>
                </a:solidFill>
                <a:latin typeface="Arial"/>
              </a:rPr>
              <a:t>Off-season green cover between cash crops.</a:t>
            </a:r>
          </a:p>
        </p:txBody>
      </p:sp>
      <p:sp>
        <p:nvSpPr>
          <p:cNvPr id="25" name="Rounded Rectangle 24"/>
          <p:cNvSpPr/>
          <p:nvPr/>
        </p:nvSpPr>
        <p:spPr>
          <a:xfrm>
            <a:off x="8924544" y="2148840"/>
            <a:ext cx="2624328" cy="1783080"/>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53144" y="2359152"/>
            <a:ext cx="310896"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53144" y="2514600"/>
            <a:ext cx="2194560" cy="411480"/>
          </a:xfrm>
          <a:prstGeom prst="rect">
            <a:avLst/>
          </a:prstGeom>
          <a:noFill/>
        </p:spPr>
        <p:txBody>
          <a:bodyPr wrap="square" lIns="0" rIns="0" tIns="0" bIns="0" anchor="t">
            <a:spAutoFit/>
          </a:bodyPr>
          <a:lstStyle/>
          <a:p>
            <a:pPr algn="l">
              <a:lnSpc>
                <a:spcPct val="120000"/>
              </a:lnSpc>
            </a:pPr>
            <a:r>
              <a:rPr sz="1500" b="1">
                <a:solidFill>
                  <a:srgbClr val="10427C"/>
                </a:solidFill>
                <a:latin typeface="Arial Narrow"/>
              </a:rPr>
              <a:t>Soil armor</a:t>
            </a:r>
          </a:p>
        </p:txBody>
      </p:sp>
      <p:sp>
        <p:nvSpPr>
          <p:cNvPr id="28" name="TextBox 27"/>
          <p:cNvSpPr txBox="1"/>
          <p:nvPr/>
        </p:nvSpPr>
        <p:spPr>
          <a:xfrm>
            <a:off x="9153144" y="2999232"/>
            <a:ext cx="2194560" cy="868680"/>
          </a:xfrm>
          <a:prstGeom prst="rect">
            <a:avLst/>
          </a:prstGeom>
          <a:noFill/>
        </p:spPr>
        <p:txBody>
          <a:bodyPr wrap="square" lIns="0" rIns="0" tIns="0" bIns="0" anchor="t">
            <a:spAutoFit/>
          </a:bodyPr>
          <a:lstStyle/>
          <a:p>
            <a:pPr algn="l">
              <a:lnSpc>
                <a:spcPct val="130000"/>
              </a:lnSpc>
            </a:pPr>
            <a:r>
              <a:rPr sz="1100" b="0">
                <a:solidFill>
                  <a:srgbClr val="58595B"/>
                </a:solidFill>
                <a:latin typeface="Arial"/>
              </a:rPr>
              <a:t>How much of the surface is protected, by residue or by anything living.</a:t>
            </a:r>
          </a:p>
        </p:txBody>
      </p:sp>
      <p:sp>
        <p:nvSpPr>
          <p:cNvPr id="29" name="Rounded Rectangle 28"/>
          <p:cNvSpPr/>
          <p:nvPr/>
        </p:nvSpPr>
        <p:spPr>
          <a:xfrm>
            <a:off x="502920" y="4251960"/>
            <a:ext cx="10835640" cy="868680"/>
          </a:xfrm>
          <a:prstGeom prst="roundRect">
            <a:avLst>
              <a:gd name="adj" fmla="val 5000"/>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443984"/>
            <a:ext cx="3291840" cy="237744"/>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Sentinel-2</a:t>
            </a:r>
          </a:p>
        </p:txBody>
      </p:sp>
      <p:sp>
        <p:nvSpPr>
          <p:cNvPr id="31" name="TextBox 30"/>
          <p:cNvSpPr txBox="1"/>
          <p:nvPr/>
        </p:nvSpPr>
        <p:spPr>
          <a:xfrm>
            <a:off x="822960" y="4700016"/>
            <a:ext cx="3291840" cy="292608"/>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10 m pixels, every 5 days, free</a:t>
            </a:r>
          </a:p>
        </p:txBody>
      </p:sp>
      <p:sp>
        <p:nvSpPr>
          <p:cNvPr id="32" name="TextBox 31"/>
          <p:cNvSpPr txBox="1"/>
          <p:nvPr/>
        </p:nvSpPr>
        <p:spPr>
          <a:xfrm>
            <a:off x="4343400" y="4443984"/>
            <a:ext cx="3291840" cy="237744"/>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Two implementations</a:t>
            </a:r>
          </a:p>
        </p:txBody>
      </p:sp>
      <p:sp>
        <p:nvSpPr>
          <p:cNvPr id="33" name="TextBox 32"/>
          <p:cNvSpPr txBox="1"/>
          <p:nvPr/>
        </p:nvSpPr>
        <p:spPr>
          <a:xfrm>
            <a:off x="4343400" y="4700016"/>
            <a:ext cx="3291840" cy="292608"/>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R and Python, checked against each other</a:t>
            </a:r>
          </a:p>
        </p:txBody>
      </p:sp>
      <p:sp>
        <p:nvSpPr>
          <p:cNvPr id="34" name="TextBox 33"/>
          <p:cNvSpPr txBox="1"/>
          <p:nvPr/>
        </p:nvSpPr>
        <p:spPr>
          <a:xfrm>
            <a:off x="7863840" y="4443984"/>
            <a:ext cx="3291840" cy="237744"/>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No new sensors</a:t>
            </a:r>
          </a:p>
        </p:txBody>
      </p:sp>
      <p:sp>
        <p:nvSpPr>
          <p:cNvPr id="35" name="TextBox 34"/>
          <p:cNvSpPr txBox="1"/>
          <p:nvPr/>
        </p:nvSpPr>
        <p:spPr>
          <a:xfrm>
            <a:off x="7863840" y="4700016"/>
            <a:ext cx="3291840" cy="292608"/>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Nothing to install on a farm</a:t>
            </a:r>
          </a:p>
        </p:txBody>
      </p:sp>
      <p:sp>
        <p:nvSpPr>
          <p:cNvPr id="36" name="TextBox 35"/>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Field to Market  ·  Cotton remote sensing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Two cotton fields, two years, every clear day</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0_cotton_two_years.png"/>
          <p:cNvPicPr>
            <a:picLocks noChangeAspect="1"/>
          </p:cNvPicPr>
          <p:nvPr/>
        </p:nvPicPr>
        <p:blipFill>
          <a:blip r:embed="rId3"/>
          <a:stretch>
            <a:fillRect/>
          </a:stretch>
        </p:blipFill>
        <p:spPr>
          <a:xfrm>
            <a:off x="3009994" y="1444752"/>
            <a:ext cx="6172200" cy="3429000"/>
          </a:xfrm>
          <a:prstGeom prst="rect">
            <a:avLst/>
          </a:prstGeom>
        </p:spPr>
      </p:pic>
      <p:sp>
        <p:nvSpPr>
          <p:cNvPr id="13" name="TextBox 12"/>
          <p:cNvSpPr txBox="1"/>
          <p:nvPr/>
        </p:nvSpPr>
        <p:spPr>
          <a:xfrm>
            <a:off x="502920" y="5138928"/>
            <a:ext cx="5212080" cy="822960"/>
          </a:xfrm>
          <a:prstGeom prst="rect">
            <a:avLst/>
          </a:prstGeom>
          <a:noFill/>
        </p:spPr>
        <p:txBody>
          <a:bodyPr wrap="square" lIns="0" rIns="0" tIns="0" bIns="0" anchor="t">
            <a:spAutoFit/>
          </a:bodyPr>
          <a:lstStyle/>
          <a:p>
            <a:pPr algn="l">
              <a:lnSpc>
                <a:spcPct val="130000"/>
              </a:lnSpc>
            </a:pPr>
            <a:r>
              <a:rPr sz="1200" b="1">
                <a:solidFill>
                  <a:srgbClr val="58595B"/>
                </a:solidFill>
                <a:latin typeface="Arial"/>
              </a:rPr>
              <a:t>Green is living cover. Tan is residue. White is bare soil. </a:t>
            </a:r>
            <a:r>
              <a:rPr sz="1200" b="0">
                <a:solidFill>
                  <a:srgbClr val="58595B"/>
                </a:solidFill>
                <a:latin typeface="Arial"/>
              </a:rPr>
              <a:t>Both fields grow continuous cotton, so the crop is not what separates them.</a:t>
            </a:r>
          </a:p>
        </p:txBody>
      </p:sp>
      <p:sp>
        <p:nvSpPr>
          <p:cNvPr id="14" name="TextBox 13"/>
          <p:cNvSpPr txBox="1"/>
          <p:nvPr/>
        </p:nvSpPr>
        <p:spPr>
          <a:xfrm>
            <a:off x="6126480" y="5138928"/>
            <a:ext cx="5212080" cy="822960"/>
          </a:xfrm>
          <a:prstGeom prst="rect">
            <a:avLst/>
          </a:prstGeom>
          <a:noFill/>
        </p:spPr>
        <p:txBody>
          <a:bodyPr wrap="square" lIns="0" rIns="0" tIns="0" bIns="0" anchor="t">
            <a:spAutoFit/>
          </a:bodyPr>
          <a:lstStyle/>
          <a:p>
            <a:pPr algn="l">
              <a:lnSpc>
                <a:spcPct val="130000"/>
              </a:lnSpc>
            </a:pPr>
            <a:r>
              <a:rPr sz="1200" b="0">
                <a:solidFill>
                  <a:srgbClr val="58595B"/>
                </a:solidFill>
                <a:latin typeface="Arial"/>
              </a:rPr>
              <a:t>The Georgia field is cover cropped and never opens up. The Texas pivot returns to bare ground after every harvest and stays there until June.</a:t>
            </a:r>
          </a:p>
        </p:txBody>
      </p:sp>
      <p:sp>
        <p:nvSpPr>
          <p:cNvPr id="15" name="TextBox 14"/>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Sentinel-2, all cloud-free dates. Dashed lines mark inferred planting and harvest.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Soil armor: cover from any source</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457200"/>
          </a:xfrm>
          <a:prstGeom prst="rect">
            <a:avLst/>
          </a:prstGeom>
          <a:noFill/>
        </p:spPr>
        <p:txBody>
          <a:bodyPr wrap="square" lIns="0" rIns="0" tIns="0" bIns="0" anchor="t">
            <a:spAutoFit/>
          </a:bodyPr>
          <a:lstStyle/>
          <a:p>
            <a:pPr algn="l">
              <a:lnSpc>
                <a:spcPct val="130000"/>
              </a:lnSpc>
            </a:pPr>
            <a:r>
              <a:rPr sz="1500" b="0">
                <a:solidFill>
                  <a:srgbClr val="58595B"/>
                </a:solidFill>
                <a:latin typeface="Arial"/>
              </a:rPr>
              <a:t>Every pixel is split into three fractions that add to one. A field protected by stubble and a field protected by a living cover crop both score high, because both resist erosion.</a:t>
            </a:r>
          </a:p>
        </p:txBody>
      </p:sp>
      <p:sp>
        <p:nvSpPr>
          <p:cNvPr id="13" name="Rounded Rectangle 12"/>
          <p:cNvSpPr/>
          <p:nvPr/>
        </p:nvSpPr>
        <p:spPr>
          <a:xfrm>
            <a:off x="502920" y="2240280"/>
            <a:ext cx="3493008" cy="1371600"/>
          </a:xfrm>
          <a:prstGeom prst="roundRect">
            <a:avLst>
              <a:gd name="adj" fmla="val 5000"/>
            </a:avLst>
          </a:prstGeom>
          <a:solidFill>
            <a:srgbClr val="00B14C"/>
          </a:solidFill>
          <a:ln w="12700">
            <a:solidFill>
              <a:srgbClr val="00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87168"/>
            <a:ext cx="2926080" cy="365760"/>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Living</a:t>
            </a:r>
          </a:p>
        </p:txBody>
      </p:sp>
      <p:sp>
        <p:nvSpPr>
          <p:cNvPr id="15" name="TextBox 14"/>
          <p:cNvSpPr txBox="1"/>
          <p:nvPr/>
        </p:nvSpPr>
        <p:spPr>
          <a:xfrm>
            <a:off x="777240" y="2944368"/>
            <a:ext cx="2926080" cy="457200"/>
          </a:xfrm>
          <a:prstGeom prst="rect">
            <a:avLst/>
          </a:prstGeom>
          <a:noFill/>
        </p:spPr>
        <p:txBody>
          <a:bodyPr wrap="square" lIns="0" rIns="0" tIns="0" bIns="0" anchor="t">
            <a:spAutoFit/>
          </a:bodyPr>
          <a:lstStyle/>
          <a:p>
            <a:pPr algn="l">
              <a:lnSpc>
                <a:spcPct val="125000"/>
              </a:lnSpc>
            </a:pPr>
            <a:r>
              <a:rPr sz="1200" b="0">
                <a:solidFill>
                  <a:srgbClr val="212121"/>
                </a:solidFill>
                <a:latin typeface="Arial"/>
              </a:rPr>
              <a:t>Green canopy or cover crop</a:t>
            </a:r>
          </a:p>
        </p:txBody>
      </p:sp>
      <p:sp>
        <p:nvSpPr>
          <p:cNvPr id="16" name="Rounded Rectangle 15"/>
          <p:cNvSpPr/>
          <p:nvPr/>
        </p:nvSpPr>
        <p:spPr>
          <a:xfrm>
            <a:off x="4233672" y="2240280"/>
            <a:ext cx="3493008" cy="1371600"/>
          </a:xfrm>
          <a:prstGeom prst="roundRect">
            <a:avLst>
              <a:gd name="adj" fmla="val 5000"/>
            </a:avLst>
          </a:prstGeom>
          <a:solidFill>
            <a:srgbClr val="F46C09"/>
          </a:solidFill>
          <a:ln w="1270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2487168"/>
            <a:ext cx="2926080" cy="365760"/>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Residue</a:t>
            </a:r>
          </a:p>
        </p:txBody>
      </p:sp>
      <p:sp>
        <p:nvSpPr>
          <p:cNvPr id="18" name="TextBox 17"/>
          <p:cNvSpPr txBox="1"/>
          <p:nvPr/>
        </p:nvSpPr>
        <p:spPr>
          <a:xfrm>
            <a:off x="4507992" y="2944368"/>
            <a:ext cx="2926080" cy="457200"/>
          </a:xfrm>
          <a:prstGeom prst="rect">
            <a:avLst/>
          </a:prstGeom>
          <a:noFill/>
        </p:spPr>
        <p:txBody>
          <a:bodyPr wrap="square" lIns="0" rIns="0" tIns="0" bIns="0" anchor="t">
            <a:spAutoFit/>
          </a:bodyPr>
          <a:lstStyle/>
          <a:p>
            <a:pPr algn="l">
              <a:lnSpc>
                <a:spcPct val="125000"/>
              </a:lnSpc>
            </a:pPr>
            <a:r>
              <a:rPr sz="1200" b="0">
                <a:solidFill>
                  <a:srgbClr val="212121"/>
                </a:solidFill>
                <a:latin typeface="Arial"/>
              </a:rPr>
              <a:t>Stubble, litter, dead stalks</a:t>
            </a:r>
          </a:p>
        </p:txBody>
      </p:sp>
      <p:sp>
        <p:nvSpPr>
          <p:cNvPr id="19" name="Rounded Rectangle 18"/>
          <p:cNvSpPr/>
          <p:nvPr/>
        </p:nvSpPr>
        <p:spPr>
          <a:xfrm>
            <a:off x="7964424" y="2240280"/>
            <a:ext cx="3493008" cy="1371600"/>
          </a:xfrm>
          <a:prstGeom prst="roundRect">
            <a:avLst>
              <a:gd name="adj" fmla="val 5000"/>
            </a:avLst>
          </a:prstGeom>
          <a:solidFill>
            <a:srgbClr val="EEEEEE"/>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487168"/>
            <a:ext cx="2926080" cy="365760"/>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Bare soil</a:t>
            </a:r>
          </a:p>
        </p:txBody>
      </p:sp>
      <p:sp>
        <p:nvSpPr>
          <p:cNvPr id="21" name="TextBox 20"/>
          <p:cNvSpPr txBox="1"/>
          <p:nvPr/>
        </p:nvSpPr>
        <p:spPr>
          <a:xfrm>
            <a:off x="8238744" y="2944368"/>
            <a:ext cx="2926080" cy="457200"/>
          </a:xfrm>
          <a:prstGeom prst="rect">
            <a:avLst/>
          </a:prstGeom>
          <a:noFill/>
        </p:spPr>
        <p:txBody>
          <a:bodyPr wrap="square" lIns="0" rIns="0" tIns="0" bIns="0" anchor="t">
            <a:spAutoFit/>
          </a:bodyPr>
          <a:lstStyle/>
          <a:p>
            <a:pPr algn="l">
              <a:lnSpc>
                <a:spcPct val="125000"/>
              </a:lnSpc>
            </a:pPr>
            <a:r>
              <a:rPr sz="1200" b="0">
                <a:solidFill>
                  <a:srgbClr val="58595B"/>
                </a:solidFill>
                <a:latin typeface="Arial"/>
              </a:rPr>
              <a:t>Exposed, erodible ground</a:t>
            </a:r>
          </a:p>
        </p:txBody>
      </p:sp>
      <p:sp>
        <p:nvSpPr>
          <p:cNvPr id="22" name="Rounded Rectangle 21"/>
          <p:cNvSpPr/>
          <p:nvPr/>
        </p:nvSpPr>
        <p:spPr>
          <a:xfrm>
            <a:off x="502920" y="3931920"/>
            <a:ext cx="10835640" cy="1005840"/>
          </a:xfrm>
          <a:prstGeom prst="roundRect">
            <a:avLst>
              <a:gd name="adj" fmla="val 5000"/>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0520"/>
            <a:ext cx="3657600" cy="365760"/>
          </a:xfrm>
          <a:prstGeom prst="rect">
            <a:avLst/>
          </a:prstGeom>
          <a:noFill/>
        </p:spPr>
        <p:txBody>
          <a:bodyPr wrap="square" lIns="0" rIns="0" tIns="0" bIns="0" anchor="t">
            <a:spAutoFit/>
          </a:bodyPr>
          <a:lstStyle/>
          <a:p>
            <a:pPr algn="l">
              <a:lnSpc>
                <a:spcPct val="120000"/>
              </a:lnSpc>
            </a:pPr>
            <a:r>
              <a:rPr sz="2000" b="1">
                <a:solidFill>
                  <a:srgbClr val="10427C"/>
                </a:solidFill>
                <a:latin typeface="Arial Narrow"/>
              </a:rPr>
              <a:t>Soil armor = 1 − bare soil</a:t>
            </a:r>
          </a:p>
        </p:txBody>
      </p:sp>
      <p:sp>
        <p:nvSpPr>
          <p:cNvPr id="24" name="TextBox 23"/>
          <p:cNvSpPr txBox="1"/>
          <p:nvPr/>
        </p:nvSpPr>
        <p:spPr>
          <a:xfrm>
            <a:off x="4709159" y="4178808"/>
            <a:ext cx="6263640" cy="685800"/>
          </a:xfrm>
          <a:prstGeom prst="rect">
            <a:avLst/>
          </a:prstGeom>
          <a:noFill/>
        </p:spPr>
        <p:txBody>
          <a:bodyPr wrap="square" lIns="0" rIns="0" tIns="0" bIns="0" anchor="t">
            <a:spAutoFit/>
          </a:bodyPr>
          <a:lstStyle/>
          <a:p>
            <a:pPr algn="l">
              <a:lnSpc>
                <a:spcPct val="130000"/>
              </a:lnSpc>
            </a:pPr>
            <a:r>
              <a:rPr sz="1200" b="0">
                <a:solidFill>
                  <a:srgbClr val="58595B"/>
                </a:solidFill>
                <a:latin typeface="Arial"/>
              </a:rPr>
              <a:t>Separating residue from bare soil needs shortwave infrared, not just a greenness index — to visible light, dry stubble and dry dirt look nearly the same.</a:t>
            </a:r>
          </a:p>
        </p:txBody>
      </p:sp>
      <p:sp>
        <p:nvSpPr>
          <p:cNvPr id="25" name="TextBox 24"/>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Ternary unmixing in NDVI–DFI space. Endmembers fitted on 65,555 cloud-free pixels — provisional.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On cotton, armor tracks reported tillage</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457200"/>
          </a:xfrm>
          <a:prstGeom prst="rect">
            <a:avLst/>
          </a:prstGeom>
          <a:noFill/>
        </p:spPr>
        <p:txBody>
          <a:bodyPr wrap="square" lIns="0" rIns="0" tIns="0" bIns="0" anchor="t">
            <a:spAutoFit/>
          </a:bodyPr>
          <a:lstStyle/>
          <a:p>
            <a:pPr algn="l">
              <a:lnSpc>
                <a:spcPct val="130000"/>
              </a:lnSpc>
            </a:pPr>
            <a:r>
              <a:rPr sz="1500" b="0">
                <a:solidFill>
                  <a:srgbClr val="58595B"/>
                </a:solidFill>
                <a:latin typeface="Arial"/>
              </a:rPr>
              <a:t>Median spring soil armor for 183 cotton field-years, grouped by the residue class the grower reported. The order is right and the spread is wide.</a:t>
            </a:r>
          </a:p>
        </p:txBody>
      </p:sp>
      <p:sp>
        <p:nvSpPr>
          <p:cNvPr id="13" name="TextBox 12"/>
          <p:cNvSpPr txBox="1"/>
          <p:nvPr/>
        </p:nvSpPr>
        <p:spPr>
          <a:xfrm>
            <a:off x="502920" y="2258568"/>
            <a:ext cx="1828800" cy="256032"/>
          </a:xfrm>
          <a:prstGeom prst="rect">
            <a:avLst/>
          </a:prstGeom>
          <a:noFill/>
        </p:spPr>
        <p:txBody>
          <a:bodyPr wrap="square" lIns="0" rIns="0" tIns="0" bIns="0" anchor="t">
            <a:spAutoFit/>
          </a:bodyPr>
          <a:lstStyle/>
          <a:p>
            <a:pPr algn="l">
              <a:lnSpc>
                <a:spcPct val="120000"/>
              </a:lnSpc>
            </a:pPr>
            <a:r>
              <a:rPr sz="1300" b="1">
                <a:solidFill>
                  <a:srgbClr val="212121"/>
                </a:solidFill>
                <a:latin typeface="Arial"/>
              </a:rPr>
              <a:t>Conventional</a:t>
            </a:r>
          </a:p>
        </p:txBody>
      </p:sp>
      <p:sp>
        <p:nvSpPr>
          <p:cNvPr id="14" name="TextBox 13"/>
          <p:cNvSpPr txBox="1"/>
          <p:nvPr/>
        </p:nvSpPr>
        <p:spPr>
          <a:xfrm>
            <a:off x="502920" y="2496312"/>
            <a:ext cx="1828800" cy="256032"/>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under 15% residue</a:t>
            </a:r>
          </a:p>
        </p:txBody>
      </p:sp>
      <p:sp>
        <p:nvSpPr>
          <p:cNvPr id="15" name="Rectangle 14"/>
          <p:cNvSpPr/>
          <p:nvPr/>
        </p:nvSpPr>
        <p:spPr>
          <a:xfrm>
            <a:off x="2423160" y="2240280"/>
            <a:ext cx="4263716" cy="530352"/>
          </a:xfrm>
          <a:prstGeom prst="rect">
            <a:avLst/>
          </a:prstGeom>
          <a:solidFill>
            <a:srgbClr val="58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24036" y="2276856"/>
            <a:ext cx="914400" cy="347472"/>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0.408</a:t>
            </a:r>
          </a:p>
        </p:txBody>
      </p:sp>
      <p:sp>
        <p:nvSpPr>
          <p:cNvPr id="17" name="TextBox 16"/>
          <p:cNvSpPr txBox="1"/>
          <p:nvPr/>
        </p:nvSpPr>
        <p:spPr>
          <a:xfrm>
            <a:off x="7692716" y="2350008"/>
            <a:ext cx="82296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n = 48</a:t>
            </a:r>
          </a:p>
        </p:txBody>
      </p:sp>
      <p:sp>
        <p:nvSpPr>
          <p:cNvPr id="18" name="TextBox 17"/>
          <p:cNvSpPr txBox="1"/>
          <p:nvPr/>
        </p:nvSpPr>
        <p:spPr>
          <a:xfrm>
            <a:off x="502920" y="3063240"/>
            <a:ext cx="1828800" cy="256032"/>
          </a:xfrm>
          <a:prstGeom prst="rect">
            <a:avLst/>
          </a:prstGeom>
          <a:noFill/>
        </p:spPr>
        <p:txBody>
          <a:bodyPr wrap="square" lIns="0" rIns="0" tIns="0" bIns="0" anchor="t">
            <a:spAutoFit/>
          </a:bodyPr>
          <a:lstStyle/>
          <a:p>
            <a:pPr algn="l">
              <a:lnSpc>
                <a:spcPct val="120000"/>
              </a:lnSpc>
            </a:pPr>
            <a:r>
              <a:rPr sz="1300" b="1">
                <a:solidFill>
                  <a:srgbClr val="212121"/>
                </a:solidFill>
                <a:latin typeface="Arial"/>
              </a:rPr>
              <a:t>Reduced</a:t>
            </a:r>
          </a:p>
        </p:txBody>
      </p:sp>
      <p:sp>
        <p:nvSpPr>
          <p:cNvPr id="19" name="TextBox 18"/>
          <p:cNvSpPr txBox="1"/>
          <p:nvPr/>
        </p:nvSpPr>
        <p:spPr>
          <a:xfrm>
            <a:off x="502920" y="3300984"/>
            <a:ext cx="1828800" cy="256032"/>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15 to 30% residue</a:t>
            </a:r>
          </a:p>
        </p:txBody>
      </p:sp>
      <p:sp>
        <p:nvSpPr>
          <p:cNvPr id="20" name="Rectangle 19"/>
          <p:cNvSpPr/>
          <p:nvPr/>
        </p:nvSpPr>
        <p:spPr>
          <a:xfrm>
            <a:off x="2423160" y="3044952"/>
            <a:ext cx="5308745" cy="53035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9065" y="3081528"/>
            <a:ext cx="914400" cy="347472"/>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0.508</a:t>
            </a:r>
          </a:p>
        </p:txBody>
      </p:sp>
      <p:sp>
        <p:nvSpPr>
          <p:cNvPr id="22" name="TextBox 21"/>
          <p:cNvSpPr txBox="1"/>
          <p:nvPr/>
        </p:nvSpPr>
        <p:spPr>
          <a:xfrm>
            <a:off x="8737745" y="3154680"/>
            <a:ext cx="82296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n = 9</a:t>
            </a:r>
          </a:p>
        </p:txBody>
      </p:sp>
      <p:sp>
        <p:nvSpPr>
          <p:cNvPr id="23" name="TextBox 22"/>
          <p:cNvSpPr txBox="1"/>
          <p:nvPr/>
        </p:nvSpPr>
        <p:spPr>
          <a:xfrm>
            <a:off x="502920" y="3867911"/>
            <a:ext cx="1828800" cy="256032"/>
          </a:xfrm>
          <a:prstGeom prst="rect">
            <a:avLst/>
          </a:prstGeom>
          <a:noFill/>
        </p:spPr>
        <p:txBody>
          <a:bodyPr wrap="square" lIns="0" rIns="0" tIns="0" bIns="0" anchor="t">
            <a:spAutoFit/>
          </a:bodyPr>
          <a:lstStyle/>
          <a:p>
            <a:pPr algn="l">
              <a:lnSpc>
                <a:spcPct val="120000"/>
              </a:lnSpc>
            </a:pPr>
            <a:r>
              <a:rPr sz="1300" b="1">
                <a:solidFill>
                  <a:srgbClr val="212121"/>
                </a:solidFill>
                <a:latin typeface="Arial"/>
              </a:rPr>
              <a:t>Conservation</a:t>
            </a:r>
          </a:p>
        </p:txBody>
      </p:sp>
      <p:sp>
        <p:nvSpPr>
          <p:cNvPr id="24" name="TextBox 23"/>
          <p:cNvSpPr txBox="1"/>
          <p:nvPr/>
        </p:nvSpPr>
        <p:spPr>
          <a:xfrm>
            <a:off x="502920" y="4105656"/>
            <a:ext cx="1828800" cy="256032"/>
          </a:xfrm>
          <a:prstGeom prst="rect">
            <a:avLst/>
          </a:prstGeom>
          <a:noFill/>
        </p:spPr>
        <p:txBody>
          <a:bodyPr wrap="square" lIns="0" rIns="0" tIns="0" bIns="0" anchor="t">
            <a:spAutoFit/>
          </a:bodyPr>
          <a:lstStyle/>
          <a:p>
            <a:pPr algn="l">
              <a:lnSpc>
                <a:spcPct val="120000"/>
              </a:lnSpc>
            </a:pPr>
            <a:r>
              <a:rPr sz="1100" b="0">
                <a:solidFill>
                  <a:srgbClr val="58595B"/>
                </a:solidFill>
                <a:latin typeface="Arial"/>
              </a:rPr>
              <a:t>over 30% residue</a:t>
            </a:r>
          </a:p>
        </p:txBody>
      </p:sp>
      <p:sp>
        <p:nvSpPr>
          <p:cNvPr id="25" name="Rectangle 24"/>
          <p:cNvSpPr/>
          <p:nvPr/>
        </p:nvSpPr>
        <p:spPr>
          <a:xfrm>
            <a:off x="2423160" y="3849624"/>
            <a:ext cx="6207469" cy="53035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67789" y="3886200"/>
            <a:ext cx="914400" cy="347472"/>
          </a:xfrm>
          <a:prstGeom prst="rect">
            <a:avLst/>
          </a:prstGeom>
          <a:noFill/>
        </p:spPr>
        <p:txBody>
          <a:bodyPr wrap="square" lIns="0" rIns="0" tIns="0" bIns="0" anchor="t">
            <a:spAutoFit/>
          </a:bodyPr>
          <a:lstStyle/>
          <a:p>
            <a:pPr algn="l">
              <a:lnSpc>
                <a:spcPct val="120000"/>
              </a:lnSpc>
            </a:pPr>
            <a:r>
              <a:rPr sz="1900" b="1">
                <a:solidFill>
                  <a:srgbClr val="212121"/>
                </a:solidFill>
                <a:latin typeface="Arial Narrow"/>
              </a:rPr>
              <a:t>0.594</a:t>
            </a:r>
          </a:p>
        </p:txBody>
      </p:sp>
      <p:sp>
        <p:nvSpPr>
          <p:cNvPr id="27" name="TextBox 26"/>
          <p:cNvSpPr txBox="1"/>
          <p:nvPr/>
        </p:nvSpPr>
        <p:spPr>
          <a:xfrm>
            <a:off x="9636469" y="3959352"/>
            <a:ext cx="82296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n = 126</a:t>
            </a:r>
          </a:p>
        </p:txBody>
      </p:sp>
      <p:sp>
        <p:nvSpPr>
          <p:cNvPr id="28" name="TextBox 27"/>
          <p:cNvSpPr txBox="1"/>
          <p:nvPr/>
        </p:nvSpPr>
        <p:spPr>
          <a:xfrm>
            <a:off x="502920" y="4892040"/>
            <a:ext cx="10698480" cy="640080"/>
          </a:xfrm>
          <a:prstGeom prst="rect">
            <a:avLst/>
          </a:prstGeom>
          <a:noFill/>
        </p:spPr>
        <p:txBody>
          <a:bodyPr wrap="square" lIns="0" rIns="0" tIns="0" bIns="0" anchor="t">
            <a:spAutoFit/>
          </a:bodyPr>
          <a:lstStyle/>
          <a:p>
            <a:pPr algn="l">
              <a:lnSpc>
                <a:spcPct val="130000"/>
              </a:lnSpc>
            </a:pPr>
            <a:r>
              <a:rPr sz="1400" b="1">
                <a:solidFill>
                  <a:srgbClr val="58595B"/>
                </a:solidFill>
                <a:latin typeface="Arial"/>
              </a:rPr>
              <a:t>A conservation-tilled cotton field carries roughly half again as much cover </a:t>
            </a:r>
            <a:r>
              <a:rPr sz="1400" b="0">
                <a:solidFill>
                  <a:srgbClr val="58595B"/>
                </a:solidFill>
                <a:latin typeface="Arial"/>
              </a:rPr>
              <a:t>through the spring as a conventionally tilled one. "What the gap is really made of" explains what is driving that.</a:t>
            </a:r>
          </a:p>
        </p:txBody>
      </p:sp>
      <p:sp>
        <p:nvSpPr>
          <p:cNvPr id="29" name="TextBox 28"/>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Time-weighted mean, 1 March to 15 May. Bars scaled to 0.70.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Every field around it, read the same way</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cohort_map.png"/>
          <p:cNvPicPr>
            <a:picLocks noChangeAspect="1"/>
          </p:cNvPicPr>
          <p:nvPr/>
        </p:nvPicPr>
        <p:blipFill>
          <a:blip r:embed="rId3"/>
          <a:stretch>
            <a:fillRect/>
          </a:stretch>
        </p:blipFill>
        <p:spPr>
          <a:xfrm>
            <a:off x="502920" y="1481328"/>
            <a:ext cx="5003817" cy="4617720"/>
          </a:xfrm>
          <a:prstGeom prst="rect">
            <a:avLst/>
          </a:prstGeom>
        </p:spPr>
      </p:pic>
      <p:sp>
        <p:nvSpPr>
          <p:cNvPr id="13" name="TextBox 12"/>
          <p:cNvSpPr txBox="1"/>
          <p:nvPr/>
        </p:nvSpPr>
        <p:spPr>
          <a:xfrm>
            <a:off x="5920008" y="1554480"/>
            <a:ext cx="5768766" cy="310896"/>
          </a:xfrm>
          <a:prstGeom prst="rect">
            <a:avLst/>
          </a:prstGeom>
          <a:noFill/>
        </p:spPr>
        <p:txBody>
          <a:bodyPr wrap="square" lIns="0" rIns="0" tIns="0" bIns="0" anchor="t">
            <a:spAutoFit/>
          </a:bodyPr>
          <a:lstStyle/>
          <a:p>
            <a:pPr algn="l">
              <a:lnSpc>
                <a:spcPct val="120000"/>
              </a:lnSpc>
            </a:pPr>
            <a:r>
              <a:rPr sz="1700" b="1">
                <a:solidFill>
                  <a:srgbClr val="212121"/>
                </a:solidFill>
                <a:latin typeface="Arial Narrow"/>
              </a:rPr>
              <a:t>Mitchell County, Georgia</a:t>
            </a:r>
          </a:p>
        </p:txBody>
      </p:sp>
      <p:sp>
        <p:nvSpPr>
          <p:cNvPr id="14" name="TextBox 13"/>
          <p:cNvSpPr txBox="1"/>
          <p:nvPr/>
        </p:nvSpPr>
        <p:spPr>
          <a:xfrm>
            <a:off x="5920008" y="1956816"/>
            <a:ext cx="5768766" cy="822960"/>
          </a:xfrm>
          <a:prstGeom prst="rect">
            <a:avLst/>
          </a:prstGeom>
          <a:noFill/>
        </p:spPr>
        <p:txBody>
          <a:bodyPr wrap="square" lIns="0" rIns="0" tIns="0" bIns="0" anchor="t">
            <a:spAutoFit/>
          </a:bodyPr>
          <a:lstStyle/>
          <a:p>
            <a:pPr algn="l">
              <a:lnSpc>
                <a:spcPct val="135000"/>
              </a:lnSpc>
            </a:pPr>
            <a:r>
              <a:rPr sz="1300" b="0">
                <a:solidFill>
                  <a:srgbClr val="58595B"/>
                </a:solidFill>
                <a:latin typeface="Arial"/>
              </a:rPr>
              <a:t>Fifty qualifying cropland fields inside 3.9 km of one focus field, on 0.6 m aerial imagery. Almost every one is a centre pivot.</a:t>
            </a:r>
          </a:p>
        </p:txBody>
      </p:sp>
      <p:sp>
        <p:nvSpPr>
          <p:cNvPr id="15" name="TextBox 14"/>
          <p:cNvSpPr txBox="1"/>
          <p:nvPr/>
        </p:nvSpPr>
        <p:spPr>
          <a:xfrm>
            <a:off x="5920008" y="2944368"/>
            <a:ext cx="5768766" cy="256032"/>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The white outlines</a:t>
            </a:r>
          </a:p>
        </p:txBody>
      </p:sp>
      <p:sp>
        <p:nvSpPr>
          <p:cNvPr id="16" name="TextBox 15"/>
          <p:cNvSpPr txBox="1"/>
          <p:nvPr/>
        </p:nvSpPr>
        <p:spPr>
          <a:xfrm>
            <a:off x="5920008" y="3218688"/>
            <a:ext cx="5768766" cy="676656"/>
          </a:xfrm>
          <a:prstGeom prst="rect">
            <a:avLst/>
          </a:prstGeom>
          <a:noFill/>
        </p:spPr>
        <p:txBody>
          <a:bodyPr wrap="square" lIns="0" rIns="0" tIns="0" bIns="0" anchor="t">
            <a:spAutoFit/>
          </a:bodyPr>
          <a:lstStyle/>
          <a:p>
            <a:pPr algn="l">
              <a:lnSpc>
                <a:spcPct val="130000"/>
              </a:lnSpc>
            </a:pPr>
            <a:r>
              <a:rPr sz="1150" b="0">
                <a:solidFill>
                  <a:srgbClr val="58595B"/>
                </a:solidFill>
                <a:latin typeface="Arial"/>
              </a:rPr>
              <a:t>Boundaries from the public USDA Common Land Unit. Nobody drew these and no grower supplied them.</a:t>
            </a:r>
          </a:p>
        </p:txBody>
      </p:sp>
      <p:sp>
        <p:nvSpPr>
          <p:cNvPr id="17" name="TextBox 16"/>
          <p:cNvSpPr txBox="1"/>
          <p:nvPr/>
        </p:nvSpPr>
        <p:spPr>
          <a:xfrm>
            <a:off x="5920008" y="3968496"/>
            <a:ext cx="5768766" cy="256032"/>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The dashed circle</a:t>
            </a:r>
          </a:p>
        </p:txBody>
      </p:sp>
      <p:sp>
        <p:nvSpPr>
          <p:cNvPr id="18" name="TextBox 17"/>
          <p:cNvSpPr txBox="1"/>
          <p:nvPr/>
        </p:nvSpPr>
        <p:spPr>
          <a:xfrm>
            <a:off x="5920008" y="4242816"/>
            <a:ext cx="5768766" cy="676656"/>
          </a:xfrm>
          <a:prstGeom prst="rect">
            <a:avLst/>
          </a:prstGeom>
          <a:noFill/>
        </p:spPr>
        <p:txBody>
          <a:bodyPr wrap="square" lIns="0" rIns="0" tIns="0" bIns="0" anchor="t">
            <a:spAutoFit/>
          </a:bodyPr>
          <a:lstStyle/>
          <a:p>
            <a:pPr algn="l">
              <a:lnSpc>
                <a:spcPct val="130000"/>
              </a:lnSpc>
            </a:pPr>
            <a:r>
              <a:rPr sz="1150" b="0">
                <a:solidFill>
                  <a:srgbClr val="58595B"/>
                </a:solidFill>
                <a:latin typeface="Arial"/>
              </a:rPr>
              <a:t>How far you have to go to reach fifty fields that pass the size, shape and cropland filters. Fields inside it without an outline failed one.</a:t>
            </a:r>
          </a:p>
        </p:txBody>
      </p:sp>
      <p:sp>
        <p:nvSpPr>
          <p:cNvPr id="19" name="TextBox 18"/>
          <p:cNvSpPr txBox="1"/>
          <p:nvPr/>
        </p:nvSpPr>
        <p:spPr>
          <a:xfrm>
            <a:off x="5920008" y="4992624"/>
            <a:ext cx="5768766" cy="256032"/>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The orange field</a:t>
            </a:r>
          </a:p>
        </p:txBody>
      </p:sp>
      <p:sp>
        <p:nvSpPr>
          <p:cNvPr id="20" name="TextBox 19"/>
          <p:cNvSpPr txBox="1"/>
          <p:nvPr/>
        </p:nvSpPr>
        <p:spPr>
          <a:xfrm>
            <a:off x="5920008" y="5266944"/>
            <a:ext cx="5768766" cy="676656"/>
          </a:xfrm>
          <a:prstGeom prst="rect">
            <a:avLst/>
          </a:prstGeom>
          <a:noFill/>
        </p:spPr>
        <p:txBody>
          <a:bodyPr wrap="square" lIns="0" rIns="0" tIns="0" bIns="0" anchor="t">
            <a:spAutoFit/>
          </a:bodyPr>
          <a:lstStyle/>
          <a:p>
            <a:pPr algn="l">
              <a:lnSpc>
                <a:spcPct val="130000"/>
              </a:lnSpc>
            </a:pPr>
            <a:r>
              <a:rPr sz="1150" b="0">
                <a:solidFill>
                  <a:srgbClr val="58595B"/>
                </a:solidFill>
                <a:latin typeface="Arial"/>
              </a:rPr>
              <a:t>The one being benchmarked. It is the only field in this picture anyone had to ask about.</a:t>
            </a:r>
          </a:p>
        </p:txBody>
      </p:sp>
      <p:sp>
        <p:nvSpPr>
          <p:cNvPr id="21" name="TextBox 20"/>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Field boundaries: USDA FSA Common Land Unit, 2008 public release, geometry and acreage only. County inset from the US Census Bureau.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Benchmark a cotton field against its cotton neighbours</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457200"/>
          </a:xfrm>
          <a:prstGeom prst="rect">
            <a:avLst/>
          </a:prstGeom>
          <a:noFill/>
        </p:spPr>
        <p:txBody>
          <a:bodyPr wrap="square" lIns="0" rIns="0" tIns="0" bIns="0" anchor="t">
            <a:spAutoFit/>
          </a:bodyPr>
          <a:lstStyle/>
          <a:p>
            <a:pPr algn="l">
              <a:lnSpc>
                <a:spcPct val="130000"/>
              </a:lnSpc>
            </a:pPr>
            <a:r>
              <a:rPr sz="1500" b="0">
                <a:solidFill>
                  <a:srgbClr val="58595B"/>
                </a:solidFill>
                <a:latin typeface="Arial"/>
              </a:rPr>
              <a:t>Mitchell County, Georgia, 2024. Twenty-two cotton fields inside 3.9 km, 1,870 acres, every one read from free imagery. No grower enrolled, and none of the neighbours was contacted.</a:t>
            </a:r>
          </a:p>
        </p:txBody>
      </p:sp>
      <p:pic>
        <p:nvPicPr>
          <p:cNvPr id="13" name="Picture 12" descr="cotton_benchmark.png"/>
          <p:cNvPicPr>
            <a:picLocks noChangeAspect="1"/>
          </p:cNvPicPr>
          <p:nvPr/>
        </p:nvPicPr>
        <p:blipFill>
          <a:blip r:embed="rId3"/>
          <a:stretch>
            <a:fillRect/>
          </a:stretch>
        </p:blipFill>
        <p:spPr>
          <a:xfrm>
            <a:off x="1901494" y="2029968"/>
            <a:ext cx="8704696" cy="3017520"/>
          </a:xfrm>
          <a:prstGeom prst="rect">
            <a:avLst/>
          </a:prstGeom>
        </p:spPr>
      </p:pic>
      <p:sp>
        <p:nvSpPr>
          <p:cNvPr id="14" name="TextBox 13"/>
          <p:cNvSpPr txBox="1"/>
          <p:nvPr/>
        </p:nvSpPr>
        <p:spPr>
          <a:xfrm>
            <a:off x="502920" y="5230368"/>
            <a:ext cx="5212080" cy="868680"/>
          </a:xfrm>
          <a:prstGeom prst="rect">
            <a:avLst/>
          </a:prstGeom>
          <a:noFill/>
        </p:spPr>
        <p:txBody>
          <a:bodyPr wrap="square" lIns="0" rIns="0" tIns="0" bIns="0" anchor="t">
            <a:spAutoFit/>
          </a:bodyPr>
          <a:lstStyle/>
          <a:p>
            <a:pPr algn="l">
              <a:lnSpc>
                <a:spcPct val="130000"/>
              </a:lnSpc>
            </a:pPr>
            <a:r>
              <a:rPr sz="1200" b="1">
                <a:solidFill>
                  <a:srgbClr val="58595B"/>
                </a:solidFill>
                <a:latin typeface="Arial"/>
              </a:rPr>
              <a:t>Cotton carries two and a half times the pre-planting cover of the peanut ground around it. </a:t>
            </a:r>
            <a:r>
              <a:rPr sz="1200" b="0">
                <a:solidFill>
                  <a:srgbClr val="58595B"/>
                </a:solidFill>
                <a:latin typeface="Arial"/>
              </a:rPr>
              <a:t>Peanut harvest inverts the row and leaves almost nothing, so a cotton field looks good against a mixed neighbourhood for reasons that have nothing to do with the farmer.</a:t>
            </a:r>
          </a:p>
        </p:txBody>
      </p:sp>
      <p:sp>
        <p:nvSpPr>
          <p:cNvPr id="15" name="TextBox 14"/>
          <p:cNvSpPr txBox="1"/>
          <p:nvPr/>
        </p:nvSpPr>
        <p:spPr>
          <a:xfrm>
            <a:off x="6126480" y="5230368"/>
            <a:ext cx="5212080" cy="868680"/>
          </a:xfrm>
          <a:prstGeom prst="rect">
            <a:avLst/>
          </a:prstGeom>
          <a:noFill/>
        </p:spPr>
        <p:txBody>
          <a:bodyPr wrap="square" lIns="0" rIns="0" tIns="0" bIns="0" anchor="t">
            <a:spAutoFit/>
          </a:bodyPr>
          <a:lstStyle/>
          <a:p>
            <a:pPr algn="l">
              <a:lnSpc>
                <a:spcPct val="130000"/>
              </a:lnSpc>
            </a:pPr>
            <a:r>
              <a:rPr sz="1200" b="1">
                <a:solidFill>
                  <a:srgbClr val="58595B"/>
                </a:solidFill>
                <a:latin typeface="Arial"/>
              </a:rPr>
              <a:t>Compared with cotton, this field is 47th percentile. Compared with everything around it, 72nd. </a:t>
            </a:r>
            <a:r>
              <a:rPr sz="1200" b="0">
                <a:solidFill>
                  <a:srgbClr val="58595B"/>
                </a:solidFill>
                <a:latin typeface="Arial"/>
              </a:rPr>
              <a:t>That 25-point difference is the crop -- and it is why a cotton benchmark has to be built on cotton.</a:t>
            </a:r>
          </a:p>
        </p:txBody>
      </p:sp>
      <p:sp>
        <p:nvSpPr>
          <p:cNvPr id="16" name="TextBox 15"/>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Pre-planting soil cover, 2024. Twenty of the twenty-two cotton fields had enough clear images in the window to produce a reading.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85800"/>
            <a:ext cx="10881360" cy="594360"/>
          </a:xfrm>
          <a:prstGeom prst="rect">
            <a:avLst/>
          </a:prstGeom>
          <a:noFill/>
        </p:spPr>
        <p:txBody>
          <a:bodyPr wrap="square" lIns="0" rIns="0" tIns="0" bIns="0" anchor="t">
            <a:spAutoFit/>
          </a:bodyPr>
          <a:lstStyle/>
          <a:p>
            <a:pPr algn="l">
              <a:lnSpc>
                <a:spcPct val="120000"/>
              </a:lnSpc>
            </a:pPr>
            <a:r>
              <a:rPr sz="3400" b="1">
                <a:solidFill>
                  <a:srgbClr val="FFFFFF"/>
                </a:solidFill>
                <a:latin typeface="Arial Narrow"/>
              </a:rPr>
              <a:t>Then we checked it against farmers</a:t>
            </a:r>
          </a:p>
        </p:txBody>
      </p:sp>
      <p:sp>
        <p:nvSpPr>
          <p:cNvPr id="10" name="Rectangle 9"/>
          <p:cNvSpPr/>
          <p:nvPr/>
        </p:nvSpPr>
        <p:spPr>
          <a:xfrm>
            <a:off x="502920" y="1417320"/>
            <a:ext cx="2011680"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737360"/>
            <a:ext cx="10515600" cy="685800"/>
          </a:xfrm>
          <a:prstGeom prst="rect">
            <a:avLst/>
          </a:prstGeom>
          <a:noFill/>
        </p:spPr>
        <p:txBody>
          <a:bodyPr wrap="square" lIns="0" rIns="0" tIns="0" bIns="0" anchor="t">
            <a:spAutoFit/>
          </a:bodyPr>
          <a:lstStyle/>
          <a:p>
            <a:pPr algn="l">
              <a:lnSpc>
                <a:spcPct val="130000"/>
              </a:lnSpc>
            </a:pPr>
            <a:r>
              <a:rPr sz="1500" b="0">
                <a:solidFill>
                  <a:srgbClr val="D6E0EC"/>
                </a:solidFill>
                <a:latin typeface="Arial"/>
              </a:rPr>
              <a:t>A University of Georgia grower survey gave us boundaries, crop, tillage class, cover crop and irrigation, field by field and year by year. It is the first time any of this was tested against something a farmer said.</a:t>
            </a:r>
          </a:p>
        </p:txBody>
      </p:sp>
      <p:sp>
        <p:nvSpPr>
          <p:cNvPr id="12" name="Rounded Rectangle 11"/>
          <p:cNvSpPr/>
          <p:nvPr/>
        </p:nvSpPr>
        <p:spPr>
          <a:xfrm>
            <a:off x="502920" y="2880360"/>
            <a:ext cx="2624328" cy="137160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63240"/>
            <a:ext cx="2194560" cy="603504"/>
          </a:xfrm>
          <a:prstGeom prst="rect">
            <a:avLst/>
          </a:prstGeom>
          <a:noFill/>
        </p:spPr>
        <p:txBody>
          <a:bodyPr wrap="square" lIns="0" rIns="0" tIns="0" bIns="0" anchor="t">
            <a:spAutoFit/>
          </a:bodyPr>
          <a:lstStyle/>
          <a:p>
            <a:pPr algn="l">
              <a:lnSpc>
                <a:spcPct val="120000"/>
              </a:lnSpc>
            </a:pPr>
            <a:r>
              <a:rPr sz="3400" b="1">
                <a:solidFill>
                  <a:srgbClr val="FFD103"/>
                </a:solidFill>
                <a:latin typeface="Arial Narrow"/>
              </a:rPr>
              <a:t>183</a:t>
            </a:r>
          </a:p>
        </p:txBody>
      </p:sp>
      <p:sp>
        <p:nvSpPr>
          <p:cNvPr id="14" name="TextBox 13"/>
          <p:cNvSpPr txBox="1"/>
          <p:nvPr/>
        </p:nvSpPr>
        <p:spPr>
          <a:xfrm>
            <a:off x="777240" y="3712463"/>
            <a:ext cx="2194560" cy="384048"/>
          </a:xfrm>
          <a:prstGeom prst="rect">
            <a:avLst/>
          </a:prstGeom>
          <a:noFill/>
        </p:spPr>
        <p:txBody>
          <a:bodyPr wrap="square" lIns="0" rIns="0" tIns="0" bIns="0" anchor="t">
            <a:spAutoFit/>
          </a:bodyPr>
          <a:lstStyle/>
          <a:p>
            <a:pPr algn="l">
              <a:lnSpc>
                <a:spcPct val="120000"/>
              </a:lnSpc>
            </a:pPr>
            <a:r>
              <a:rPr sz="1200" b="0">
                <a:solidFill>
                  <a:srgbClr val="D6E0EC"/>
                </a:solidFill>
                <a:latin typeface="Arial"/>
              </a:rPr>
              <a:t>cotton field-years</a:t>
            </a:r>
          </a:p>
        </p:txBody>
      </p:sp>
      <p:sp>
        <p:nvSpPr>
          <p:cNvPr id="15" name="Rounded Rectangle 14"/>
          <p:cNvSpPr/>
          <p:nvPr/>
        </p:nvSpPr>
        <p:spPr>
          <a:xfrm>
            <a:off x="3310128" y="2880360"/>
            <a:ext cx="2624328" cy="137160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4448" y="3063240"/>
            <a:ext cx="2194560" cy="603504"/>
          </a:xfrm>
          <a:prstGeom prst="rect">
            <a:avLst/>
          </a:prstGeom>
          <a:noFill/>
        </p:spPr>
        <p:txBody>
          <a:bodyPr wrap="square" lIns="0" rIns="0" tIns="0" bIns="0" anchor="t">
            <a:spAutoFit/>
          </a:bodyPr>
          <a:lstStyle/>
          <a:p>
            <a:pPr algn="l">
              <a:lnSpc>
                <a:spcPct val="120000"/>
              </a:lnSpc>
            </a:pPr>
            <a:r>
              <a:rPr sz="3400" b="1">
                <a:solidFill>
                  <a:srgbClr val="FFD103"/>
                </a:solidFill>
                <a:latin typeface="Arial Narrow"/>
              </a:rPr>
              <a:t>144</a:t>
            </a:r>
          </a:p>
        </p:txBody>
      </p:sp>
      <p:sp>
        <p:nvSpPr>
          <p:cNvPr id="17" name="TextBox 16"/>
          <p:cNvSpPr txBox="1"/>
          <p:nvPr/>
        </p:nvSpPr>
        <p:spPr>
          <a:xfrm>
            <a:off x="3584448" y="3712463"/>
            <a:ext cx="2194560" cy="384048"/>
          </a:xfrm>
          <a:prstGeom prst="rect">
            <a:avLst/>
          </a:prstGeom>
          <a:noFill/>
        </p:spPr>
        <p:txBody>
          <a:bodyPr wrap="square" lIns="0" rIns="0" tIns="0" bIns="0" anchor="t">
            <a:spAutoFit/>
          </a:bodyPr>
          <a:lstStyle/>
          <a:p>
            <a:pPr algn="l">
              <a:lnSpc>
                <a:spcPct val="120000"/>
              </a:lnSpc>
            </a:pPr>
            <a:r>
              <a:rPr sz="1200" b="0">
                <a:solidFill>
                  <a:srgbClr val="D6E0EC"/>
                </a:solidFill>
                <a:latin typeface="Arial"/>
              </a:rPr>
              <a:t>distinct cotton fields</a:t>
            </a:r>
          </a:p>
        </p:txBody>
      </p:sp>
      <p:sp>
        <p:nvSpPr>
          <p:cNvPr id="18" name="Rounded Rectangle 17"/>
          <p:cNvSpPr/>
          <p:nvPr/>
        </p:nvSpPr>
        <p:spPr>
          <a:xfrm>
            <a:off x="6117336" y="2880360"/>
            <a:ext cx="2624328" cy="137160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5" y="3063240"/>
            <a:ext cx="2194560" cy="603504"/>
          </a:xfrm>
          <a:prstGeom prst="rect">
            <a:avLst/>
          </a:prstGeom>
          <a:noFill/>
        </p:spPr>
        <p:txBody>
          <a:bodyPr wrap="square" lIns="0" rIns="0" tIns="0" bIns="0" anchor="t">
            <a:spAutoFit/>
          </a:bodyPr>
          <a:lstStyle/>
          <a:p>
            <a:pPr algn="l">
              <a:lnSpc>
                <a:spcPct val="120000"/>
              </a:lnSpc>
            </a:pPr>
            <a:r>
              <a:rPr sz="3400" b="1">
                <a:solidFill>
                  <a:srgbClr val="FFD103"/>
                </a:solidFill>
                <a:latin typeface="Arial Narrow"/>
              </a:rPr>
              <a:t>34</a:t>
            </a:r>
          </a:p>
        </p:txBody>
      </p:sp>
      <p:sp>
        <p:nvSpPr>
          <p:cNvPr id="20" name="TextBox 19"/>
          <p:cNvSpPr txBox="1"/>
          <p:nvPr/>
        </p:nvSpPr>
        <p:spPr>
          <a:xfrm>
            <a:off x="6391655" y="3712463"/>
            <a:ext cx="2194560" cy="384048"/>
          </a:xfrm>
          <a:prstGeom prst="rect">
            <a:avLst/>
          </a:prstGeom>
          <a:noFill/>
        </p:spPr>
        <p:txBody>
          <a:bodyPr wrap="square" lIns="0" rIns="0" tIns="0" bIns="0" anchor="t">
            <a:spAutoFit/>
          </a:bodyPr>
          <a:lstStyle/>
          <a:p>
            <a:pPr algn="l">
              <a:lnSpc>
                <a:spcPct val="120000"/>
              </a:lnSpc>
            </a:pPr>
            <a:r>
              <a:rPr sz="1200" b="0">
                <a:solidFill>
                  <a:srgbClr val="D6E0EC"/>
                </a:solidFill>
                <a:latin typeface="Arial"/>
              </a:rPr>
              <a:t>Georgia counties</a:t>
            </a:r>
          </a:p>
        </p:txBody>
      </p:sp>
      <p:sp>
        <p:nvSpPr>
          <p:cNvPr id="21" name="Rounded Rectangle 20"/>
          <p:cNvSpPr/>
          <p:nvPr/>
        </p:nvSpPr>
        <p:spPr>
          <a:xfrm>
            <a:off x="8924544" y="2880360"/>
            <a:ext cx="2624328" cy="137160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864" y="3063240"/>
            <a:ext cx="2194560" cy="603504"/>
          </a:xfrm>
          <a:prstGeom prst="rect">
            <a:avLst/>
          </a:prstGeom>
          <a:noFill/>
        </p:spPr>
        <p:txBody>
          <a:bodyPr wrap="square" lIns="0" rIns="0" tIns="0" bIns="0" anchor="t">
            <a:spAutoFit/>
          </a:bodyPr>
          <a:lstStyle/>
          <a:p>
            <a:pPr algn="l">
              <a:lnSpc>
                <a:spcPct val="120000"/>
              </a:lnSpc>
            </a:pPr>
            <a:r>
              <a:rPr sz="3400" b="1">
                <a:solidFill>
                  <a:srgbClr val="FFD103"/>
                </a:solidFill>
                <a:latin typeface="Arial Narrow"/>
              </a:rPr>
              <a:t>21,129</a:t>
            </a:r>
          </a:p>
        </p:txBody>
      </p:sp>
      <p:sp>
        <p:nvSpPr>
          <p:cNvPr id="23" name="TextBox 22"/>
          <p:cNvSpPr txBox="1"/>
          <p:nvPr/>
        </p:nvSpPr>
        <p:spPr>
          <a:xfrm>
            <a:off x="9198864" y="3712463"/>
            <a:ext cx="2194560" cy="384048"/>
          </a:xfrm>
          <a:prstGeom prst="rect">
            <a:avLst/>
          </a:prstGeom>
          <a:noFill/>
        </p:spPr>
        <p:txBody>
          <a:bodyPr wrap="square" lIns="0" rIns="0" tIns="0" bIns="0" anchor="t">
            <a:spAutoFit/>
          </a:bodyPr>
          <a:lstStyle/>
          <a:p>
            <a:pPr algn="l">
              <a:lnSpc>
                <a:spcPct val="120000"/>
              </a:lnSpc>
            </a:pPr>
            <a:r>
              <a:rPr sz="1200" b="0">
                <a:solidFill>
                  <a:srgbClr val="D6E0EC"/>
                </a:solidFill>
                <a:latin typeface="Arial"/>
              </a:rPr>
              <a:t>acres of cotton</a:t>
            </a:r>
          </a:p>
        </p:txBody>
      </p:sp>
      <p:sp>
        <p:nvSpPr>
          <p:cNvPr id="24" name="TextBox 23"/>
          <p:cNvSpPr txBox="1"/>
          <p:nvPr/>
        </p:nvSpPr>
        <p:spPr>
          <a:xfrm>
            <a:off x="502920" y="4572000"/>
            <a:ext cx="10515600" cy="685800"/>
          </a:xfrm>
          <a:prstGeom prst="rect">
            <a:avLst/>
          </a:prstGeom>
          <a:noFill/>
        </p:spPr>
        <p:txBody>
          <a:bodyPr wrap="square" lIns="0" rIns="0" tIns="0" bIns="0" anchor="t">
            <a:spAutoFit/>
          </a:bodyPr>
          <a:lstStyle/>
          <a:p>
            <a:pPr algn="l">
              <a:lnSpc>
                <a:spcPct val="135000"/>
              </a:lnSpc>
            </a:pPr>
            <a:r>
              <a:rPr sz="1400" b="0">
                <a:solidFill>
                  <a:srgbClr val="D6E0EC"/>
                </a:solidFill>
                <a:latin typeface="Arial"/>
              </a:rPr>
              <a:t>Every field-year was scored blind: the pipeline never saw the survey answers. Accuracy figures below are cross-validated by field, so repeat years of one farm cannot flatter the result.</a:t>
            </a:r>
          </a:p>
        </p:txBody>
      </p:sp>
      <p:sp>
        <p:nvSpPr>
          <p:cNvPr id="25" name="TextBox 24"/>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D6E0EC"/>
                </a:solidFill>
                <a:latin typeface="Arial"/>
              </a:rPr>
              <a:t>Survey years 2018–2021. Median field 82 acres. 78% irrigated.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The cotton scorecard</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502920" y="1444752"/>
          <a:ext cx="10835638" cy="1792224"/>
        </p:xfrm>
        <a:graphic>
          <a:graphicData uri="http://schemas.openxmlformats.org/drawingml/2006/table">
            <a:tbl>
              <a:tblPr firstRow="1" bandRow="1">
                <a:tableStyleId>{5C22544A-7EE6-4342-B048-85BDC9FD1C3A}</a:tableStyleId>
              </a:tblPr>
              <a:tblGrid>
                <a:gridCol w="3334043"/>
                <a:gridCol w="1667021"/>
                <a:gridCol w="1667021"/>
                <a:gridCol w="2292154"/>
                <a:gridCol w="1875399"/>
              </a:tblGrid>
              <a:tr h="420624">
                <a:tc>
                  <a:txBody>
                    <a:bodyPr/>
                    <a:lstStyle/>
                    <a:p>
                      <a:pPr algn="l"/>
                      <a:r>
                        <a:rPr sz="1300" b="1">
                          <a:solidFill>
                            <a:srgbClr val="FFFFFF"/>
                          </a:solidFill>
                          <a:latin typeface="Arial Narrow"/>
                        </a:rPr>
                        <a:t>What we measure</a:t>
                      </a:r>
                    </a:p>
                  </a:txBody>
                  <a:tcPr marL="73152" marR="73152" marT="18288" marB="18288" anchor="ctr">
                    <a:solidFill>
                      <a:srgbClr val="10427C"/>
                    </a:solidFill>
                  </a:tcPr>
                </a:tc>
                <a:tc>
                  <a:txBody>
                    <a:bodyPr/>
                    <a:lstStyle/>
                    <a:p>
                      <a:pPr algn="ctr"/>
                      <a:r>
                        <a:rPr sz="1300" b="1">
                          <a:solidFill>
                            <a:srgbClr val="FFFFFF"/>
                          </a:solidFill>
                          <a:latin typeface="Arial Narrow"/>
                        </a:rPr>
                        <a:t>Field-years</a:t>
                      </a:r>
                    </a:p>
                  </a:txBody>
                  <a:tcPr marL="73152" marR="73152" marT="18288" marB="18288" anchor="ctr">
                    <a:solidFill>
                      <a:srgbClr val="10427C"/>
                    </a:solidFill>
                  </a:tcPr>
                </a:tc>
                <a:tc>
                  <a:txBody>
                    <a:bodyPr/>
                    <a:lstStyle/>
                    <a:p>
                      <a:pPr algn="ctr"/>
                      <a:r>
                        <a:rPr sz="1300" b="1">
                          <a:solidFill>
                            <a:srgbClr val="FFFFFF"/>
                          </a:solidFill>
                          <a:latin typeface="Arial Narrow"/>
                        </a:rPr>
                        <a:t>Correct</a:t>
                      </a:r>
                    </a:p>
                  </a:txBody>
                  <a:tcPr marL="73152" marR="73152" marT="18288" marB="18288" anchor="ctr">
                    <a:solidFill>
                      <a:srgbClr val="10427C"/>
                    </a:solidFill>
                  </a:tcPr>
                </a:tc>
                <a:tc>
                  <a:txBody>
                    <a:bodyPr/>
                    <a:lstStyle/>
                    <a:p>
                      <a:pPr algn="ctr"/>
                      <a:r>
                        <a:rPr sz="1300" b="1">
                          <a:solidFill>
                            <a:srgbClr val="FFFFFF"/>
                          </a:solidFill>
                          <a:latin typeface="Arial Narrow"/>
                        </a:rPr>
                        <a:t>Catches</a:t>
                      </a:r>
                    </a:p>
                  </a:txBody>
                  <a:tcPr marL="73152" marR="73152" marT="18288" marB="18288" anchor="ctr">
                    <a:solidFill>
                      <a:srgbClr val="10427C"/>
                    </a:solidFill>
                  </a:tcPr>
                </a:tc>
                <a:tc>
                  <a:txBody>
                    <a:bodyPr/>
                    <a:lstStyle/>
                    <a:p>
                      <a:pPr algn="ctr"/>
                      <a:r>
                        <a:rPr sz="1300" b="1">
                          <a:solidFill>
                            <a:srgbClr val="FFFFFF"/>
                          </a:solidFill>
                          <a:latin typeface="Arial Narrow"/>
                        </a:rPr>
                        <a:t>False alarms</a:t>
                      </a:r>
                    </a:p>
                  </a:txBody>
                  <a:tcPr marL="73152" marR="73152" marT="18288" marB="18288" anchor="ctr">
                    <a:solidFill>
                      <a:srgbClr val="10427C"/>
                    </a:solidFill>
                  </a:tcPr>
                </a:tc>
              </a:tr>
              <a:tr h="457200">
                <a:tc>
                  <a:txBody>
                    <a:bodyPr/>
                    <a:lstStyle/>
                    <a:p>
                      <a:pPr algn="l"/>
                      <a:r>
                        <a:rPr sz="1300" b="0">
                          <a:solidFill>
                            <a:srgbClr val="444444"/>
                          </a:solidFill>
                          <a:latin typeface="Arial"/>
                        </a:rPr>
                        <a:t>Crop is cotton</a:t>
                      </a:r>
                    </a:p>
                  </a:txBody>
                  <a:tcPr marL="73152" marR="73152" marT="18288" marB="18288" anchor="ctr">
                    <a:solidFill>
                      <a:srgbClr val="FFFFFF"/>
                    </a:solidFill>
                  </a:tcPr>
                </a:tc>
                <a:tc>
                  <a:txBody>
                    <a:bodyPr/>
                    <a:lstStyle/>
                    <a:p>
                      <a:pPr algn="ctr"/>
                      <a:r>
                        <a:rPr sz="1300" b="0">
                          <a:solidFill>
                            <a:srgbClr val="444444"/>
                          </a:solidFill>
                          <a:latin typeface="Arial"/>
                        </a:rPr>
                        <a:t>183</a:t>
                      </a:r>
                    </a:p>
                  </a:txBody>
                  <a:tcPr marL="73152" marR="73152" marT="18288" marB="18288" anchor="ctr">
                    <a:solidFill>
                      <a:srgbClr val="FFFFFF"/>
                    </a:solidFill>
                  </a:tcPr>
                </a:tc>
                <a:tc>
                  <a:txBody>
                    <a:bodyPr/>
                    <a:lstStyle/>
                    <a:p>
                      <a:pPr algn="ctr"/>
                      <a:r>
                        <a:rPr sz="1300" b="1">
                          <a:solidFill>
                            <a:srgbClr val="10427C"/>
                          </a:solidFill>
                          <a:latin typeface="Arial"/>
                        </a:rPr>
                        <a:t>85.2%</a:t>
                      </a:r>
                    </a:p>
                  </a:txBody>
                  <a:tcPr marL="73152" marR="73152" marT="18288" marB="18288" anchor="ctr">
                    <a:solidFill>
                      <a:srgbClr val="FFFFFF"/>
                    </a:solidFill>
                  </a:tcPr>
                </a:tc>
                <a:tc>
                  <a:txBody>
                    <a:bodyPr/>
                    <a:lstStyle/>
                    <a:p>
                      <a:pPr algn="ctr"/>
                      <a:r>
                        <a:rPr sz="1300" b="0">
                          <a:solidFill>
                            <a:srgbClr val="444444"/>
                          </a:solidFill>
                          <a:latin typeface="Arial"/>
                        </a:rPr>
                        <a:t>156 of 183</a:t>
                      </a:r>
                    </a:p>
                  </a:txBody>
                  <a:tcPr marL="73152" marR="73152" marT="18288" marB="18288" anchor="ctr">
                    <a:solidFill>
                      <a:srgbClr val="FFFFFF"/>
                    </a:solidFill>
                  </a:tcPr>
                </a:tc>
                <a:tc>
                  <a:txBody>
                    <a:bodyPr/>
                    <a:lstStyle/>
                    <a:p>
                      <a:pPr algn="ctr"/>
                      <a:r>
                        <a:rPr sz="1300" b="0">
                          <a:solidFill>
                            <a:srgbClr val="444444"/>
                          </a:solidFill>
                          <a:latin typeface="Arial"/>
                        </a:rPr>
                        <a:t>25</a:t>
                      </a:r>
                    </a:p>
                  </a:txBody>
                  <a:tcPr marL="73152" marR="73152" marT="18288" marB="18288" anchor="ctr">
                    <a:solidFill>
                      <a:srgbClr val="FFFFFF"/>
                    </a:solidFill>
                  </a:tcPr>
                </a:tc>
              </a:tr>
              <a:tr h="457200">
                <a:tc>
                  <a:txBody>
                    <a:bodyPr/>
                    <a:lstStyle/>
                    <a:p>
                      <a:pPr algn="l"/>
                      <a:r>
                        <a:rPr sz="1300" b="0">
                          <a:solidFill>
                            <a:srgbClr val="444444"/>
                          </a:solidFill>
                          <a:latin typeface="Arial"/>
                        </a:rPr>
                        <a:t>Cover crop grown</a:t>
                      </a:r>
                    </a:p>
                  </a:txBody>
                  <a:tcPr marL="73152" marR="73152" marT="18288" marB="18288" anchor="ctr">
                    <a:solidFill>
                      <a:srgbClr val="EEEEEE"/>
                    </a:solidFill>
                  </a:tcPr>
                </a:tc>
                <a:tc>
                  <a:txBody>
                    <a:bodyPr/>
                    <a:lstStyle/>
                    <a:p>
                      <a:pPr algn="ctr"/>
                      <a:r>
                        <a:rPr sz="1300" b="0">
                          <a:solidFill>
                            <a:srgbClr val="444444"/>
                          </a:solidFill>
                          <a:latin typeface="Arial"/>
                        </a:rPr>
                        <a:t>182</a:t>
                      </a:r>
                    </a:p>
                  </a:txBody>
                  <a:tcPr marL="73152" marR="73152" marT="18288" marB="18288" anchor="ctr">
                    <a:solidFill>
                      <a:srgbClr val="EEEEEE"/>
                    </a:solidFill>
                  </a:tcPr>
                </a:tc>
                <a:tc>
                  <a:txBody>
                    <a:bodyPr/>
                    <a:lstStyle/>
                    <a:p>
                      <a:pPr algn="ctr"/>
                      <a:r>
                        <a:rPr sz="1300" b="1">
                          <a:solidFill>
                            <a:srgbClr val="10427C"/>
                          </a:solidFill>
                          <a:latin typeface="Arial"/>
                        </a:rPr>
                        <a:t>75.3%</a:t>
                      </a:r>
                    </a:p>
                  </a:txBody>
                  <a:tcPr marL="73152" marR="73152" marT="18288" marB="18288" anchor="ctr">
                    <a:solidFill>
                      <a:srgbClr val="EEEEEE"/>
                    </a:solidFill>
                  </a:tcPr>
                </a:tc>
                <a:tc>
                  <a:txBody>
                    <a:bodyPr/>
                    <a:lstStyle/>
                    <a:p>
                      <a:pPr algn="ctr"/>
                      <a:r>
                        <a:rPr sz="1300" b="0">
                          <a:solidFill>
                            <a:srgbClr val="444444"/>
                          </a:solidFill>
                          <a:latin typeface="Arial"/>
                        </a:rPr>
                        <a:t>111 of 114</a:t>
                      </a:r>
                    </a:p>
                  </a:txBody>
                  <a:tcPr marL="73152" marR="73152" marT="18288" marB="18288" anchor="ctr">
                    <a:solidFill>
                      <a:srgbClr val="EEEEEE"/>
                    </a:solidFill>
                  </a:tcPr>
                </a:tc>
                <a:tc>
                  <a:txBody>
                    <a:bodyPr/>
                    <a:lstStyle/>
                    <a:p>
                      <a:pPr algn="ctr"/>
                      <a:r>
                        <a:rPr sz="1300" b="0">
                          <a:solidFill>
                            <a:srgbClr val="444444"/>
                          </a:solidFill>
                          <a:latin typeface="Arial"/>
                        </a:rPr>
                        <a:t>42</a:t>
                      </a:r>
                    </a:p>
                  </a:txBody>
                  <a:tcPr marL="73152" marR="73152" marT="18288" marB="18288" anchor="ctr">
                    <a:solidFill>
                      <a:srgbClr val="EEEEEE"/>
                    </a:solidFill>
                  </a:tcPr>
                </a:tc>
              </a:tr>
              <a:tr h="457200">
                <a:tc>
                  <a:txBody>
                    <a:bodyPr/>
                    <a:lstStyle/>
                    <a:p>
                      <a:pPr algn="l"/>
                      <a:r>
                        <a:rPr sz="1300" b="0">
                          <a:solidFill>
                            <a:srgbClr val="444444"/>
                          </a:solidFill>
                          <a:latin typeface="Arial"/>
                        </a:rPr>
                        <a:t>Conservation tillage</a:t>
                      </a:r>
                    </a:p>
                  </a:txBody>
                  <a:tcPr marL="73152" marR="73152" marT="18288" marB="18288" anchor="ctr">
                    <a:solidFill>
                      <a:srgbClr val="FFFFFF"/>
                    </a:solidFill>
                  </a:tcPr>
                </a:tc>
                <a:tc>
                  <a:txBody>
                    <a:bodyPr/>
                    <a:lstStyle/>
                    <a:p>
                      <a:pPr algn="ctr"/>
                      <a:r>
                        <a:rPr sz="1300" b="0">
                          <a:solidFill>
                            <a:srgbClr val="444444"/>
                          </a:solidFill>
                          <a:latin typeface="Arial"/>
                        </a:rPr>
                        <a:t>174</a:t>
                      </a:r>
                    </a:p>
                  </a:txBody>
                  <a:tcPr marL="73152" marR="73152" marT="18288" marB="18288" anchor="ctr">
                    <a:solidFill>
                      <a:srgbClr val="FFFFFF"/>
                    </a:solidFill>
                  </a:tcPr>
                </a:tc>
                <a:tc>
                  <a:txBody>
                    <a:bodyPr/>
                    <a:lstStyle/>
                    <a:p>
                      <a:pPr algn="ctr"/>
                      <a:r>
                        <a:rPr sz="1300" b="1">
                          <a:solidFill>
                            <a:srgbClr val="10427C"/>
                          </a:solidFill>
                          <a:latin typeface="Arial"/>
                        </a:rPr>
                        <a:t>76.4%</a:t>
                      </a:r>
                    </a:p>
                  </a:txBody>
                  <a:tcPr marL="73152" marR="73152" marT="18288" marB="18288" anchor="ctr">
                    <a:solidFill>
                      <a:srgbClr val="FFFFFF"/>
                    </a:solidFill>
                  </a:tcPr>
                </a:tc>
                <a:tc>
                  <a:txBody>
                    <a:bodyPr/>
                    <a:lstStyle/>
                    <a:p>
                      <a:pPr algn="ctr"/>
                      <a:r>
                        <a:rPr sz="1300" b="0">
                          <a:solidFill>
                            <a:srgbClr val="444444"/>
                          </a:solidFill>
                          <a:latin typeface="Arial"/>
                        </a:rPr>
                        <a:t>105 of 126</a:t>
                      </a:r>
                    </a:p>
                  </a:txBody>
                  <a:tcPr marL="73152" marR="73152" marT="18288" marB="18288" anchor="ctr">
                    <a:solidFill>
                      <a:srgbClr val="FFFFFF"/>
                    </a:solidFill>
                  </a:tcPr>
                </a:tc>
                <a:tc>
                  <a:txBody>
                    <a:bodyPr/>
                    <a:lstStyle/>
                    <a:p>
                      <a:pPr algn="ctr"/>
                      <a:r>
                        <a:rPr sz="1300" b="0">
                          <a:solidFill>
                            <a:srgbClr val="444444"/>
                          </a:solidFill>
                          <a:latin typeface="Arial"/>
                        </a:rPr>
                        <a:t>20</a:t>
                      </a:r>
                    </a:p>
                  </a:txBody>
                  <a:tcPr marL="73152" marR="73152" marT="18288" marB="18288" anchor="ctr">
                    <a:solidFill>
                      <a:srgbClr val="FFFFFF"/>
                    </a:solidFill>
                  </a:tcPr>
                </a:tc>
              </a:tr>
            </a:tbl>
          </a:graphicData>
        </a:graphic>
      </p:graphicFrame>
      <p:sp>
        <p:nvSpPr>
          <p:cNvPr id="13" name="TextBox 12"/>
          <p:cNvSpPr txBox="1"/>
          <p:nvPr/>
        </p:nvSpPr>
        <p:spPr>
          <a:xfrm>
            <a:off x="502920" y="3520440"/>
            <a:ext cx="5212080" cy="914400"/>
          </a:xfrm>
          <a:prstGeom prst="rect">
            <a:avLst/>
          </a:prstGeom>
          <a:noFill/>
        </p:spPr>
        <p:txBody>
          <a:bodyPr wrap="square" lIns="0" rIns="0" tIns="0" bIns="0" anchor="t">
            <a:spAutoFit/>
          </a:bodyPr>
          <a:lstStyle/>
          <a:p>
            <a:pPr algn="l">
              <a:lnSpc>
                <a:spcPct val="130000"/>
              </a:lnSpc>
            </a:pPr>
            <a:r>
              <a:rPr sz="1300" b="1">
                <a:solidFill>
                  <a:srgbClr val="58595B"/>
                </a:solidFill>
                <a:latin typeface="Arial"/>
              </a:rPr>
              <a:t>Cotton is the strong crop. </a:t>
            </a:r>
            <a:r>
              <a:rPr sz="1300" b="0">
                <a:solidFill>
                  <a:srgbClr val="58595B"/>
                </a:solidFill>
                <a:latin typeface="Arial"/>
              </a:rPr>
              <a:t>It misses almost nothing: 97% of cover crops and 83% of conservation-tilled fields are caught.</a:t>
            </a:r>
          </a:p>
        </p:txBody>
      </p:sp>
      <p:sp>
        <p:nvSpPr>
          <p:cNvPr id="14" name="TextBox 13"/>
          <p:cNvSpPr txBox="1"/>
          <p:nvPr/>
        </p:nvSpPr>
        <p:spPr>
          <a:xfrm>
            <a:off x="6126480" y="3520440"/>
            <a:ext cx="5212080" cy="914400"/>
          </a:xfrm>
          <a:prstGeom prst="rect">
            <a:avLst/>
          </a:prstGeom>
          <a:noFill/>
        </p:spPr>
        <p:txBody>
          <a:bodyPr wrap="square" lIns="0" rIns="0" tIns="0" bIns="0" anchor="t">
            <a:spAutoFit/>
          </a:bodyPr>
          <a:lstStyle/>
          <a:p>
            <a:pPr algn="l">
              <a:lnSpc>
                <a:spcPct val="130000"/>
              </a:lnSpc>
            </a:pPr>
            <a:r>
              <a:rPr sz="1300" b="1">
                <a:solidFill>
                  <a:srgbClr val="58595B"/>
                </a:solidFill>
                <a:latin typeface="Arial"/>
              </a:rPr>
              <a:t>False alarms are the weak point. </a:t>
            </a:r>
            <a:r>
              <a:rPr sz="1300" b="0">
                <a:solidFill>
                  <a:srgbClr val="58595B"/>
                </a:solidFill>
                <a:latin typeface="Arial"/>
              </a:rPr>
              <a:t>The system over-calls conservation practice, which is exactly what calibration data fixes.</a:t>
            </a:r>
          </a:p>
        </p:txBody>
      </p:sp>
      <p:sp>
        <p:nvSpPr>
          <p:cNvPr id="15" name="TextBox 14"/>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Cover crop and tillage thresholds fitted in-sample; cross-validated they fall to 75.2% and 73.8%.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Bad field boundaries break everything downstream</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457200"/>
          </a:xfrm>
          <a:prstGeom prst="rect">
            <a:avLst/>
          </a:prstGeom>
          <a:noFill/>
        </p:spPr>
        <p:txBody>
          <a:bodyPr wrap="square" lIns="0" rIns="0" tIns="0" bIns="0" anchor="t">
            <a:spAutoFit/>
          </a:bodyPr>
          <a:lstStyle/>
          <a:p>
            <a:pPr algn="l">
              <a:lnSpc>
                <a:spcPct val="130000"/>
              </a:lnSpc>
            </a:pPr>
            <a:r>
              <a:rPr sz="1400" b="0">
                <a:solidFill>
                  <a:srgbClr val="58595B"/>
                </a:solidFill>
                <a:latin typeface="Arial"/>
              </a:rPr>
              <a:t>A boundary drawn around two management units blends two crops into one curve. We can detect that before reporting anything — and it predicts almost perfectly whether we get the crop right.</a:t>
            </a:r>
          </a:p>
        </p:txBody>
      </p:sp>
      <p:sp>
        <p:nvSpPr>
          <p:cNvPr id="13" name="TextBox 12"/>
          <p:cNvSpPr txBox="1"/>
          <p:nvPr/>
        </p:nvSpPr>
        <p:spPr>
          <a:xfrm>
            <a:off x="502920" y="2240280"/>
            <a:ext cx="2194560" cy="256032"/>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Under 60% one crop</a:t>
            </a:r>
          </a:p>
        </p:txBody>
      </p:sp>
      <p:sp>
        <p:nvSpPr>
          <p:cNvPr id="14" name="Rectangle 13"/>
          <p:cNvSpPr/>
          <p:nvPr/>
        </p:nvSpPr>
        <p:spPr>
          <a:xfrm>
            <a:off x="2788920" y="2148840"/>
            <a:ext cx="837498" cy="429768"/>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3578" y="2185416"/>
            <a:ext cx="914400" cy="301752"/>
          </a:xfrm>
          <a:prstGeom prst="rect">
            <a:avLst/>
          </a:prstGeom>
          <a:noFill/>
        </p:spPr>
        <p:txBody>
          <a:bodyPr wrap="square" lIns="0" rIns="0" tIns="0" bIns="0" anchor="t">
            <a:spAutoFit/>
          </a:bodyPr>
          <a:lstStyle/>
          <a:p>
            <a:pPr algn="l">
              <a:lnSpc>
                <a:spcPct val="120000"/>
              </a:lnSpc>
            </a:pPr>
            <a:r>
              <a:rPr sz="1600" b="1">
                <a:solidFill>
                  <a:srgbClr val="212121"/>
                </a:solidFill>
                <a:latin typeface="Arial Narrow"/>
              </a:rPr>
              <a:t>12.9%</a:t>
            </a:r>
          </a:p>
        </p:txBody>
      </p:sp>
      <p:sp>
        <p:nvSpPr>
          <p:cNvPr id="16" name="TextBox 15"/>
          <p:cNvSpPr txBox="1"/>
          <p:nvPr/>
        </p:nvSpPr>
        <p:spPr>
          <a:xfrm>
            <a:off x="4632258" y="2240280"/>
            <a:ext cx="100584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31 fields</a:t>
            </a:r>
          </a:p>
        </p:txBody>
      </p:sp>
      <p:sp>
        <p:nvSpPr>
          <p:cNvPr id="17" name="TextBox 16"/>
          <p:cNvSpPr txBox="1"/>
          <p:nvPr/>
        </p:nvSpPr>
        <p:spPr>
          <a:xfrm>
            <a:off x="502920" y="2862072"/>
            <a:ext cx="2194560" cy="256032"/>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60–75% one crop</a:t>
            </a:r>
          </a:p>
        </p:txBody>
      </p:sp>
      <p:sp>
        <p:nvSpPr>
          <p:cNvPr id="18" name="Rectangle 17"/>
          <p:cNvSpPr/>
          <p:nvPr/>
        </p:nvSpPr>
        <p:spPr>
          <a:xfrm>
            <a:off x="2788920" y="2770632"/>
            <a:ext cx="4674412" cy="429768"/>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00492" y="2807208"/>
            <a:ext cx="914400" cy="301752"/>
          </a:xfrm>
          <a:prstGeom prst="rect">
            <a:avLst/>
          </a:prstGeom>
          <a:noFill/>
        </p:spPr>
        <p:txBody>
          <a:bodyPr wrap="square" lIns="0" rIns="0" tIns="0" bIns="0" anchor="t">
            <a:spAutoFit/>
          </a:bodyPr>
          <a:lstStyle/>
          <a:p>
            <a:pPr algn="l">
              <a:lnSpc>
                <a:spcPct val="120000"/>
              </a:lnSpc>
            </a:pPr>
            <a:r>
              <a:rPr sz="1600" b="1">
                <a:solidFill>
                  <a:srgbClr val="212121"/>
                </a:solidFill>
                <a:latin typeface="Arial Narrow"/>
              </a:rPr>
              <a:t>72.0%</a:t>
            </a:r>
          </a:p>
        </p:txBody>
      </p:sp>
      <p:sp>
        <p:nvSpPr>
          <p:cNvPr id="20" name="TextBox 19"/>
          <p:cNvSpPr txBox="1"/>
          <p:nvPr/>
        </p:nvSpPr>
        <p:spPr>
          <a:xfrm>
            <a:off x="8469172" y="2862072"/>
            <a:ext cx="100584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25 fields</a:t>
            </a:r>
          </a:p>
        </p:txBody>
      </p:sp>
      <p:sp>
        <p:nvSpPr>
          <p:cNvPr id="21" name="TextBox 20"/>
          <p:cNvSpPr txBox="1"/>
          <p:nvPr/>
        </p:nvSpPr>
        <p:spPr>
          <a:xfrm>
            <a:off x="502920" y="3483864"/>
            <a:ext cx="2194560" cy="256032"/>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75–90% one crop</a:t>
            </a:r>
          </a:p>
        </p:txBody>
      </p:sp>
      <p:sp>
        <p:nvSpPr>
          <p:cNvPr id="22" name="Rectangle 21"/>
          <p:cNvSpPr/>
          <p:nvPr/>
        </p:nvSpPr>
        <p:spPr>
          <a:xfrm>
            <a:off x="2788920" y="3392424"/>
            <a:ext cx="5843016" cy="429768"/>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69096" y="3429000"/>
            <a:ext cx="914400" cy="301752"/>
          </a:xfrm>
          <a:prstGeom prst="rect">
            <a:avLst/>
          </a:prstGeom>
          <a:noFill/>
        </p:spPr>
        <p:txBody>
          <a:bodyPr wrap="square" lIns="0" rIns="0" tIns="0" bIns="0" anchor="t">
            <a:spAutoFit/>
          </a:bodyPr>
          <a:lstStyle/>
          <a:p>
            <a:pPr algn="l">
              <a:lnSpc>
                <a:spcPct val="120000"/>
              </a:lnSpc>
            </a:pPr>
            <a:r>
              <a:rPr sz="1600" b="1">
                <a:solidFill>
                  <a:srgbClr val="212121"/>
                </a:solidFill>
                <a:latin typeface="Arial Narrow"/>
              </a:rPr>
              <a:t>90.0%</a:t>
            </a:r>
          </a:p>
        </p:txBody>
      </p:sp>
      <p:sp>
        <p:nvSpPr>
          <p:cNvPr id="24" name="TextBox 23"/>
          <p:cNvSpPr txBox="1"/>
          <p:nvPr/>
        </p:nvSpPr>
        <p:spPr>
          <a:xfrm>
            <a:off x="9637776" y="3483864"/>
            <a:ext cx="100584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90 fields</a:t>
            </a:r>
          </a:p>
        </p:txBody>
      </p:sp>
      <p:sp>
        <p:nvSpPr>
          <p:cNvPr id="25" name="TextBox 24"/>
          <p:cNvSpPr txBox="1"/>
          <p:nvPr/>
        </p:nvSpPr>
        <p:spPr>
          <a:xfrm>
            <a:off x="502920" y="4105656"/>
            <a:ext cx="2194560" cy="256032"/>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Over 90% one crop</a:t>
            </a:r>
          </a:p>
        </p:txBody>
      </p:sp>
      <p:sp>
        <p:nvSpPr>
          <p:cNvPr id="26" name="Rectangle 25"/>
          <p:cNvSpPr/>
          <p:nvPr/>
        </p:nvSpPr>
        <p:spPr>
          <a:xfrm>
            <a:off x="2788920" y="4014216"/>
            <a:ext cx="5719663" cy="429768"/>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5743" y="4050792"/>
            <a:ext cx="914400" cy="301752"/>
          </a:xfrm>
          <a:prstGeom prst="rect">
            <a:avLst/>
          </a:prstGeom>
          <a:noFill/>
        </p:spPr>
        <p:txBody>
          <a:bodyPr wrap="square" lIns="0" rIns="0" tIns="0" bIns="0" anchor="t">
            <a:spAutoFit/>
          </a:bodyPr>
          <a:lstStyle/>
          <a:p>
            <a:pPr algn="l">
              <a:lnSpc>
                <a:spcPct val="120000"/>
              </a:lnSpc>
            </a:pPr>
            <a:r>
              <a:rPr sz="1600" b="1">
                <a:solidFill>
                  <a:srgbClr val="212121"/>
                </a:solidFill>
                <a:latin typeface="Arial Narrow"/>
              </a:rPr>
              <a:t>88.1%</a:t>
            </a:r>
          </a:p>
        </p:txBody>
      </p:sp>
      <p:sp>
        <p:nvSpPr>
          <p:cNvPr id="28" name="TextBox 27"/>
          <p:cNvSpPr txBox="1"/>
          <p:nvPr/>
        </p:nvSpPr>
        <p:spPr>
          <a:xfrm>
            <a:off x="9514423" y="4105656"/>
            <a:ext cx="1005840" cy="256032"/>
          </a:xfrm>
          <a:prstGeom prst="rect">
            <a:avLst/>
          </a:prstGeom>
          <a:noFill/>
        </p:spPr>
        <p:txBody>
          <a:bodyPr wrap="square" lIns="0" rIns="0" tIns="0" bIns="0" anchor="t">
            <a:spAutoFit/>
          </a:bodyPr>
          <a:lstStyle/>
          <a:p>
            <a:pPr algn="l">
              <a:lnSpc>
                <a:spcPct val="120000"/>
              </a:lnSpc>
            </a:pPr>
            <a:r>
              <a:rPr sz="1000" b="0">
                <a:solidFill>
                  <a:srgbClr val="58595B"/>
                </a:solidFill>
                <a:latin typeface="Arial"/>
              </a:rPr>
              <a:t>201 fields</a:t>
            </a:r>
          </a:p>
        </p:txBody>
      </p:sp>
      <p:sp>
        <p:nvSpPr>
          <p:cNvPr id="29" name="TextBox 28"/>
          <p:cNvSpPr txBox="1"/>
          <p:nvPr/>
        </p:nvSpPr>
        <p:spPr>
          <a:xfrm>
            <a:off x="502920" y="4846320"/>
            <a:ext cx="10698480" cy="731520"/>
          </a:xfrm>
          <a:prstGeom prst="rect">
            <a:avLst/>
          </a:prstGeom>
          <a:noFill/>
        </p:spPr>
        <p:txBody>
          <a:bodyPr wrap="square" lIns="0" rIns="0" tIns="0" bIns="0" anchor="t">
            <a:spAutoFit/>
          </a:bodyPr>
          <a:lstStyle/>
          <a:p>
            <a:pPr algn="l">
              <a:lnSpc>
                <a:spcPct val="130000"/>
              </a:lnSpc>
            </a:pPr>
            <a:r>
              <a:rPr sz="1400" b="1">
                <a:solidFill>
                  <a:srgbClr val="58595B"/>
                </a:solidFill>
                <a:latin typeface="Arial"/>
              </a:rPr>
              <a:t>This is free quality control. </a:t>
            </a:r>
            <a:r>
              <a:rPr sz="1400" b="0">
                <a:solidFill>
                  <a:srgbClr val="58595B"/>
                </a:solidFill>
                <a:latin typeface="Arial"/>
              </a:rPr>
              <a:t>Refusing to score the worst 16% of boundaries lifts crop accuracy from 80.7% to 88.7% and costs nothing but an honest “we cannot read this field”.</a:t>
            </a:r>
          </a:p>
        </p:txBody>
      </p:sp>
      <p:sp>
        <p:nvSpPr>
          <p:cNvPr id="30" name="TextBox 29"/>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Agreement with grower-reported crop, by share of the boundary CDL assigns to a single class. All 347 field-years.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What an uncalibrated threshold costs</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640080"/>
          </a:xfrm>
          <a:prstGeom prst="rect">
            <a:avLst/>
          </a:prstGeom>
          <a:noFill/>
        </p:spPr>
        <p:txBody>
          <a:bodyPr wrap="square" lIns="0" rIns="0" tIns="0" bIns="0" anchor="t">
            <a:spAutoFit/>
          </a:bodyPr>
          <a:lstStyle/>
          <a:p>
            <a:pPr algn="l">
              <a:lnSpc>
                <a:spcPct val="130000"/>
              </a:lnSpc>
            </a:pPr>
            <a:r>
              <a:rPr sz="1400" b="0">
                <a:solidFill>
                  <a:srgbClr val="58595B"/>
                </a:solidFill>
                <a:latin typeface="Arial"/>
              </a:rPr>
              <a:t>Our cover crop threshold came from Mid-Atlantic literature, where winter residue sits at NDVI 0.10–0.25. In Georgia the median field with no cover crop at all peaks at 0.53 — 0.50 on cotton. Winter weeds, volunteer and a mild climate put green on ground nobody planted.</a:t>
            </a:r>
          </a:p>
        </p:txBody>
      </p:sp>
      <p:sp>
        <p:nvSpPr>
          <p:cNvPr id="13" name="Rounded Rectangle 12"/>
          <p:cNvSpPr/>
          <p:nvPr/>
        </p:nvSpPr>
        <p:spPr>
          <a:xfrm>
            <a:off x="502920" y="2377440"/>
            <a:ext cx="5257800" cy="2148840"/>
          </a:xfrm>
          <a:prstGeom prst="roundRect">
            <a:avLst>
              <a:gd name="adj" fmla="val 5000"/>
            </a:avLst>
          </a:prstGeom>
          <a:solidFill>
            <a:srgbClr val="FFFFFF"/>
          </a:solidFill>
          <a:ln w="22225">
            <a:solidFill>
              <a:srgbClr val="462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06040"/>
            <a:ext cx="4617720" cy="256032"/>
          </a:xfrm>
          <a:prstGeom prst="rect">
            <a:avLst/>
          </a:prstGeom>
          <a:noFill/>
        </p:spPr>
        <p:txBody>
          <a:bodyPr wrap="square" lIns="0" rIns="0" tIns="0" bIns="0" anchor="t">
            <a:spAutoFit/>
          </a:bodyPr>
          <a:lstStyle/>
          <a:p>
            <a:pPr algn="l">
              <a:lnSpc>
                <a:spcPct val="120000"/>
              </a:lnSpc>
            </a:pPr>
            <a:r>
              <a:rPr sz="1000" b="1">
                <a:solidFill>
                  <a:srgbClr val="462668"/>
                </a:solidFill>
                <a:latin typeface="Arial Narrow"/>
              </a:rPr>
              <a:t>OUT-OF-REGION THRESHOLD</a:t>
            </a:r>
          </a:p>
        </p:txBody>
      </p:sp>
      <p:sp>
        <p:nvSpPr>
          <p:cNvPr id="15" name="TextBox 14"/>
          <p:cNvSpPr txBox="1"/>
          <p:nvPr/>
        </p:nvSpPr>
        <p:spPr>
          <a:xfrm>
            <a:off x="822960" y="2852928"/>
            <a:ext cx="1828800" cy="658368"/>
          </a:xfrm>
          <a:prstGeom prst="rect">
            <a:avLst/>
          </a:prstGeom>
          <a:noFill/>
        </p:spPr>
        <p:txBody>
          <a:bodyPr wrap="square" lIns="0" rIns="0" tIns="0" bIns="0" anchor="t">
            <a:spAutoFit/>
          </a:bodyPr>
          <a:lstStyle/>
          <a:p>
            <a:pPr algn="l">
              <a:lnSpc>
                <a:spcPct val="120000"/>
              </a:lnSpc>
            </a:pPr>
            <a:r>
              <a:rPr sz="4000" b="1">
                <a:solidFill>
                  <a:srgbClr val="462668"/>
                </a:solidFill>
                <a:latin typeface="Arial Narrow"/>
              </a:rPr>
              <a:t>60</a:t>
            </a:r>
          </a:p>
        </p:txBody>
      </p:sp>
      <p:sp>
        <p:nvSpPr>
          <p:cNvPr id="16" name="TextBox 15"/>
          <p:cNvSpPr txBox="1"/>
          <p:nvPr/>
        </p:nvSpPr>
        <p:spPr>
          <a:xfrm>
            <a:off x="822960" y="3611880"/>
            <a:ext cx="4617720" cy="777240"/>
          </a:xfrm>
          <a:prstGeom prst="rect">
            <a:avLst/>
          </a:prstGeom>
          <a:noFill/>
        </p:spPr>
        <p:txBody>
          <a:bodyPr wrap="square" lIns="0" rIns="0" tIns="0" bIns="0" anchor="t">
            <a:spAutoFit/>
          </a:bodyPr>
          <a:lstStyle/>
          <a:p>
            <a:pPr algn="l">
              <a:lnSpc>
                <a:spcPct val="130000"/>
              </a:lnSpc>
            </a:pPr>
            <a:r>
              <a:rPr sz="1200" b="0">
                <a:solidFill>
                  <a:srgbClr val="58595B"/>
                </a:solidFill>
                <a:latin typeface="Arial"/>
              </a:rPr>
              <a:t>false alarms out of 68 cotton fields that grew no cover crop. It called almost every field a cover crop, so the answer carried no information.</a:t>
            </a:r>
          </a:p>
        </p:txBody>
      </p:sp>
      <p:sp>
        <p:nvSpPr>
          <p:cNvPr id="17" name="Rounded Rectangle 16"/>
          <p:cNvSpPr/>
          <p:nvPr/>
        </p:nvSpPr>
        <p:spPr>
          <a:xfrm>
            <a:off x="6126480" y="2377440"/>
            <a:ext cx="5257800" cy="2148840"/>
          </a:xfrm>
          <a:prstGeom prst="roundRect">
            <a:avLst>
              <a:gd name="adj" fmla="val 5000"/>
            </a:avLst>
          </a:prstGeom>
          <a:solidFill>
            <a:srgbClr val="FFFFFF"/>
          </a:solidFill>
          <a:ln w="22225">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606040"/>
            <a:ext cx="4617720" cy="256032"/>
          </a:xfrm>
          <a:prstGeom prst="rect">
            <a:avLst/>
          </a:prstGeom>
          <a:noFill/>
        </p:spPr>
        <p:txBody>
          <a:bodyPr wrap="square" lIns="0" rIns="0" tIns="0" bIns="0" anchor="t">
            <a:spAutoFit/>
          </a:bodyPr>
          <a:lstStyle/>
          <a:p>
            <a:pPr algn="l">
              <a:lnSpc>
                <a:spcPct val="120000"/>
              </a:lnSpc>
            </a:pPr>
            <a:r>
              <a:rPr sz="1000" b="1">
                <a:solidFill>
                  <a:srgbClr val="10427C"/>
                </a:solidFill>
                <a:latin typeface="Arial Narrow"/>
              </a:rPr>
              <a:t>REFITTED ON COTTON GROUND</a:t>
            </a:r>
          </a:p>
        </p:txBody>
      </p:sp>
      <p:sp>
        <p:nvSpPr>
          <p:cNvPr id="19" name="TextBox 18"/>
          <p:cNvSpPr txBox="1"/>
          <p:nvPr/>
        </p:nvSpPr>
        <p:spPr>
          <a:xfrm>
            <a:off x="6446520" y="2852928"/>
            <a:ext cx="1828800" cy="658368"/>
          </a:xfrm>
          <a:prstGeom prst="rect">
            <a:avLst/>
          </a:prstGeom>
          <a:noFill/>
        </p:spPr>
        <p:txBody>
          <a:bodyPr wrap="square" lIns="0" rIns="0" tIns="0" bIns="0" anchor="t">
            <a:spAutoFit/>
          </a:bodyPr>
          <a:lstStyle/>
          <a:p>
            <a:pPr algn="l">
              <a:lnSpc>
                <a:spcPct val="120000"/>
              </a:lnSpc>
            </a:pPr>
            <a:r>
              <a:rPr sz="4000" b="1">
                <a:solidFill>
                  <a:srgbClr val="10427C"/>
                </a:solidFill>
                <a:latin typeface="Arial Narrow"/>
              </a:rPr>
              <a:t>42</a:t>
            </a:r>
          </a:p>
        </p:txBody>
      </p:sp>
      <p:sp>
        <p:nvSpPr>
          <p:cNvPr id="20" name="TextBox 19"/>
          <p:cNvSpPr txBox="1"/>
          <p:nvPr/>
        </p:nvSpPr>
        <p:spPr>
          <a:xfrm>
            <a:off x="6446520" y="3611880"/>
            <a:ext cx="4617720" cy="777240"/>
          </a:xfrm>
          <a:prstGeom prst="rect">
            <a:avLst/>
          </a:prstGeom>
          <a:noFill/>
        </p:spPr>
        <p:txBody>
          <a:bodyPr wrap="square" lIns="0" rIns="0" tIns="0" bIns="0" anchor="t">
            <a:spAutoFit/>
          </a:bodyPr>
          <a:lstStyle/>
          <a:p>
            <a:pPr algn="l">
              <a:lnSpc>
                <a:spcPct val="130000"/>
              </a:lnSpc>
            </a:pPr>
            <a:r>
              <a:rPr sz="1200" b="0">
                <a:solidFill>
                  <a:srgbClr val="58595B"/>
                </a:solidFill>
                <a:latin typeface="Arial"/>
              </a:rPr>
              <a:t>false alarms, while still catching 111 of 114 real cover crops. Accuracy 67% to 75% from a single recalibrated number.</a:t>
            </a:r>
          </a:p>
        </p:txBody>
      </p:sp>
      <p:sp>
        <p:nvSpPr>
          <p:cNvPr id="21" name="TextBox 20"/>
          <p:cNvSpPr txBox="1"/>
          <p:nvPr/>
        </p:nvSpPr>
        <p:spPr>
          <a:xfrm>
            <a:off x="502920" y="4800600"/>
            <a:ext cx="10698480" cy="640080"/>
          </a:xfrm>
          <a:prstGeom prst="rect">
            <a:avLst/>
          </a:prstGeom>
          <a:noFill/>
        </p:spPr>
        <p:txBody>
          <a:bodyPr wrap="square" lIns="0" rIns="0" tIns="0" bIns="0" anchor="t">
            <a:spAutoFit/>
          </a:bodyPr>
          <a:lstStyle/>
          <a:p>
            <a:pPr algn="l">
              <a:lnSpc>
                <a:spcPct val="130000"/>
              </a:lnSpc>
            </a:pPr>
            <a:r>
              <a:rPr sz="1400" b="1">
                <a:solidFill>
                  <a:srgbClr val="212121"/>
                </a:solidFill>
                <a:latin typeface="Arial"/>
              </a:rPr>
              <a:t>One constant, refitted on 182 fields, removed 18 of every 60 false alarms. </a:t>
            </a:r>
            <a:r>
              <a:rPr sz="1400" b="0">
                <a:solidFill>
                  <a:srgbClr val="212121"/>
                </a:solidFill>
                <a:latin typeface="Arial"/>
              </a:rPr>
              <a:t>That is what your data buys, and it is the cheapest improvement available to us.</a:t>
            </a:r>
          </a:p>
        </p:txBody>
      </p:sp>
      <p:sp>
        <p:nvSpPr>
          <p:cNvPr id="22" name="TextBox 21"/>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Cotton field-years only. Threshold moved from NDVI 0.35 to 0.449.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The finding we did not want</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444752"/>
            <a:ext cx="10424160" cy="365760"/>
          </a:xfrm>
          <a:prstGeom prst="rect">
            <a:avLst/>
          </a:prstGeom>
          <a:noFill/>
        </p:spPr>
        <p:txBody>
          <a:bodyPr wrap="square" lIns="0" rIns="0" tIns="0" bIns="0" anchor="t">
            <a:spAutoFit/>
          </a:bodyPr>
          <a:lstStyle/>
          <a:p>
            <a:pPr algn="l">
              <a:lnSpc>
                <a:spcPct val="130000"/>
              </a:lnSpc>
            </a:pPr>
            <a:r>
              <a:rPr sz="1400" b="0">
                <a:solidFill>
                  <a:srgbClr val="58595B"/>
                </a:solidFill>
                <a:latin typeface="Arial"/>
              </a:rPr>
              <a:t>Split the same cotton fields by tillage and cover crop, then read — down the columns rather than across the rows.</a:t>
            </a:r>
          </a:p>
        </p:txBody>
      </p:sp>
      <p:graphicFrame>
        <p:nvGraphicFramePr>
          <p:cNvPr id="13" name="Table 12"/>
          <p:cNvGraphicFramePr>
            <a:graphicFrameLocks noGrp="1"/>
          </p:cNvGraphicFramePr>
          <p:nvPr/>
        </p:nvGraphicFramePr>
        <p:xfrm>
          <a:off x="502920" y="1938528"/>
          <a:ext cx="10835640" cy="1261872"/>
        </p:xfrm>
        <a:graphic>
          <a:graphicData uri="http://schemas.openxmlformats.org/drawingml/2006/table">
            <a:tbl>
              <a:tblPr firstRow="1" bandRow="1">
                <a:tableStyleId>{5C22544A-7EE6-4342-B048-85BDC9FD1C3A}</a:tableStyleId>
              </a:tblPr>
              <a:tblGrid>
                <a:gridCol w="3611880"/>
                <a:gridCol w="3611880"/>
                <a:gridCol w="3611880"/>
              </a:tblGrid>
              <a:tr h="420624">
                <a:tc>
                  <a:txBody>
                    <a:bodyPr/>
                    <a:lstStyle/>
                    <a:p>
                      <a:pPr algn="l"/>
                      <a:r>
                        <a:rPr sz="1400" b="1">
                          <a:solidFill>
                            <a:srgbClr val="FFFFFF"/>
                          </a:solidFill>
                          <a:latin typeface="Arial Narrow"/>
                        </a:rPr>
                        <a:t>Median spring armor</a:t>
                      </a:r>
                    </a:p>
                  </a:txBody>
                  <a:tcPr marL="73152" marR="73152" marT="18288" marB="18288" anchor="ctr">
                    <a:solidFill>
                      <a:srgbClr val="10427C"/>
                    </a:solidFill>
                  </a:tcPr>
                </a:tc>
                <a:tc>
                  <a:txBody>
                    <a:bodyPr/>
                    <a:lstStyle/>
                    <a:p>
                      <a:pPr algn="ctr"/>
                      <a:r>
                        <a:rPr sz="1400" b="1">
                          <a:solidFill>
                            <a:srgbClr val="FFFFFF"/>
                          </a:solidFill>
                          <a:latin typeface="Arial Narrow"/>
                        </a:rPr>
                        <a:t>No cover crop</a:t>
                      </a:r>
                    </a:p>
                  </a:txBody>
                  <a:tcPr marL="73152" marR="73152" marT="18288" marB="18288" anchor="ctr">
                    <a:solidFill>
                      <a:srgbClr val="10427C"/>
                    </a:solidFill>
                  </a:tcPr>
                </a:tc>
                <a:tc>
                  <a:txBody>
                    <a:bodyPr/>
                    <a:lstStyle/>
                    <a:p>
                      <a:pPr algn="ctr"/>
                      <a:r>
                        <a:rPr sz="1400" b="1">
                          <a:solidFill>
                            <a:srgbClr val="FFFFFF"/>
                          </a:solidFill>
                          <a:latin typeface="Arial Narrow"/>
                        </a:rPr>
                        <a:t>With cover crop</a:t>
                      </a:r>
                    </a:p>
                  </a:txBody>
                  <a:tcPr marL="73152" marR="73152" marT="18288" marB="18288" anchor="ctr">
                    <a:solidFill>
                      <a:srgbClr val="10427C"/>
                    </a:solidFill>
                  </a:tcPr>
                </a:tc>
              </a:tr>
              <a:tr h="420624">
                <a:tc>
                  <a:txBody>
                    <a:bodyPr/>
                    <a:lstStyle/>
                    <a:p>
                      <a:pPr algn="l"/>
                      <a:r>
                        <a:rPr sz="1400" b="0">
                          <a:solidFill>
                            <a:srgbClr val="444444"/>
                          </a:solidFill>
                          <a:latin typeface="Arial"/>
                        </a:rPr>
                        <a:t>Conventional tillage</a:t>
                      </a:r>
                    </a:p>
                  </a:txBody>
                  <a:tcPr marL="73152" marR="73152" marT="18288" marB="18288" anchor="ctr">
                    <a:solidFill>
                      <a:srgbClr val="FFFFFF"/>
                    </a:solidFill>
                  </a:tcPr>
                </a:tc>
                <a:tc>
                  <a:txBody>
                    <a:bodyPr/>
                    <a:lstStyle/>
                    <a:p>
                      <a:pPr algn="ctr"/>
                      <a:r>
                        <a:rPr sz="1400" b="1">
                          <a:solidFill>
                            <a:srgbClr val="10427C"/>
                          </a:solidFill>
                          <a:latin typeface="Arial"/>
                        </a:rPr>
                        <a:t>0.344   n = 35</a:t>
                      </a:r>
                    </a:p>
                  </a:txBody>
                  <a:tcPr marL="73152" marR="73152" marT="18288" marB="18288" anchor="ctr">
                    <a:solidFill>
                      <a:srgbClr val="FFFFFF"/>
                    </a:solidFill>
                  </a:tcPr>
                </a:tc>
                <a:tc>
                  <a:txBody>
                    <a:bodyPr/>
                    <a:lstStyle/>
                    <a:p>
                      <a:pPr algn="ctr"/>
                      <a:r>
                        <a:rPr sz="1400" b="1">
                          <a:solidFill>
                            <a:srgbClr val="10427C"/>
                          </a:solidFill>
                          <a:latin typeface="Arial"/>
                        </a:rPr>
                        <a:t>0.604   n = 13</a:t>
                      </a:r>
                    </a:p>
                  </a:txBody>
                  <a:tcPr marL="73152" marR="73152" marT="18288" marB="18288" anchor="ctr">
                    <a:solidFill>
                      <a:srgbClr val="FFFFFF"/>
                    </a:solidFill>
                  </a:tcPr>
                </a:tc>
              </a:tr>
              <a:tr h="420624">
                <a:tc>
                  <a:txBody>
                    <a:bodyPr/>
                    <a:lstStyle/>
                    <a:p>
                      <a:pPr algn="l"/>
                      <a:r>
                        <a:rPr sz="1400" b="0">
                          <a:solidFill>
                            <a:srgbClr val="444444"/>
                          </a:solidFill>
                          <a:latin typeface="Arial"/>
                        </a:rPr>
                        <a:t>Conservation tillage</a:t>
                      </a:r>
                    </a:p>
                  </a:txBody>
                  <a:tcPr marL="73152" marR="73152" marT="18288" marB="18288" anchor="ctr">
                    <a:solidFill>
                      <a:srgbClr val="EEEEEE"/>
                    </a:solidFill>
                  </a:tcPr>
                </a:tc>
                <a:tc>
                  <a:txBody>
                    <a:bodyPr/>
                    <a:lstStyle/>
                    <a:p>
                      <a:pPr algn="ctr"/>
                      <a:r>
                        <a:rPr sz="1400" b="1">
                          <a:solidFill>
                            <a:srgbClr val="10427C"/>
                          </a:solidFill>
                          <a:latin typeface="Arial"/>
                        </a:rPr>
                        <a:t>0.507   n = 31</a:t>
                      </a:r>
                    </a:p>
                  </a:txBody>
                  <a:tcPr marL="73152" marR="73152" marT="18288" marB="18288" anchor="ctr">
                    <a:solidFill>
                      <a:srgbClr val="EEEEEE"/>
                    </a:solidFill>
                  </a:tcPr>
                </a:tc>
                <a:tc>
                  <a:txBody>
                    <a:bodyPr/>
                    <a:lstStyle/>
                    <a:p>
                      <a:pPr algn="ctr"/>
                      <a:r>
                        <a:rPr sz="1400" b="1">
                          <a:solidFill>
                            <a:srgbClr val="10427C"/>
                          </a:solidFill>
                          <a:latin typeface="Arial"/>
                        </a:rPr>
                        <a:t>0.625   n = 95</a:t>
                      </a:r>
                    </a:p>
                  </a:txBody>
                  <a:tcPr marL="73152" marR="73152" marT="18288" marB="18288" anchor="ctr">
                    <a:solidFill>
                      <a:srgbClr val="EEEEEE"/>
                    </a:solidFill>
                  </a:tcPr>
                </a:tc>
              </a:tr>
            </a:tbl>
          </a:graphicData>
        </a:graphic>
      </p:graphicFrame>
      <p:sp>
        <p:nvSpPr>
          <p:cNvPr id="14" name="TextBox 13"/>
          <p:cNvSpPr txBox="1"/>
          <p:nvPr/>
        </p:nvSpPr>
        <p:spPr>
          <a:xfrm>
            <a:off x="502920" y="3291840"/>
            <a:ext cx="10698480" cy="640080"/>
          </a:xfrm>
          <a:prstGeom prst="rect">
            <a:avLst/>
          </a:prstGeom>
          <a:noFill/>
        </p:spPr>
        <p:txBody>
          <a:bodyPr wrap="square" lIns="0" rIns="0" tIns="0" bIns="0" anchor="t">
            <a:spAutoFit/>
          </a:bodyPr>
          <a:lstStyle/>
          <a:p>
            <a:pPr algn="l">
              <a:lnSpc>
                <a:spcPct val="130000"/>
              </a:lnSpc>
            </a:pPr>
            <a:r>
              <a:rPr sz="1300" b="1">
                <a:solidFill>
                  <a:srgbClr val="58595B"/>
                </a:solidFill>
                <a:latin typeface="Arial"/>
              </a:rPr>
              <a:t>A conventionally tilled field with a cover crop reads 0.604 — indistinguishable from a conservation-tilled one at 0.625, and far above a conventionally tilled field without one at 0.344. </a:t>
            </a:r>
            <a:r>
              <a:rPr sz="1300" b="0">
                <a:solidFill>
                  <a:srgbClr val="58595B"/>
                </a:solidFill>
                <a:latin typeface="Arial"/>
              </a:rPr>
              <a:t>Armor is not reading the tillage pass — it is reading the cover crop, and 75% of conservation-tilled cotton here also has one.</a:t>
            </a:r>
          </a:p>
        </p:txBody>
      </p:sp>
      <p:sp>
        <p:nvSpPr>
          <p:cNvPr id="15" name="Rounded Rectangle 14"/>
          <p:cNvSpPr/>
          <p:nvPr/>
        </p:nvSpPr>
        <p:spPr>
          <a:xfrm>
            <a:off x="502920" y="4069080"/>
            <a:ext cx="10835640" cy="1051560"/>
          </a:xfrm>
          <a:prstGeom prst="roundRect">
            <a:avLst>
              <a:gd name="adj" fmla="val 5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224528"/>
            <a:ext cx="10241280" cy="274320"/>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All four combinations are loaded in the demo app</a:t>
            </a:r>
          </a:p>
        </p:txBody>
      </p:sp>
      <p:sp>
        <p:nvSpPr>
          <p:cNvPr id="17" name="TextBox 16"/>
          <p:cNvSpPr txBox="1"/>
          <p:nvPr/>
        </p:nvSpPr>
        <p:spPr>
          <a:xfrm>
            <a:off x="777240" y="4526280"/>
            <a:ext cx="10241280" cy="502920"/>
          </a:xfrm>
          <a:prstGeom prst="rect">
            <a:avLst/>
          </a:prstGeom>
          <a:noFill/>
        </p:spPr>
        <p:txBody>
          <a:bodyPr wrap="square" lIns="0" rIns="0" tIns="0" bIns="0" anchor="t">
            <a:spAutoFit/>
          </a:bodyPr>
          <a:lstStyle/>
          <a:p>
            <a:pPr algn="l">
              <a:lnSpc>
                <a:spcPct val="130000"/>
              </a:lnSpc>
            </a:pPr>
            <a:r>
              <a:rPr sz="1200" b="1">
                <a:solidFill>
                  <a:srgbClr val="58595B"/>
                </a:solidFill>
                <a:latin typeface="Arial"/>
              </a:rPr>
              <a:t>Georgia cotton, grower-confirmed practice.  With a cover crop: </a:t>
            </a:r>
            <a:r>
              <a:rPr sz="1200" b="0">
                <a:solidFill>
                  <a:srgbClr val="58595B"/>
                </a:solidFill>
                <a:latin typeface="Arial"/>
              </a:rPr>
              <a:t>Mitchell Co., no-till 0.624 · Jefferson Co., tilled 0.553.   </a:t>
            </a:r>
            <a:r>
              <a:rPr sz="1200" b="1">
                <a:solidFill>
                  <a:srgbClr val="58595B"/>
                </a:solidFill>
                <a:latin typeface="Arial"/>
              </a:rPr>
              <a:t>Without one: </a:t>
            </a:r>
            <a:r>
              <a:rPr sz="1200" b="0">
                <a:solidFill>
                  <a:srgbClr val="58595B"/>
                </a:solidFill>
                <a:latin typeface="Arial"/>
              </a:rPr>
              <a:t>Mitchell Co., tilled 0.488 · Screven Co., no-till 0.480.   </a:t>
            </a:r>
            <a:r>
              <a:rPr sz="1200" b="1">
                <a:solidFill>
                  <a:srgbClr val="58595B"/>
                </a:solidFill>
                <a:latin typeface="Arial"/>
              </a:rPr>
              <a:t>Cover crop column 0.589, column without 0.484.</a:t>
            </a:r>
          </a:p>
        </p:txBody>
      </p:sp>
      <p:sp>
        <p:nvSpPr>
          <p:cNvPr id="18" name="TextBox 17"/>
          <p:cNvSpPr txBox="1"/>
          <p:nvPr/>
        </p:nvSpPr>
        <p:spPr>
          <a:xfrm>
            <a:off x="502920" y="5257800"/>
            <a:ext cx="10698480" cy="457200"/>
          </a:xfrm>
          <a:prstGeom prst="rect">
            <a:avLst/>
          </a:prstGeom>
          <a:noFill/>
        </p:spPr>
        <p:txBody>
          <a:bodyPr wrap="square" lIns="0" rIns="0" tIns="0" bIns="0" anchor="t">
            <a:spAutoFit/>
          </a:bodyPr>
          <a:lstStyle/>
          <a:p>
            <a:pPr algn="l">
              <a:lnSpc>
                <a:spcPct val="130000"/>
              </a:lnSpc>
            </a:pPr>
            <a:r>
              <a:rPr sz="1300" b="1">
                <a:solidFill>
                  <a:srgbClr val="10427C"/>
                </a:solidFill>
                <a:latin typeface="Arial"/>
              </a:rPr>
              <a:t>So we report it as cover, not tillage. </a:t>
            </a:r>
            <a:r>
              <a:rPr sz="1300" b="0">
                <a:solidFill>
                  <a:srgbClr val="10427C"/>
                </a:solidFill>
                <a:latin typeface="Arial"/>
              </a:rPr>
              <a:t>That is the honest claim, it is the one that resists erosion, and it is the one we will defend.</a:t>
            </a:r>
          </a:p>
        </p:txBody>
      </p:sp>
      <p:sp>
        <p:nvSpPr>
          <p:cNvPr id="19" name="TextBox 18"/>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Time-weighted spring soil armor, 174 cotton field-years with a reported tillage class. The four named fields illustrate the pattern; the 174 establish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What your ground truth would buy</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502920" y="1444752"/>
          <a:ext cx="10835639" cy="3090672"/>
        </p:xfrm>
        <a:graphic>
          <a:graphicData uri="http://schemas.openxmlformats.org/drawingml/2006/table">
            <a:tbl>
              <a:tblPr firstRow="1" bandRow="1">
                <a:tableStyleId>{5C22544A-7EE6-4342-B048-85BDC9FD1C3A}</a:tableStyleId>
              </a:tblPr>
              <a:tblGrid>
                <a:gridCol w="3004841"/>
                <a:gridCol w="3915399"/>
                <a:gridCol w="3915399"/>
              </a:tblGrid>
              <a:tr h="384048">
                <a:tc>
                  <a:txBody>
                    <a:bodyPr/>
                    <a:lstStyle/>
                    <a:p>
                      <a:pPr algn="l"/>
                      <a:r>
                        <a:rPr sz="1100" b="1">
                          <a:solidFill>
                            <a:srgbClr val="FFFFFF"/>
                          </a:solidFill>
                          <a:latin typeface="Arial Narrow"/>
                        </a:rPr>
                        <a:t>What we need</a:t>
                      </a:r>
                    </a:p>
                  </a:txBody>
                  <a:tcPr marL="73152" marR="73152" marT="18288" marB="18288" anchor="ctr">
                    <a:solidFill>
                      <a:srgbClr val="10427C"/>
                    </a:solidFill>
                  </a:tcPr>
                </a:tc>
                <a:tc>
                  <a:txBody>
                    <a:bodyPr/>
                    <a:lstStyle/>
                    <a:p>
                      <a:pPr algn="ctr"/>
                      <a:r>
                        <a:rPr sz="1100" b="1">
                          <a:solidFill>
                            <a:srgbClr val="FFFFFF"/>
                          </a:solidFill>
                          <a:latin typeface="Arial Narrow"/>
                        </a:rPr>
                        <a:t>What it fixes</a:t>
                      </a:r>
                    </a:p>
                  </a:txBody>
                  <a:tcPr marL="73152" marR="73152" marT="18288" marB="18288" anchor="ctr">
                    <a:solidFill>
                      <a:srgbClr val="10427C"/>
                    </a:solidFill>
                  </a:tcPr>
                </a:tc>
                <a:tc>
                  <a:txBody>
                    <a:bodyPr/>
                    <a:lstStyle/>
                    <a:p>
                      <a:pPr algn="ctr"/>
                      <a:r>
                        <a:rPr sz="1100" b="1">
                          <a:solidFill>
                            <a:srgbClr val="FFFFFF"/>
                          </a:solidFill>
                          <a:latin typeface="Arial Narrow"/>
                        </a:rPr>
                        <a:t>Why it cannot wait</a:t>
                      </a:r>
                    </a:p>
                  </a:txBody>
                  <a:tcPr marL="73152" marR="73152" marT="18288" marB="18288" anchor="ctr">
                    <a:solidFill>
                      <a:srgbClr val="10427C"/>
                    </a:solidFill>
                  </a:tcPr>
                </a:tc>
              </a:tr>
              <a:tr h="676656">
                <a:tc>
                  <a:txBody>
                    <a:bodyPr/>
                    <a:lstStyle/>
                    <a:p>
                      <a:pPr algn="l"/>
                      <a:r>
                        <a:rPr sz="1100" b="0">
                          <a:solidFill>
                            <a:srgbClr val="444444"/>
                          </a:solidFill>
                          <a:latin typeface="Arial"/>
                        </a:rPr>
                        <a:t>Residue line transects</a:t>
                      </a:r>
                    </a:p>
                  </a:txBody>
                  <a:tcPr marL="73152" marR="73152" marT="18288" marB="18288" anchor="ctr">
                    <a:solidFill>
                      <a:srgbClr val="FFFFFF"/>
                    </a:solidFill>
                  </a:tcPr>
                </a:tc>
                <a:tc>
                  <a:txBody>
                    <a:bodyPr/>
                    <a:lstStyle/>
                    <a:p>
                      <a:pPr algn="ctr"/>
                      <a:r>
                        <a:rPr sz="1100" b="0">
                          <a:solidFill>
                            <a:srgbClr val="444444"/>
                          </a:solidFill>
                          <a:latin typeface="Arial"/>
                        </a:rPr>
                        <a:t>Turns soil armor from a rank into a real percentage of ground covered</a:t>
                      </a:r>
                    </a:p>
                  </a:txBody>
                  <a:tcPr marL="73152" marR="73152" marT="18288" marB="18288" anchor="ctr">
                    <a:solidFill>
                      <a:srgbClr val="FFFFFF"/>
                    </a:solidFill>
                  </a:tcPr>
                </a:tc>
                <a:tc>
                  <a:txBody>
                    <a:bodyPr/>
                    <a:lstStyle/>
                    <a:p>
                      <a:pPr algn="ctr"/>
                      <a:r>
                        <a:rPr sz="1100" b="0">
                          <a:solidFill>
                            <a:srgbClr val="444444"/>
                          </a:solidFill>
                          <a:latin typeface="Arial"/>
                        </a:rPr>
                        <a:t>The one measurement that separates residue from a cover crop</a:t>
                      </a:r>
                    </a:p>
                  </a:txBody>
                  <a:tcPr marL="73152" marR="73152" marT="18288" marB="18288" anchor="ctr">
                    <a:solidFill>
                      <a:srgbClr val="FFFFFF"/>
                    </a:solidFill>
                  </a:tcPr>
                </a:tc>
              </a:tr>
              <a:tr h="676656">
                <a:tc>
                  <a:txBody>
                    <a:bodyPr/>
                    <a:lstStyle/>
                    <a:p>
                      <a:pPr algn="l"/>
                      <a:r>
                        <a:rPr sz="1100" b="0">
                          <a:solidFill>
                            <a:srgbClr val="444444"/>
                          </a:solidFill>
                          <a:latin typeface="Arial"/>
                        </a:rPr>
                        <a:t>Practice records outside Georgia</a:t>
                      </a:r>
                    </a:p>
                  </a:txBody>
                  <a:tcPr marL="73152" marR="73152" marT="18288" marB="18288" anchor="ctr">
                    <a:solidFill>
                      <a:srgbClr val="EEEEEE"/>
                    </a:solidFill>
                  </a:tcPr>
                </a:tc>
                <a:tc>
                  <a:txBody>
                    <a:bodyPr/>
                    <a:lstStyle/>
                    <a:p>
                      <a:pPr algn="ctr"/>
                      <a:r>
                        <a:rPr sz="1100" b="0">
                          <a:solidFill>
                            <a:srgbClr val="444444"/>
                          </a:solidFill>
                          <a:latin typeface="Arial"/>
                        </a:rPr>
                        <a:t>Regional thresholds instead of one national constant</a:t>
                      </a:r>
                    </a:p>
                  </a:txBody>
                  <a:tcPr marL="73152" marR="73152" marT="18288" marB="18288" anchor="ctr">
                    <a:solidFill>
                      <a:srgbClr val="EEEEEE"/>
                    </a:solidFill>
                  </a:tcPr>
                </a:tc>
                <a:tc>
                  <a:txBody>
                    <a:bodyPr/>
                    <a:lstStyle/>
                    <a:p>
                      <a:pPr algn="ctr"/>
                      <a:r>
                        <a:rPr sz="1100" b="0">
                          <a:solidFill>
                            <a:srgbClr val="444444"/>
                          </a:solidFill>
                          <a:latin typeface="Arial"/>
                        </a:rPr>
                        <a:t>An out-of-region number cost us 60 false alarms on 68 fields</a:t>
                      </a:r>
                    </a:p>
                  </a:txBody>
                  <a:tcPr marL="73152" marR="73152" marT="18288" marB="18288" anchor="ctr">
                    <a:solidFill>
                      <a:srgbClr val="EEEEEE"/>
                    </a:solidFill>
                  </a:tcPr>
                </a:tc>
              </a:tr>
              <a:tr h="676656">
                <a:tc>
                  <a:txBody>
                    <a:bodyPr/>
                    <a:lstStyle/>
                    <a:p>
                      <a:pPr algn="l"/>
                      <a:r>
                        <a:rPr sz="1100" b="0">
                          <a:solidFill>
                            <a:srgbClr val="444444"/>
                          </a:solidFill>
                          <a:latin typeface="Arial"/>
                        </a:rPr>
                        <a:t>Planting and harvest dates</a:t>
                      </a:r>
                    </a:p>
                  </a:txBody>
                  <a:tcPr marL="73152" marR="73152" marT="18288" marB="18288" anchor="ctr">
                    <a:solidFill>
                      <a:srgbClr val="FFFFFF"/>
                    </a:solidFill>
                  </a:tcPr>
                </a:tc>
                <a:tc>
                  <a:txBody>
                    <a:bodyPr/>
                    <a:lstStyle/>
                    <a:p>
                      <a:pPr algn="ctr"/>
                      <a:r>
                        <a:rPr sz="1100" b="0">
                          <a:solidFill>
                            <a:srgbClr val="444444"/>
                          </a:solidFill>
                          <a:latin typeface="Arial"/>
                        </a:rPr>
                        <a:t>The only component still untested against anything</a:t>
                      </a:r>
                    </a:p>
                  </a:txBody>
                  <a:tcPr marL="73152" marR="73152" marT="18288" marB="18288" anchor="ctr">
                    <a:solidFill>
                      <a:srgbClr val="FFFFFF"/>
                    </a:solidFill>
                  </a:tcPr>
                </a:tc>
                <a:tc>
                  <a:txBody>
                    <a:bodyPr/>
                    <a:lstStyle/>
                    <a:p>
                      <a:pPr algn="ctr"/>
                      <a:r>
                        <a:rPr sz="1100" b="0">
                          <a:solidFill>
                            <a:srgbClr val="444444"/>
                          </a:solidFill>
                          <a:latin typeface="Arial"/>
                        </a:rPr>
                        <a:t>Every seasonal window in the pipeline depends on these</a:t>
                      </a:r>
                    </a:p>
                  </a:txBody>
                  <a:tcPr marL="73152" marR="73152" marT="18288" marB="18288" anchor="ctr">
                    <a:solidFill>
                      <a:srgbClr val="FFFFFF"/>
                    </a:solidFill>
                  </a:tcPr>
                </a:tc>
              </a:tr>
              <a:tr h="676656">
                <a:tc>
                  <a:txBody>
                    <a:bodyPr/>
                    <a:lstStyle/>
                    <a:p>
                      <a:pPr algn="l"/>
                      <a:r>
                        <a:rPr sz="1100" b="0">
                          <a:solidFill>
                            <a:srgbClr val="444444"/>
                          </a:solidFill>
                          <a:latin typeface="Arial"/>
                        </a:rPr>
                        <a:t>Reduced-till fields, 15–30%</a:t>
                      </a:r>
                    </a:p>
                  </a:txBody>
                  <a:tcPr marL="73152" marR="73152" marT="18288" marB="18288" anchor="ctr">
                    <a:solidFill>
                      <a:srgbClr val="EEEEEE"/>
                    </a:solidFill>
                  </a:tcPr>
                </a:tc>
                <a:tc>
                  <a:txBody>
                    <a:bodyPr/>
                    <a:lstStyle/>
                    <a:p>
                      <a:pPr algn="ctr"/>
                      <a:r>
                        <a:rPr sz="1100" b="0">
                          <a:solidFill>
                            <a:srgbClr val="444444"/>
                          </a:solidFill>
                          <a:latin typeface="Arial"/>
                        </a:rPr>
                        <a:t>A three-class answer instead of a two-class one</a:t>
                      </a:r>
                    </a:p>
                  </a:txBody>
                  <a:tcPr marL="73152" marR="73152" marT="18288" marB="18288" anchor="ctr">
                    <a:solidFill>
                      <a:srgbClr val="EEEEEE"/>
                    </a:solidFill>
                  </a:tcPr>
                </a:tc>
                <a:tc>
                  <a:txBody>
                    <a:bodyPr/>
                    <a:lstStyle/>
                    <a:p>
                      <a:pPr algn="ctr"/>
                      <a:r>
                        <a:rPr sz="1100" b="0">
                          <a:solidFill>
                            <a:srgbClr val="444444"/>
                          </a:solidFill>
                          <a:latin typeface="Arial"/>
                        </a:rPr>
                        <a:t>We have 9 such cotton fields. Nine is not enough to fit anything</a:t>
                      </a:r>
                    </a:p>
                  </a:txBody>
                  <a:tcPr marL="73152" marR="73152" marT="18288" marB="18288" anchor="ctr">
                    <a:solidFill>
                      <a:srgbClr val="EEEEEE"/>
                    </a:solidFill>
                  </a:tcPr>
                </a:tc>
              </a:tr>
            </a:tbl>
          </a:graphicData>
        </a:graphic>
      </p:graphicFrame>
      <p:sp>
        <p:nvSpPr>
          <p:cNvPr id="13" name="TextBox 12"/>
          <p:cNvSpPr txBox="1"/>
          <p:nvPr/>
        </p:nvSpPr>
        <p:spPr>
          <a:xfrm>
            <a:off x="502920" y="5029200"/>
            <a:ext cx="10698480" cy="548640"/>
          </a:xfrm>
          <a:prstGeom prst="rect">
            <a:avLst/>
          </a:prstGeom>
          <a:noFill/>
        </p:spPr>
        <p:txBody>
          <a:bodyPr wrap="square" lIns="0" rIns="0" tIns="0" bIns="0" anchor="t">
            <a:spAutoFit/>
          </a:bodyPr>
          <a:lstStyle/>
          <a:p>
            <a:pPr algn="l">
              <a:lnSpc>
                <a:spcPct val="130000"/>
              </a:lnSpc>
            </a:pPr>
            <a:r>
              <a:rPr sz="1400" b="0">
                <a:solidFill>
                  <a:srgbClr val="58595B"/>
                </a:solidFill>
                <a:latin typeface="Arial"/>
              </a:rPr>
              <a:t>None of this requires new instruments or a research station. It is a clipboard, a tape, and the records growers already keep — matched to fields we can already see.</a:t>
            </a:r>
          </a:p>
        </p:txBody>
      </p:sp>
      <p:sp>
        <p:nvSpPr>
          <p:cNvPr id="14" name="TextBox 13"/>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Field to Market  ·  Cotton remote sensing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85800"/>
            <a:ext cx="10881360" cy="594360"/>
          </a:xfrm>
          <a:prstGeom prst="rect">
            <a:avLst/>
          </a:prstGeom>
          <a:noFill/>
        </p:spPr>
        <p:txBody>
          <a:bodyPr wrap="square" lIns="0" rIns="0" tIns="0" bIns="0" anchor="t">
            <a:spAutoFit/>
          </a:bodyPr>
          <a:lstStyle/>
          <a:p>
            <a:pPr algn="l">
              <a:lnSpc>
                <a:spcPct val="120000"/>
              </a:lnSpc>
            </a:pPr>
            <a:r>
              <a:rPr sz="3400" b="1">
                <a:solidFill>
                  <a:srgbClr val="FFFFFF"/>
                </a:solidFill>
                <a:latin typeface="Arial Narrow"/>
              </a:rPr>
              <a:t>The commitment we are seeking</a:t>
            </a:r>
          </a:p>
        </p:txBody>
      </p:sp>
      <p:sp>
        <p:nvSpPr>
          <p:cNvPr id="10" name="Rectangle 9"/>
          <p:cNvSpPr/>
          <p:nvPr/>
        </p:nvSpPr>
        <p:spPr>
          <a:xfrm>
            <a:off x="502920" y="1417320"/>
            <a:ext cx="2011680"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1828800"/>
            <a:ext cx="3493008" cy="269748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2926080" cy="228600"/>
          </a:xfrm>
          <a:prstGeom prst="rect">
            <a:avLst/>
          </a:prstGeom>
          <a:noFill/>
        </p:spPr>
        <p:txBody>
          <a:bodyPr wrap="square" lIns="0" rIns="0" tIns="0" bIns="0" anchor="t">
            <a:spAutoFit/>
          </a:bodyPr>
          <a:lstStyle/>
          <a:p>
            <a:pPr algn="l">
              <a:lnSpc>
                <a:spcPct val="120000"/>
              </a:lnSpc>
            </a:pPr>
            <a:r>
              <a:rPr sz="1000" b="1">
                <a:solidFill>
                  <a:srgbClr val="FFD103"/>
                </a:solidFill>
                <a:latin typeface="Arial Narrow"/>
              </a:rPr>
              <a:t>PHASE 1</a:t>
            </a:r>
          </a:p>
        </p:txBody>
      </p:sp>
      <p:sp>
        <p:nvSpPr>
          <p:cNvPr id="13" name="TextBox 12"/>
          <p:cNvSpPr txBox="1"/>
          <p:nvPr/>
        </p:nvSpPr>
        <p:spPr>
          <a:xfrm>
            <a:off x="777240" y="2286000"/>
            <a:ext cx="2926080" cy="502920"/>
          </a:xfrm>
          <a:prstGeom prst="rect">
            <a:avLst/>
          </a:prstGeom>
          <a:noFill/>
        </p:spPr>
        <p:txBody>
          <a:bodyPr wrap="square" lIns="0" rIns="0" tIns="0" bIns="0" anchor="t">
            <a:spAutoFit/>
          </a:bodyPr>
          <a:lstStyle/>
          <a:p>
            <a:pPr algn="l">
              <a:lnSpc>
                <a:spcPct val="120000"/>
              </a:lnSpc>
            </a:pPr>
            <a:r>
              <a:rPr sz="1700" b="1">
                <a:solidFill>
                  <a:srgbClr val="FFFFFF"/>
                </a:solidFill>
                <a:latin typeface="Arial Narrow"/>
              </a:rPr>
              <a:t>Platform integration</a:t>
            </a:r>
          </a:p>
        </p:txBody>
      </p:sp>
      <p:sp>
        <p:nvSpPr>
          <p:cNvPr id="14" name="TextBox 13"/>
          <p:cNvSpPr txBox="1"/>
          <p:nvPr/>
        </p:nvSpPr>
        <p:spPr>
          <a:xfrm>
            <a:off x="777240" y="2926080"/>
            <a:ext cx="2926080" cy="868680"/>
          </a:xfrm>
          <a:prstGeom prst="rect">
            <a:avLst/>
          </a:prstGeom>
          <a:noFill/>
        </p:spPr>
        <p:txBody>
          <a:bodyPr wrap="square" lIns="0" rIns="0" tIns="0" bIns="0" anchor="t">
            <a:spAutoFit/>
          </a:bodyPr>
          <a:lstStyle/>
          <a:p>
            <a:pPr algn="l">
              <a:lnSpc>
                <a:spcPct val="130000"/>
              </a:lnSpc>
            </a:pPr>
            <a:r>
              <a:rPr sz="1100" b="0">
                <a:solidFill>
                  <a:srgbClr val="D6E0EC"/>
                </a:solidFill>
                <a:latin typeface="Arial"/>
              </a:rPr>
              <a:t>Move the pipeline into the Fieldprint Platform so growers see it in their own reports.</a:t>
            </a:r>
          </a:p>
        </p:txBody>
      </p:sp>
      <p:sp>
        <p:nvSpPr>
          <p:cNvPr id="15" name="TextBox 14"/>
          <p:cNvSpPr txBox="1"/>
          <p:nvPr/>
        </p:nvSpPr>
        <p:spPr>
          <a:xfrm>
            <a:off x="777240" y="3840480"/>
            <a:ext cx="2926080" cy="292608"/>
          </a:xfrm>
          <a:prstGeom prst="rect">
            <a:avLst/>
          </a:prstGeom>
          <a:noFill/>
        </p:spPr>
        <p:txBody>
          <a:bodyPr wrap="square" lIns="0" rIns="0" tIns="0" bIns="0" anchor="t">
            <a:spAutoFit/>
          </a:bodyPr>
          <a:lstStyle/>
          <a:p>
            <a:pPr algn="l">
              <a:lnSpc>
                <a:spcPct val="120000"/>
              </a:lnSpc>
            </a:pPr>
            <a:r>
              <a:rPr sz="1500" b="1">
                <a:solidFill>
                  <a:srgbClr val="FFD103"/>
                </a:solidFill>
                <a:latin typeface="Arial Narrow"/>
              </a:rPr>
              <a:t>[$____]</a:t>
            </a:r>
          </a:p>
        </p:txBody>
      </p:sp>
      <p:sp>
        <p:nvSpPr>
          <p:cNvPr id="16" name="TextBox 15"/>
          <p:cNvSpPr txBox="1"/>
          <p:nvPr/>
        </p:nvSpPr>
        <p:spPr>
          <a:xfrm>
            <a:off x="777240" y="4160520"/>
            <a:ext cx="2926080" cy="256032"/>
          </a:xfrm>
          <a:prstGeom prst="rect">
            <a:avLst/>
          </a:prstGeom>
          <a:noFill/>
        </p:spPr>
        <p:txBody>
          <a:bodyPr wrap="square" lIns="0" rIns="0" tIns="0" bIns="0" anchor="t">
            <a:spAutoFit/>
          </a:bodyPr>
          <a:lstStyle/>
          <a:p>
            <a:pPr algn="l">
              <a:lnSpc>
                <a:spcPct val="120000"/>
              </a:lnSpc>
            </a:pPr>
            <a:r>
              <a:rPr sz="1000" b="0">
                <a:solidFill>
                  <a:srgbClr val="D6E0EC"/>
                </a:solidFill>
                <a:latin typeface="Arial"/>
              </a:rPr>
              <a:t>[__ months]</a:t>
            </a:r>
          </a:p>
        </p:txBody>
      </p:sp>
      <p:sp>
        <p:nvSpPr>
          <p:cNvPr id="17" name="Rounded Rectangle 16"/>
          <p:cNvSpPr/>
          <p:nvPr/>
        </p:nvSpPr>
        <p:spPr>
          <a:xfrm>
            <a:off x="4233672" y="1828800"/>
            <a:ext cx="3493008" cy="269748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011680"/>
            <a:ext cx="2926080" cy="228600"/>
          </a:xfrm>
          <a:prstGeom prst="rect">
            <a:avLst/>
          </a:prstGeom>
          <a:noFill/>
        </p:spPr>
        <p:txBody>
          <a:bodyPr wrap="square" lIns="0" rIns="0" tIns="0" bIns="0" anchor="t">
            <a:spAutoFit/>
          </a:bodyPr>
          <a:lstStyle/>
          <a:p>
            <a:pPr algn="l">
              <a:lnSpc>
                <a:spcPct val="120000"/>
              </a:lnSpc>
            </a:pPr>
            <a:r>
              <a:rPr sz="1000" b="1">
                <a:solidFill>
                  <a:srgbClr val="FFD103"/>
                </a:solidFill>
                <a:latin typeface="Arial Narrow"/>
              </a:rPr>
              <a:t>PHASE 2</a:t>
            </a:r>
          </a:p>
        </p:txBody>
      </p:sp>
      <p:sp>
        <p:nvSpPr>
          <p:cNvPr id="19" name="TextBox 18"/>
          <p:cNvSpPr txBox="1"/>
          <p:nvPr/>
        </p:nvSpPr>
        <p:spPr>
          <a:xfrm>
            <a:off x="4507992" y="2286000"/>
            <a:ext cx="2926080" cy="502920"/>
          </a:xfrm>
          <a:prstGeom prst="rect">
            <a:avLst/>
          </a:prstGeom>
          <a:noFill/>
        </p:spPr>
        <p:txBody>
          <a:bodyPr wrap="square" lIns="0" rIns="0" tIns="0" bIns="0" anchor="t">
            <a:spAutoFit/>
          </a:bodyPr>
          <a:lstStyle/>
          <a:p>
            <a:pPr algn="l">
              <a:lnSpc>
                <a:spcPct val="120000"/>
              </a:lnSpc>
            </a:pPr>
            <a:r>
              <a:rPr sz="1700" b="1">
                <a:solidFill>
                  <a:srgbClr val="FFFFFF"/>
                </a:solidFill>
                <a:latin typeface="Arial Narrow"/>
              </a:rPr>
              <a:t>Cotton calibration campaign</a:t>
            </a:r>
          </a:p>
        </p:txBody>
      </p:sp>
      <p:sp>
        <p:nvSpPr>
          <p:cNvPr id="20" name="TextBox 19"/>
          <p:cNvSpPr txBox="1"/>
          <p:nvPr/>
        </p:nvSpPr>
        <p:spPr>
          <a:xfrm>
            <a:off x="4507992" y="2926080"/>
            <a:ext cx="2926080" cy="868680"/>
          </a:xfrm>
          <a:prstGeom prst="rect">
            <a:avLst/>
          </a:prstGeom>
          <a:noFill/>
        </p:spPr>
        <p:txBody>
          <a:bodyPr wrap="square" lIns="0" rIns="0" tIns="0" bIns="0" anchor="t">
            <a:spAutoFit/>
          </a:bodyPr>
          <a:lstStyle/>
          <a:p>
            <a:pPr algn="l">
              <a:lnSpc>
                <a:spcPct val="130000"/>
              </a:lnSpc>
            </a:pPr>
            <a:r>
              <a:rPr sz="1100" b="0">
                <a:solidFill>
                  <a:srgbClr val="D6E0EC"/>
                </a:solidFill>
                <a:latin typeface="Arial"/>
              </a:rPr>
              <a:t>Residue transects and practice records on [___] cotton fields across [___] regions.</a:t>
            </a:r>
          </a:p>
        </p:txBody>
      </p:sp>
      <p:sp>
        <p:nvSpPr>
          <p:cNvPr id="21" name="TextBox 20"/>
          <p:cNvSpPr txBox="1"/>
          <p:nvPr/>
        </p:nvSpPr>
        <p:spPr>
          <a:xfrm>
            <a:off x="4507992" y="3840480"/>
            <a:ext cx="2926080" cy="292608"/>
          </a:xfrm>
          <a:prstGeom prst="rect">
            <a:avLst/>
          </a:prstGeom>
          <a:noFill/>
        </p:spPr>
        <p:txBody>
          <a:bodyPr wrap="square" lIns="0" rIns="0" tIns="0" bIns="0" anchor="t">
            <a:spAutoFit/>
          </a:bodyPr>
          <a:lstStyle/>
          <a:p>
            <a:pPr algn="l">
              <a:lnSpc>
                <a:spcPct val="120000"/>
              </a:lnSpc>
            </a:pPr>
            <a:r>
              <a:rPr sz="1500" b="1">
                <a:solidFill>
                  <a:srgbClr val="FFD103"/>
                </a:solidFill>
                <a:latin typeface="Arial Narrow"/>
              </a:rPr>
              <a:t>[$____]</a:t>
            </a:r>
          </a:p>
        </p:txBody>
      </p:sp>
      <p:sp>
        <p:nvSpPr>
          <p:cNvPr id="22" name="TextBox 21"/>
          <p:cNvSpPr txBox="1"/>
          <p:nvPr/>
        </p:nvSpPr>
        <p:spPr>
          <a:xfrm>
            <a:off x="4507992" y="4160520"/>
            <a:ext cx="2926080" cy="256032"/>
          </a:xfrm>
          <a:prstGeom prst="rect">
            <a:avLst/>
          </a:prstGeom>
          <a:noFill/>
        </p:spPr>
        <p:txBody>
          <a:bodyPr wrap="square" lIns="0" rIns="0" tIns="0" bIns="0" anchor="t">
            <a:spAutoFit/>
          </a:bodyPr>
          <a:lstStyle/>
          <a:p>
            <a:pPr algn="l">
              <a:lnSpc>
                <a:spcPct val="120000"/>
              </a:lnSpc>
            </a:pPr>
            <a:r>
              <a:rPr sz="1000" b="0">
                <a:solidFill>
                  <a:srgbClr val="D6E0EC"/>
                </a:solidFill>
                <a:latin typeface="Arial"/>
              </a:rPr>
              <a:t>[__ growing seasons]</a:t>
            </a:r>
          </a:p>
        </p:txBody>
      </p:sp>
      <p:sp>
        <p:nvSpPr>
          <p:cNvPr id="23" name="Rounded Rectangle 22"/>
          <p:cNvSpPr/>
          <p:nvPr/>
        </p:nvSpPr>
        <p:spPr>
          <a:xfrm>
            <a:off x="7964424" y="1828800"/>
            <a:ext cx="3493008" cy="2697480"/>
          </a:xfrm>
          <a:prstGeom prst="roundRect">
            <a:avLst>
              <a:gd name="adj" fmla="val 5000"/>
            </a:avLst>
          </a:prstGeom>
          <a:solidFill>
            <a:srgbClr val="1B5596"/>
          </a:solidFill>
          <a:ln w="12700">
            <a:solidFill>
              <a:srgbClr val="1B55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2011680"/>
            <a:ext cx="2926080" cy="228600"/>
          </a:xfrm>
          <a:prstGeom prst="rect">
            <a:avLst/>
          </a:prstGeom>
          <a:noFill/>
        </p:spPr>
        <p:txBody>
          <a:bodyPr wrap="square" lIns="0" rIns="0" tIns="0" bIns="0" anchor="t">
            <a:spAutoFit/>
          </a:bodyPr>
          <a:lstStyle/>
          <a:p>
            <a:pPr algn="l">
              <a:lnSpc>
                <a:spcPct val="120000"/>
              </a:lnSpc>
            </a:pPr>
            <a:r>
              <a:rPr sz="1000" b="1">
                <a:solidFill>
                  <a:srgbClr val="FFD103"/>
                </a:solidFill>
                <a:latin typeface="Arial Narrow"/>
              </a:rPr>
              <a:t>PHASE 3</a:t>
            </a:r>
          </a:p>
        </p:txBody>
      </p:sp>
      <p:sp>
        <p:nvSpPr>
          <p:cNvPr id="25" name="TextBox 24"/>
          <p:cNvSpPr txBox="1"/>
          <p:nvPr/>
        </p:nvSpPr>
        <p:spPr>
          <a:xfrm>
            <a:off x="8238744" y="2286000"/>
            <a:ext cx="2926080" cy="502920"/>
          </a:xfrm>
          <a:prstGeom prst="rect">
            <a:avLst/>
          </a:prstGeom>
          <a:noFill/>
        </p:spPr>
        <p:txBody>
          <a:bodyPr wrap="square" lIns="0" rIns="0" tIns="0" bIns="0" anchor="t">
            <a:spAutoFit/>
          </a:bodyPr>
          <a:lstStyle/>
          <a:p>
            <a:pPr algn="l">
              <a:lnSpc>
                <a:spcPct val="120000"/>
              </a:lnSpc>
            </a:pPr>
            <a:r>
              <a:rPr sz="1700" b="1">
                <a:solidFill>
                  <a:srgbClr val="FFFFFF"/>
                </a:solidFill>
                <a:latin typeface="Arial Narrow"/>
              </a:rPr>
              <a:t>Cotton Belt rollout</a:t>
            </a:r>
          </a:p>
        </p:txBody>
      </p:sp>
      <p:sp>
        <p:nvSpPr>
          <p:cNvPr id="26" name="TextBox 25"/>
          <p:cNvSpPr txBox="1"/>
          <p:nvPr/>
        </p:nvSpPr>
        <p:spPr>
          <a:xfrm>
            <a:off x="8238744" y="2926080"/>
            <a:ext cx="2926080" cy="868680"/>
          </a:xfrm>
          <a:prstGeom prst="rect">
            <a:avLst/>
          </a:prstGeom>
          <a:noFill/>
        </p:spPr>
        <p:txBody>
          <a:bodyPr wrap="square" lIns="0" rIns="0" tIns="0" bIns="0" anchor="t">
            <a:spAutoFit/>
          </a:bodyPr>
          <a:lstStyle/>
          <a:p>
            <a:pPr algn="l">
              <a:lnSpc>
                <a:spcPct val="130000"/>
              </a:lnSpc>
            </a:pPr>
            <a:r>
              <a:rPr sz="1100" b="0">
                <a:solidFill>
                  <a:srgbClr val="D6E0EC"/>
                </a:solidFill>
                <a:latin typeface="Arial"/>
              </a:rPr>
              <a:t>Regional thresholds from Georgia to the High Plains, reported with stated confidence.</a:t>
            </a:r>
          </a:p>
        </p:txBody>
      </p:sp>
      <p:sp>
        <p:nvSpPr>
          <p:cNvPr id="27" name="TextBox 26"/>
          <p:cNvSpPr txBox="1"/>
          <p:nvPr/>
        </p:nvSpPr>
        <p:spPr>
          <a:xfrm>
            <a:off x="8238744" y="3840480"/>
            <a:ext cx="2926080" cy="292608"/>
          </a:xfrm>
          <a:prstGeom prst="rect">
            <a:avLst/>
          </a:prstGeom>
          <a:noFill/>
        </p:spPr>
        <p:txBody>
          <a:bodyPr wrap="square" lIns="0" rIns="0" tIns="0" bIns="0" anchor="t">
            <a:spAutoFit/>
          </a:bodyPr>
          <a:lstStyle/>
          <a:p>
            <a:pPr algn="l">
              <a:lnSpc>
                <a:spcPct val="120000"/>
              </a:lnSpc>
            </a:pPr>
            <a:r>
              <a:rPr sz="1500" b="1">
                <a:solidFill>
                  <a:srgbClr val="FFD103"/>
                </a:solidFill>
                <a:latin typeface="Arial Narrow"/>
              </a:rPr>
              <a:t>[$____]</a:t>
            </a:r>
          </a:p>
        </p:txBody>
      </p:sp>
      <p:sp>
        <p:nvSpPr>
          <p:cNvPr id="28" name="TextBox 27"/>
          <p:cNvSpPr txBox="1"/>
          <p:nvPr/>
        </p:nvSpPr>
        <p:spPr>
          <a:xfrm>
            <a:off x="8238744" y="4160520"/>
            <a:ext cx="2926080" cy="256032"/>
          </a:xfrm>
          <a:prstGeom prst="rect">
            <a:avLst/>
          </a:prstGeom>
          <a:noFill/>
        </p:spPr>
        <p:txBody>
          <a:bodyPr wrap="square" lIns="0" rIns="0" tIns="0" bIns="0" anchor="t">
            <a:spAutoFit/>
          </a:bodyPr>
          <a:lstStyle/>
          <a:p>
            <a:pPr algn="l">
              <a:lnSpc>
                <a:spcPct val="120000"/>
              </a:lnSpc>
            </a:pPr>
            <a:r>
              <a:rPr sz="1000" b="0">
                <a:solidFill>
                  <a:srgbClr val="D6E0EC"/>
                </a:solidFill>
                <a:latin typeface="Arial"/>
              </a:rPr>
              <a:t>[__ months]</a:t>
            </a:r>
          </a:p>
        </p:txBody>
      </p:sp>
      <p:sp>
        <p:nvSpPr>
          <p:cNvPr id="29" name="TextBox 28"/>
          <p:cNvSpPr txBox="1"/>
          <p:nvPr/>
        </p:nvSpPr>
        <p:spPr>
          <a:xfrm>
            <a:off x="502920" y="4846320"/>
            <a:ext cx="10698480" cy="685800"/>
          </a:xfrm>
          <a:prstGeom prst="rect">
            <a:avLst/>
          </a:prstGeom>
          <a:noFill/>
        </p:spPr>
        <p:txBody>
          <a:bodyPr wrap="square" lIns="0" rIns="0" tIns="0" bIns="0" anchor="t">
            <a:spAutoFit/>
          </a:bodyPr>
          <a:lstStyle/>
          <a:p>
            <a:pPr algn="l">
              <a:lnSpc>
                <a:spcPct val="135000"/>
              </a:lnSpc>
            </a:pPr>
            <a:r>
              <a:rPr sz="1400" b="0">
                <a:solidFill>
                  <a:srgbClr val="D6E0EC"/>
                </a:solidFill>
                <a:latin typeface="Arial"/>
              </a:rPr>
              <a:t>What you get is not a score with a number after it. It is a measurement with a stated accuracy, an audit trail back to public imagery, and a published account of where it fails.</a:t>
            </a:r>
          </a:p>
        </p:txBody>
      </p:sp>
      <p:sp>
        <p:nvSpPr>
          <p:cNvPr id="30" name="TextBox 29"/>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D6E0EC"/>
                </a:solidFill>
                <a:latin typeface="Arial"/>
              </a:rPr>
              <a:t>Field to Market  ·  Cotton remote sensing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TM-H_rgb.png"/>
          <p:cNvPicPr>
            <a:picLocks noChangeAspect="1"/>
          </p:cNvPicPr>
          <p:nvPr/>
        </p:nvPicPr>
        <p:blipFill>
          <a:blip r:embed="rId2"/>
          <a:stretch>
            <a:fillRect/>
          </a:stretch>
        </p:blipFill>
        <p:spPr>
          <a:xfrm>
            <a:off x="9402775" y="457200"/>
            <a:ext cx="2286000" cy="698750"/>
          </a:xfrm>
          <a:prstGeom prst="rect">
            <a:avLst/>
          </a:prstGeom>
        </p:spPr>
      </p:pic>
      <p:sp>
        <p:nvSpPr>
          <p:cNvPr id="10" name="TextBox 9"/>
          <p:cNvSpPr txBox="1"/>
          <p:nvPr/>
        </p:nvSpPr>
        <p:spPr>
          <a:xfrm>
            <a:off x="502920" y="1234440"/>
            <a:ext cx="8961120" cy="1371600"/>
          </a:xfrm>
          <a:prstGeom prst="rect">
            <a:avLst/>
          </a:prstGeom>
          <a:noFill/>
        </p:spPr>
        <p:txBody>
          <a:bodyPr wrap="square" lIns="0" rIns="0" tIns="0" bIns="0" anchor="t">
            <a:spAutoFit/>
          </a:bodyPr>
          <a:lstStyle/>
          <a:p>
            <a:pPr algn="l">
              <a:lnSpc>
                <a:spcPct val="112000"/>
              </a:lnSpc>
            </a:pPr>
            <a:r>
              <a:rPr sz="3300" b="1">
                <a:solidFill>
                  <a:srgbClr val="10427C"/>
                </a:solidFill>
                <a:latin typeface="Arial Narrow"/>
              </a:rPr>
              <a:t>The imagery is already free. The fields are already photographed. What is missing is the ground.</a:t>
            </a:r>
          </a:p>
        </p:txBody>
      </p:sp>
      <p:sp>
        <p:nvSpPr>
          <p:cNvPr id="11" name="Rectangle 10"/>
          <p:cNvSpPr/>
          <p:nvPr/>
        </p:nvSpPr>
        <p:spPr>
          <a:xfrm>
            <a:off x="502920" y="2788920"/>
            <a:ext cx="2011680" cy="5029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108960"/>
            <a:ext cx="5212080" cy="1097280"/>
          </a:xfrm>
          <a:prstGeom prst="rect">
            <a:avLst/>
          </a:prstGeom>
          <a:noFill/>
        </p:spPr>
        <p:txBody>
          <a:bodyPr wrap="square" lIns="0" rIns="0" tIns="0" bIns="0" anchor="t">
            <a:spAutoFit/>
          </a:bodyPr>
          <a:lstStyle/>
          <a:p>
            <a:pPr algn="l">
              <a:lnSpc>
                <a:spcPct val="135000"/>
              </a:lnSpc>
            </a:pPr>
            <a:r>
              <a:rPr sz="1300" b="0">
                <a:solidFill>
                  <a:srgbClr val="58595B"/>
                </a:solidFill>
                <a:latin typeface="Arial"/>
              </a:rPr>
              <a:t>Cotton is the crop this works best on today. Of everything we tested, cotton gave the cleanest separation and the highest catch rate — 97% of cover crops, 83% of conservation-tilled fields.</a:t>
            </a:r>
          </a:p>
        </p:txBody>
      </p:sp>
      <p:sp>
        <p:nvSpPr>
          <p:cNvPr id="13" name="TextBox 12"/>
          <p:cNvSpPr txBox="1"/>
          <p:nvPr/>
        </p:nvSpPr>
        <p:spPr>
          <a:xfrm>
            <a:off x="6126480" y="3108960"/>
            <a:ext cx="5212080" cy="1097280"/>
          </a:xfrm>
          <a:prstGeom prst="rect">
            <a:avLst/>
          </a:prstGeom>
          <a:noFill/>
        </p:spPr>
        <p:txBody>
          <a:bodyPr wrap="square" lIns="0" rIns="0" tIns="0" bIns="0" anchor="t">
            <a:spAutoFit/>
          </a:bodyPr>
          <a:lstStyle/>
          <a:p>
            <a:pPr algn="l">
              <a:lnSpc>
                <a:spcPct val="135000"/>
              </a:lnSpc>
            </a:pPr>
            <a:r>
              <a:rPr sz="1300" b="0">
                <a:solidFill>
                  <a:srgbClr val="58595B"/>
                </a:solidFill>
                <a:latin typeface="Arial"/>
              </a:rPr>
              <a:t>It is also where the gaps are clearest. We can name every one of them, which is how you know the rest of the numbers are worth something.</a:t>
            </a:r>
          </a:p>
        </p:txBody>
      </p:sp>
      <p:sp>
        <p:nvSpPr>
          <p:cNvPr id="14" name="TextBox 13"/>
          <p:cNvSpPr txBox="1"/>
          <p:nvPr/>
        </p:nvSpPr>
        <p:spPr>
          <a:xfrm>
            <a:off x="502920" y="4480560"/>
            <a:ext cx="10698480" cy="640080"/>
          </a:xfrm>
          <a:prstGeom prst="rect">
            <a:avLst/>
          </a:prstGeom>
          <a:noFill/>
        </p:spPr>
        <p:txBody>
          <a:bodyPr wrap="square" lIns="0" rIns="0" tIns="0" bIns="0" anchor="t">
            <a:spAutoFit/>
          </a:bodyPr>
          <a:lstStyle/>
          <a:p>
            <a:pPr algn="l">
              <a:lnSpc>
                <a:spcPct val="125000"/>
              </a:lnSpc>
            </a:pPr>
            <a:r>
              <a:rPr sz="1600" b="1">
                <a:solidFill>
                  <a:srgbClr val="10427C"/>
                </a:solidFill>
                <a:latin typeface="Arial Narrow"/>
              </a:rPr>
              <a:t>Fund the integration, supply the ground truth, and cotton gets a soil cover measurement its supply chain can actually audit.</a:t>
            </a:r>
          </a:p>
        </p:txBody>
      </p:sp>
      <p:sp>
        <p:nvSpPr>
          <p:cNvPr id="15" name="Rectangle 14"/>
          <p:cNvSpPr/>
          <p:nvPr/>
        </p:nvSpPr>
        <p:spPr>
          <a:xfrm>
            <a:off x="502920" y="5349240"/>
            <a:ext cx="10835640" cy="91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532120"/>
            <a:ext cx="3200400" cy="502920"/>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Eric Coronel</a:t>
            </a:r>
          </a:p>
          <a:p>
            <a:pPr algn="l">
              <a:lnSpc>
                <a:spcPct val="120000"/>
              </a:lnSpc>
            </a:pPr>
            <a:r>
              <a:rPr sz="1200" b="0">
                <a:solidFill>
                  <a:srgbClr val="58595B"/>
                </a:solidFill>
                <a:latin typeface="Arial"/>
              </a:rPr>
              <a:t>Field to Market</a:t>
            </a:r>
          </a:p>
        </p:txBody>
      </p:sp>
      <p:sp>
        <p:nvSpPr>
          <p:cNvPr id="17" name="TextBox 16"/>
          <p:cNvSpPr txBox="1"/>
          <p:nvPr/>
        </p:nvSpPr>
        <p:spPr>
          <a:xfrm>
            <a:off x="4251959" y="5532120"/>
            <a:ext cx="3291840" cy="256032"/>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ecoronel@fieldtomarket.org</a:t>
            </a:r>
          </a:p>
        </p:txBody>
      </p:sp>
      <p:sp>
        <p:nvSpPr>
          <p:cNvPr id="18" name="TextBox 17"/>
          <p:cNvSpPr txBox="1"/>
          <p:nvPr/>
        </p:nvSpPr>
        <p:spPr>
          <a:xfrm>
            <a:off x="8001000" y="5532120"/>
            <a:ext cx="3840480" cy="502920"/>
          </a:xfrm>
          <a:prstGeom prst="rect">
            <a:avLst/>
          </a:prstGeom>
          <a:noFill/>
        </p:spPr>
        <p:txBody>
          <a:bodyPr wrap="square" lIns="0" rIns="0" tIns="0" bIns="0" anchor="t">
            <a:spAutoFit/>
          </a:bodyPr>
          <a:lstStyle/>
          <a:p>
            <a:pPr algn="l">
              <a:lnSpc>
                <a:spcPct val="120000"/>
              </a:lnSpc>
            </a:pPr>
            <a:r>
              <a:rPr sz="1200" b="0">
                <a:solidFill>
                  <a:srgbClr val="58595B"/>
                </a:solidFill>
                <a:latin typeface="Arial"/>
              </a:rPr>
              <a:t>Full validation report and</a:t>
            </a:r>
          </a:p>
          <a:p>
            <a:pPr algn="l">
              <a:lnSpc>
                <a:spcPct val="120000"/>
              </a:lnSpc>
            </a:pPr>
            <a:r>
              <a:rPr sz="1200" b="0">
                <a:solidFill>
                  <a:srgbClr val="58595B"/>
                </a:solidFill>
                <a:latin typeface="Arial"/>
              </a:rPr>
              <a:t>source code available on request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9184"/>
            <a:ext cx="9174175" cy="566928"/>
          </a:xfrm>
          <a:prstGeom prst="rect">
            <a:avLst/>
          </a:prstGeom>
          <a:noFill/>
        </p:spPr>
        <p:txBody>
          <a:bodyPr wrap="square" lIns="0" rIns="0" tIns="0" bIns="0" anchor="t">
            <a:spAutoFit/>
          </a:bodyPr>
          <a:lstStyle/>
          <a:p>
            <a:pPr algn="l">
              <a:lnSpc>
                <a:spcPct val="100000"/>
              </a:lnSpc>
            </a:pPr>
            <a:r>
              <a:rPr sz="2700" b="1">
                <a:solidFill>
                  <a:srgbClr val="FFFFFF"/>
                </a:solidFill>
                <a:latin typeface="Arial Narrow"/>
              </a:rPr>
              <a:t>Appendix — Phase 1 engineering breakdown</a:t>
            </a:r>
          </a:p>
        </p:txBody>
      </p:sp>
      <p:pic>
        <p:nvPicPr>
          <p:cNvPr id="5" name="Picture 4" descr="FTM-H_rgb.png"/>
          <p:cNvPicPr>
            <a:picLocks noChangeAspect="1"/>
          </p:cNvPicPr>
          <p:nvPr/>
        </p:nvPicPr>
        <p:blipFill>
          <a:blip r:embed="rId2"/>
          <a:stretch>
            <a:fillRect/>
          </a:stretch>
        </p:blipFill>
        <p:spPr>
          <a:xfrm>
            <a:off x="9585655" y="274320"/>
            <a:ext cx="2103120" cy="642850"/>
          </a:xfrm>
          <a:prstGeom prst="rect">
            <a:avLst/>
          </a:prstGeom>
        </p:spPr>
      </p:pic>
      <p:sp>
        <p:nvSpPr>
          <p:cNvPr id="6" name="Rectangle 5"/>
          <p:cNvSpPr/>
          <p:nvPr/>
        </p:nvSpPr>
        <p:spPr>
          <a:xfrm>
            <a:off x="0" y="6510528"/>
            <a:ext cx="4880335" cy="347472"/>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0335" cy="347472"/>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3242" cy="347472"/>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3242" cy="347472"/>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3242" cy="347472"/>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3242" cy="347472"/>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502920" y="1444752"/>
          <a:ext cx="6675118" cy="3877056"/>
        </p:xfrm>
        <a:graphic>
          <a:graphicData uri="http://schemas.openxmlformats.org/drawingml/2006/table">
            <a:tbl>
              <a:tblPr firstRow="1" bandRow="1">
                <a:tableStyleId>{5C22544A-7EE6-4342-B048-85BDC9FD1C3A}</a:tableStyleId>
              </a:tblPr>
              <a:tblGrid>
                <a:gridCol w="4937759"/>
                <a:gridCol w="1737359"/>
              </a:tblGrid>
              <a:tr h="310896">
                <a:tc>
                  <a:txBody>
                    <a:bodyPr/>
                    <a:lstStyle/>
                    <a:p>
                      <a:pPr algn="l"/>
                      <a:r>
                        <a:rPr sz="1100" b="1">
                          <a:solidFill>
                            <a:srgbClr val="FFFFFF"/>
                          </a:solidFill>
                          <a:latin typeface="Arial Narrow"/>
                        </a:rPr>
                        <a:t>Workstream</a:t>
                      </a:r>
                    </a:p>
                  </a:txBody>
                  <a:tcPr marL="73152" marR="73152" marT="18288" marB="18288" anchor="ctr">
                    <a:solidFill>
                      <a:srgbClr val="10427C"/>
                    </a:solidFill>
                  </a:tcPr>
                </a:tc>
                <a:tc>
                  <a:txBody>
                    <a:bodyPr/>
                    <a:lstStyle/>
                    <a:p>
                      <a:pPr algn="ctr"/>
                      <a:r>
                        <a:rPr sz="1100" b="1">
                          <a:solidFill>
                            <a:srgbClr val="FFFFFF"/>
                          </a:solidFill>
                          <a:latin typeface="Arial Narrow"/>
                        </a:rPr>
                        <a:t>Hours</a:t>
                      </a:r>
                    </a:p>
                  </a:txBody>
                  <a:tcPr marL="73152" marR="73152" marT="18288" marB="18288" anchor="ctr">
                    <a:solidFill>
                      <a:srgbClr val="10427C"/>
                    </a:solidFill>
                  </a:tcPr>
                </a:tc>
              </a:tr>
              <a:tr h="297180">
                <a:tc>
                  <a:txBody>
                    <a:bodyPr/>
                    <a:lstStyle/>
                    <a:p>
                      <a:pPr algn="l"/>
                      <a:r>
                        <a:rPr sz="1100" b="0">
                          <a:solidFill>
                            <a:srgbClr val="444444"/>
                          </a:solidFill>
                          <a:latin typeface="Arial"/>
                        </a:rPr>
                        <a:t>Read and understand the existing pipeline</a:t>
                      </a:r>
                    </a:p>
                  </a:txBody>
                  <a:tcPr marL="73152" marR="73152" marT="18288" marB="18288" anchor="ctr">
                    <a:solidFill>
                      <a:srgbClr val="FFFFFF"/>
                    </a:solidFill>
                  </a:tcPr>
                </a:tc>
                <a:tc>
                  <a:txBody>
                    <a:bodyPr/>
                    <a:lstStyle/>
                    <a:p>
                      <a:pPr algn="ctr"/>
                      <a:r>
                        <a:rPr sz="1100" b="0">
                          <a:solidFill>
                            <a:srgbClr val="444444"/>
                          </a:solidFill>
                          <a:latin typeface="Arial"/>
                        </a:rPr>
                        <a:t>16–24</a:t>
                      </a:r>
                    </a:p>
                  </a:txBody>
                  <a:tcPr marL="73152" marR="73152" marT="18288" marB="18288" anchor="ctr">
                    <a:solidFill>
                      <a:srgbClr val="FFFFFF"/>
                    </a:solidFill>
                  </a:tcPr>
                </a:tc>
              </a:tr>
              <a:tr h="297180">
                <a:tc>
                  <a:txBody>
                    <a:bodyPr/>
                    <a:lstStyle/>
                    <a:p>
                      <a:pPr algn="l"/>
                      <a:r>
                        <a:rPr sz="1100" b="0">
                          <a:solidFill>
                            <a:srgbClr val="444444"/>
                          </a:solidFill>
                          <a:latin typeface="Arial"/>
                        </a:rPr>
                        <a:t>Dependency packaging, GDAL in containers</a:t>
                      </a:r>
                    </a:p>
                  </a:txBody>
                  <a:tcPr marL="73152" marR="73152" marT="18288" marB="18288" anchor="ctr">
                    <a:solidFill>
                      <a:srgbClr val="EEEEEE"/>
                    </a:solidFill>
                  </a:tcPr>
                </a:tc>
                <a:tc>
                  <a:txBody>
                    <a:bodyPr/>
                    <a:lstStyle/>
                    <a:p>
                      <a:pPr algn="ctr"/>
                      <a:r>
                        <a:rPr sz="1100" b="0">
                          <a:solidFill>
                            <a:srgbClr val="444444"/>
                          </a:solidFill>
                          <a:latin typeface="Arial"/>
                        </a:rPr>
                        <a:t>16–24</a:t>
                      </a:r>
                    </a:p>
                  </a:txBody>
                  <a:tcPr marL="73152" marR="73152" marT="18288" marB="18288" anchor="ctr">
                    <a:solidFill>
                      <a:srgbClr val="EEEEEE"/>
                    </a:solidFill>
                  </a:tcPr>
                </a:tc>
              </a:tr>
              <a:tr h="297180">
                <a:tc>
                  <a:txBody>
                    <a:bodyPr/>
                    <a:lstStyle/>
                    <a:p>
                      <a:pPr algn="l"/>
                      <a:r>
                        <a:rPr sz="1100" b="0">
                          <a:solidFill>
                            <a:srgbClr val="444444"/>
                          </a:solidFill>
                          <a:latin typeface="Arial"/>
                        </a:rPr>
                        <a:t>Job orchestration: queue, workers, retries</a:t>
                      </a:r>
                    </a:p>
                  </a:txBody>
                  <a:tcPr marL="73152" marR="73152" marT="18288" marB="18288" anchor="ctr">
                    <a:solidFill>
                      <a:srgbClr val="FFFFFF"/>
                    </a:solidFill>
                  </a:tcPr>
                </a:tc>
                <a:tc>
                  <a:txBody>
                    <a:bodyPr/>
                    <a:lstStyle/>
                    <a:p>
                      <a:pPr algn="ctr"/>
                      <a:r>
                        <a:rPr sz="1100" b="0">
                          <a:solidFill>
                            <a:srgbClr val="444444"/>
                          </a:solidFill>
                          <a:latin typeface="Arial"/>
                        </a:rPr>
                        <a:t>40–60</a:t>
                      </a:r>
                    </a:p>
                  </a:txBody>
                  <a:tcPr marL="73152" marR="73152" marT="18288" marB="18288" anchor="ctr">
                    <a:solidFill>
                      <a:srgbClr val="FFFFFF"/>
                    </a:solidFill>
                  </a:tcPr>
                </a:tc>
              </a:tr>
              <a:tr h="297180">
                <a:tc>
                  <a:txBody>
                    <a:bodyPr/>
                    <a:lstStyle/>
                    <a:p>
                      <a:pPr algn="l"/>
                      <a:r>
                        <a:rPr sz="1100" b="0">
                          <a:solidFill>
                            <a:srgbClr val="444444"/>
                          </a:solidFill>
                          <a:latin typeface="Arial"/>
                        </a:rPr>
                        <a:t>Caching layer on S3</a:t>
                      </a:r>
                    </a:p>
                  </a:txBody>
                  <a:tcPr marL="73152" marR="73152" marT="18288" marB="18288" anchor="ctr">
                    <a:solidFill>
                      <a:srgbClr val="EEEEEE"/>
                    </a:solidFill>
                  </a:tcPr>
                </a:tc>
                <a:tc>
                  <a:txBody>
                    <a:bodyPr/>
                    <a:lstStyle/>
                    <a:p>
                      <a:pPr algn="ctr"/>
                      <a:r>
                        <a:rPr sz="1100" b="0">
                          <a:solidFill>
                            <a:srgbClr val="444444"/>
                          </a:solidFill>
                          <a:latin typeface="Arial"/>
                        </a:rPr>
                        <a:t>24–32</a:t>
                      </a:r>
                    </a:p>
                  </a:txBody>
                  <a:tcPr marL="73152" marR="73152" marT="18288" marB="18288" anchor="ctr">
                    <a:solidFill>
                      <a:srgbClr val="EEEEEE"/>
                    </a:solidFill>
                  </a:tcPr>
                </a:tc>
              </a:tr>
              <a:tr h="297180">
                <a:tc>
                  <a:txBody>
                    <a:bodyPr/>
                    <a:lstStyle/>
                    <a:p>
                      <a:pPr algn="l"/>
                      <a:r>
                        <a:rPr sz="1100" b="0">
                          <a:solidFill>
                            <a:srgbClr val="444444"/>
                          </a:solidFill>
                          <a:latin typeface="Arial"/>
                        </a:rPr>
                        <a:t>CDL bulk store on S3 — pattern already built</a:t>
                      </a:r>
                    </a:p>
                  </a:txBody>
                  <a:tcPr marL="73152" marR="73152" marT="18288" marB="18288" anchor="ctr">
                    <a:solidFill>
                      <a:srgbClr val="FFFFFF"/>
                    </a:solidFill>
                  </a:tcPr>
                </a:tc>
                <a:tc>
                  <a:txBody>
                    <a:bodyPr/>
                    <a:lstStyle/>
                    <a:p>
                      <a:pPr algn="ctr"/>
                      <a:r>
                        <a:rPr sz="1100" b="0">
                          <a:solidFill>
                            <a:srgbClr val="444444"/>
                          </a:solidFill>
                          <a:latin typeface="Arial"/>
                        </a:rPr>
                        <a:t>8–16</a:t>
                      </a:r>
                    </a:p>
                  </a:txBody>
                  <a:tcPr marL="73152" marR="73152" marT="18288" marB="18288" anchor="ctr">
                    <a:solidFill>
                      <a:srgbClr val="FFFFFF"/>
                    </a:solidFill>
                  </a:tcPr>
                </a:tc>
              </a:tr>
              <a:tr h="297180">
                <a:tc>
                  <a:txBody>
                    <a:bodyPr/>
                    <a:lstStyle/>
                    <a:p>
                      <a:pPr algn="l"/>
                      <a:r>
                        <a:rPr sz="1100" b="0">
                          <a:solidFill>
                            <a:srgbClr val="444444"/>
                          </a:solidFill>
                          <a:latin typeface="Arial"/>
                        </a:rPr>
                        <a:t>API service and boundary validation</a:t>
                      </a:r>
                    </a:p>
                  </a:txBody>
                  <a:tcPr marL="73152" marR="73152" marT="18288" marB="18288" anchor="ctr">
                    <a:solidFill>
                      <a:srgbClr val="EEEEEE"/>
                    </a:solidFill>
                  </a:tcPr>
                </a:tc>
                <a:tc>
                  <a:txBody>
                    <a:bodyPr/>
                    <a:lstStyle/>
                    <a:p>
                      <a:pPr algn="ctr"/>
                      <a:r>
                        <a:rPr sz="1100" b="0">
                          <a:solidFill>
                            <a:srgbClr val="444444"/>
                          </a:solidFill>
                          <a:latin typeface="Arial"/>
                        </a:rPr>
                        <a:t>32–40</a:t>
                      </a:r>
                    </a:p>
                  </a:txBody>
                  <a:tcPr marL="73152" marR="73152" marT="18288" marB="18288" anchor="ctr">
                    <a:solidFill>
                      <a:srgbClr val="EEEEEE"/>
                    </a:solidFill>
                  </a:tcPr>
                </a:tc>
              </a:tr>
              <a:tr h="297180">
                <a:tc>
                  <a:txBody>
                    <a:bodyPr/>
                    <a:lstStyle/>
                    <a:p>
                      <a:pPr algn="l"/>
                      <a:r>
                        <a:rPr sz="1100" b="0">
                          <a:solidFill>
                            <a:srgbClr val="444444"/>
                          </a:solidFill>
                          <a:latin typeface="Arial"/>
                        </a:rPr>
                        <a:t>Hardening external dependencies</a:t>
                      </a:r>
                    </a:p>
                  </a:txBody>
                  <a:tcPr marL="73152" marR="73152" marT="18288" marB="18288" anchor="ctr">
                    <a:solidFill>
                      <a:srgbClr val="FFFFFF"/>
                    </a:solidFill>
                  </a:tcPr>
                </a:tc>
                <a:tc>
                  <a:txBody>
                    <a:bodyPr/>
                    <a:lstStyle/>
                    <a:p>
                      <a:pPr algn="ctr"/>
                      <a:r>
                        <a:rPr sz="1100" b="0">
                          <a:solidFill>
                            <a:srgbClr val="444444"/>
                          </a:solidFill>
                          <a:latin typeface="Arial"/>
                        </a:rPr>
                        <a:t>16–24</a:t>
                      </a:r>
                    </a:p>
                  </a:txBody>
                  <a:tcPr marL="73152" marR="73152" marT="18288" marB="18288" anchor="ctr">
                    <a:solidFill>
                      <a:srgbClr val="FFFFFF"/>
                    </a:solidFill>
                  </a:tcPr>
                </a:tc>
              </a:tr>
              <a:tr h="297180">
                <a:tc>
                  <a:txBody>
                    <a:bodyPr/>
                    <a:lstStyle/>
                    <a:p>
                      <a:pPr algn="l"/>
                      <a:r>
                        <a:rPr sz="1100" b="0">
                          <a:solidFill>
                            <a:srgbClr val="444444"/>
                          </a:solidFill>
                          <a:latin typeface="Arial"/>
                        </a:rPr>
                        <a:t>Test suite — none exists today</a:t>
                      </a:r>
                    </a:p>
                  </a:txBody>
                  <a:tcPr marL="73152" marR="73152" marT="18288" marB="18288" anchor="ctr">
                    <a:solidFill>
                      <a:srgbClr val="EEEEEE"/>
                    </a:solidFill>
                  </a:tcPr>
                </a:tc>
                <a:tc>
                  <a:txBody>
                    <a:bodyPr/>
                    <a:lstStyle/>
                    <a:p>
                      <a:pPr algn="ctr"/>
                      <a:r>
                        <a:rPr sz="1100" b="0">
                          <a:solidFill>
                            <a:srgbClr val="444444"/>
                          </a:solidFill>
                          <a:latin typeface="Arial"/>
                        </a:rPr>
                        <a:t>40–56</a:t>
                      </a:r>
                    </a:p>
                  </a:txBody>
                  <a:tcPr marL="73152" marR="73152" marT="18288" marB="18288" anchor="ctr">
                    <a:solidFill>
                      <a:srgbClr val="EEEEEE"/>
                    </a:solidFill>
                  </a:tcPr>
                </a:tc>
              </a:tr>
              <a:tr h="297180">
                <a:tc>
                  <a:txBody>
                    <a:bodyPr/>
                    <a:lstStyle/>
                    <a:p>
                      <a:pPr algn="l"/>
                      <a:r>
                        <a:rPr sz="1100" b="0">
                          <a:solidFill>
                            <a:srgbClr val="444444"/>
                          </a:solidFill>
                          <a:latin typeface="Arial"/>
                        </a:rPr>
                        <a:t>Observability and cost controls</a:t>
                      </a:r>
                    </a:p>
                  </a:txBody>
                  <a:tcPr marL="73152" marR="73152" marT="18288" marB="18288" anchor="ctr">
                    <a:solidFill>
                      <a:srgbClr val="FFFFFF"/>
                    </a:solidFill>
                  </a:tcPr>
                </a:tc>
                <a:tc>
                  <a:txBody>
                    <a:bodyPr/>
                    <a:lstStyle/>
                    <a:p>
                      <a:pPr algn="ctr"/>
                      <a:r>
                        <a:rPr sz="1100" b="0">
                          <a:solidFill>
                            <a:srgbClr val="444444"/>
                          </a:solidFill>
                          <a:latin typeface="Arial"/>
                        </a:rPr>
                        <a:t>16–24</a:t>
                      </a:r>
                    </a:p>
                  </a:txBody>
                  <a:tcPr marL="73152" marR="73152" marT="18288" marB="18288" anchor="ctr">
                    <a:solidFill>
                      <a:srgbClr val="FFFFFF"/>
                    </a:solidFill>
                  </a:tcPr>
                </a:tc>
              </a:tr>
              <a:tr h="297180">
                <a:tc>
                  <a:txBody>
                    <a:bodyPr/>
                    <a:lstStyle/>
                    <a:p>
                      <a:pPr algn="l"/>
                      <a:r>
                        <a:rPr sz="1100" b="0">
                          <a:solidFill>
                            <a:srgbClr val="444444"/>
                          </a:solidFill>
                          <a:latin typeface="Arial"/>
                        </a:rPr>
                        <a:t>Infrastructure as code, CI/CD</a:t>
                      </a:r>
                    </a:p>
                  </a:txBody>
                  <a:tcPr marL="73152" marR="73152" marT="18288" marB="18288" anchor="ctr">
                    <a:solidFill>
                      <a:srgbClr val="EEEEEE"/>
                    </a:solidFill>
                  </a:tcPr>
                </a:tc>
                <a:tc>
                  <a:txBody>
                    <a:bodyPr/>
                    <a:lstStyle/>
                    <a:p>
                      <a:pPr algn="ctr"/>
                      <a:r>
                        <a:rPr sz="1100" b="0">
                          <a:solidFill>
                            <a:srgbClr val="444444"/>
                          </a:solidFill>
                          <a:latin typeface="Arial"/>
                        </a:rPr>
                        <a:t>24–32</a:t>
                      </a:r>
                    </a:p>
                  </a:txBody>
                  <a:tcPr marL="73152" marR="73152" marT="18288" marB="18288" anchor="ctr">
                    <a:solidFill>
                      <a:srgbClr val="EEEEEE"/>
                    </a:solidFill>
                  </a:tcPr>
                </a:tc>
              </a:tr>
              <a:tr h="297180">
                <a:tc>
                  <a:txBody>
                    <a:bodyPr/>
                    <a:lstStyle/>
                    <a:p>
                      <a:pPr algn="l"/>
                      <a:r>
                        <a:rPr sz="1100" b="1">
                          <a:solidFill>
                            <a:srgbClr val="10427C"/>
                          </a:solidFill>
                          <a:latin typeface="Arial"/>
                        </a:rPr>
                        <a:t>Sum, one senior developer</a:t>
                      </a:r>
                    </a:p>
                  </a:txBody>
                  <a:tcPr marL="73152" marR="73152" marT="18288" marB="18288" anchor="ctr">
                    <a:solidFill>
                      <a:srgbClr val="FFFFFF"/>
                    </a:solidFill>
                  </a:tcPr>
                </a:tc>
                <a:tc>
                  <a:txBody>
                    <a:bodyPr/>
                    <a:lstStyle/>
                    <a:p>
                      <a:pPr algn="ctr"/>
                      <a:r>
                        <a:rPr sz="1100" b="1">
                          <a:solidFill>
                            <a:srgbClr val="10427C"/>
                          </a:solidFill>
                          <a:latin typeface="Arial"/>
                        </a:rPr>
                        <a:t>232–332</a:t>
                      </a:r>
                    </a:p>
                  </a:txBody>
                  <a:tcPr marL="73152" marR="73152" marT="18288" marB="18288" anchor="ctr">
                    <a:solidFill>
                      <a:srgbClr val="FFFFFF"/>
                    </a:solidFill>
                  </a:tcPr>
                </a:tc>
              </a:tr>
              <a:tr h="297180">
                <a:tc>
                  <a:txBody>
                    <a:bodyPr/>
                    <a:lstStyle/>
                    <a:p>
                      <a:pPr algn="l"/>
                      <a:r>
                        <a:rPr sz="1100" b="0">
                          <a:solidFill>
                            <a:srgbClr val="444444"/>
                          </a:solidFill>
                          <a:latin typeface="Arial"/>
                        </a:rPr>
                        <a:t>Integration with Fieldprint internals</a:t>
                      </a:r>
                    </a:p>
                  </a:txBody>
                  <a:tcPr marL="73152" marR="73152" marT="18288" marB="18288" anchor="ctr">
                    <a:solidFill>
                      <a:srgbClr val="EEEEEE"/>
                    </a:solidFill>
                  </a:tcPr>
                </a:tc>
                <a:tc>
                  <a:txBody>
                    <a:bodyPr/>
                    <a:lstStyle/>
                    <a:p>
                      <a:pPr algn="ctr"/>
                      <a:r>
                        <a:rPr sz="1100" b="0">
                          <a:solidFill>
                            <a:srgbClr val="444444"/>
                          </a:solidFill>
                          <a:latin typeface="Arial"/>
                        </a:rPr>
                        <a:t>not estimable</a:t>
                      </a:r>
                    </a:p>
                  </a:txBody>
                  <a:tcPr marL="73152" marR="73152" marT="18288" marB="18288" anchor="ctr">
                    <a:solidFill>
                      <a:srgbClr val="EEEEEE"/>
                    </a:solidFill>
                  </a:tcPr>
                </a:tc>
              </a:tr>
            </a:tbl>
          </a:graphicData>
        </a:graphic>
      </p:graphicFrame>
      <p:sp>
        <p:nvSpPr>
          <p:cNvPr id="13" name="Rounded Rectangle 12"/>
          <p:cNvSpPr/>
          <p:nvPr/>
        </p:nvSpPr>
        <p:spPr>
          <a:xfrm>
            <a:off x="7452360" y="1444752"/>
            <a:ext cx="4224528" cy="1170432"/>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572768"/>
            <a:ext cx="3749039" cy="256032"/>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Lean MVP: 150–190 h</a:t>
            </a:r>
          </a:p>
        </p:txBody>
      </p:sp>
      <p:sp>
        <p:nvSpPr>
          <p:cNvPr id="15" name="TextBox 14"/>
          <p:cNvSpPr txBox="1"/>
          <p:nvPr/>
        </p:nvSpPr>
        <p:spPr>
          <a:xfrm>
            <a:off x="7680960" y="1865376"/>
            <a:ext cx="3749039" cy="658368"/>
          </a:xfrm>
          <a:prstGeom prst="rect">
            <a:avLst/>
          </a:prstGeom>
          <a:noFill/>
        </p:spPr>
        <p:txBody>
          <a:bodyPr wrap="square" lIns="0" rIns="0" tIns="0" bIns="0" anchor="t">
            <a:spAutoFit/>
          </a:bodyPr>
          <a:lstStyle/>
          <a:p>
            <a:pPr algn="l">
              <a:lnSpc>
                <a:spcPct val="125000"/>
              </a:lnSpc>
            </a:pPr>
            <a:r>
              <a:rPr sz="1000" b="0">
                <a:solidFill>
                  <a:srgbClr val="58595B"/>
                </a:solidFill>
                <a:latin typeface="Arial"/>
              </a:rPr>
              <a:t>Batch only, one region, no public API. Results written to a table the platform reads.</a:t>
            </a:r>
          </a:p>
        </p:txBody>
      </p:sp>
      <p:sp>
        <p:nvSpPr>
          <p:cNvPr id="16" name="Rounded Rectangle 15"/>
          <p:cNvSpPr/>
          <p:nvPr/>
        </p:nvSpPr>
        <p:spPr>
          <a:xfrm>
            <a:off x="7452360" y="2743200"/>
            <a:ext cx="4224528" cy="1170432"/>
          </a:xfrm>
          <a:prstGeom prst="roundRect">
            <a:avLst>
              <a:gd name="adj" fmla="val 5000"/>
            </a:avLst>
          </a:prstGeom>
          <a:solidFill>
            <a:srgbClr val="FFFFFF"/>
          </a:solidFill>
          <a:ln w="22225">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2871216"/>
            <a:ext cx="3749039" cy="256032"/>
          </a:xfrm>
          <a:prstGeom prst="rect">
            <a:avLst/>
          </a:prstGeom>
          <a:noFill/>
        </p:spPr>
        <p:txBody>
          <a:bodyPr wrap="square" lIns="0" rIns="0" tIns="0" bIns="0" anchor="t">
            <a:spAutoFit/>
          </a:bodyPr>
          <a:lstStyle/>
          <a:p>
            <a:pPr algn="l">
              <a:lnSpc>
                <a:spcPct val="120000"/>
              </a:lnSpc>
            </a:pPr>
            <a:r>
              <a:rPr sz="1300" b="1">
                <a:solidFill>
                  <a:srgbClr val="10427C"/>
                </a:solidFill>
                <a:latin typeface="Arial Narrow"/>
              </a:rPr>
              <a:t>Risk already retired</a:t>
            </a:r>
          </a:p>
        </p:txBody>
      </p:sp>
      <p:sp>
        <p:nvSpPr>
          <p:cNvPr id="18" name="TextBox 17"/>
          <p:cNvSpPr txBox="1"/>
          <p:nvPr/>
        </p:nvSpPr>
        <p:spPr>
          <a:xfrm>
            <a:off x="7680960" y="3163824"/>
            <a:ext cx="3749039" cy="658368"/>
          </a:xfrm>
          <a:prstGeom prst="rect">
            <a:avLst/>
          </a:prstGeom>
          <a:noFill/>
        </p:spPr>
        <p:txBody>
          <a:bodyPr wrap="square" lIns="0" rIns="0" tIns="0" bIns="0" anchor="t">
            <a:spAutoFit/>
          </a:bodyPr>
          <a:lstStyle/>
          <a:p>
            <a:pPr algn="l">
              <a:lnSpc>
                <a:spcPct val="125000"/>
              </a:lnSpc>
            </a:pPr>
            <a:r>
              <a:rPr sz="1000" b="0">
                <a:solidFill>
                  <a:srgbClr val="58595B"/>
                </a:solidFill>
                <a:latin typeface="Arial"/>
              </a:rPr>
              <a:t>USDA CropScape could not take platform traffic — a 40-hour contingency. Now built and measured: 52 minutes to 5.6 seconds, agreeing with the API on 346 of 347 fields.</a:t>
            </a:r>
          </a:p>
        </p:txBody>
      </p:sp>
      <p:sp>
        <p:nvSpPr>
          <p:cNvPr id="19" name="Rounded Rectangle 18"/>
          <p:cNvSpPr/>
          <p:nvPr/>
        </p:nvSpPr>
        <p:spPr>
          <a:xfrm>
            <a:off x="7452360" y="4041648"/>
            <a:ext cx="4224528" cy="1170432"/>
          </a:xfrm>
          <a:prstGeom prst="roundRect">
            <a:avLst>
              <a:gd name="adj" fmla="val 5000"/>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0" y="4169663"/>
            <a:ext cx="3749039" cy="256032"/>
          </a:xfrm>
          <a:prstGeom prst="rect">
            <a:avLst/>
          </a:prstGeom>
          <a:noFill/>
        </p:spPr>
        <p:txBody>
          <a:bodyPr wrap="square" lIns="0" rIns="0" tIns="0" bIns="0" anchor="t">
            <a:spAutoFit/>
          </a:bodyPr>
          <a:lstStyle/>
          <a:p>
            <a:pPr algn="l">
              <a:lnSpc>
                <a:spcPct val="120000"/>
              </a:lnSpc>
            </a:pPr>
            <a:r>
              <a:rPr sz="1300" b="1">
                <a:solidFill>
                  <a:srgbClr val="212121"/>
                </a:solidFill>
                <a:latin typeface="Arial Narrow"/>
              </a:rPr>
              <a:t>Measured, not guessed</a:t>
            </a:r>
          </a:p>
        </p:txBody>
      </p:sp>
      <p:sp>
        <p:nvSpPr>
          <p:cNvPr id="21" name="TextBox 20"/>
          <p:cNvSpPr txBox="1"/>
          <p:nvPr/>
        </p:nvSpPr>
        <p:spPr>
          <a:xfrm>
            <a:off x="7680960" y="4462272"/>
            <a:ext cx="3749039" cy="658368"/>
          </a:xfrm>
          <a:prstGeom prst="rect">
            <a:avLst/>
          </a:prstGeom>
          <a:noFill/>
        </p:spPr>
        <p:txBody>
          <a:bodyPr wrap="square" lIns="0" rIns="0" tIns="0" bIns="0" anchor="t">
            <a:spAutoFit/>
          </a:bodyPr>
          <a:lstStyle/>
          <a:p>
            <a:pPr algn="l">
              <a:lnSpc>
                <a:spcPct val="125000"/>
              </a:lnSpc>
            </a:pPr>
            <a:r>
              <a:rPr sz="1000" b="0">
                <a:solidFill>
                  <a:srgbClr val="58595B"/>
                </a:solidFill>
                <a:latin typeface="Arial"/>
              </a:rPr>
              <a:t>1.3 min per field for 7 seasons · 2,415 lines of Python · zero tests today</a:t>
            </a:r>
          </a:p>
        </p:txBody>
      </p:sp>
      <p:sp>
        <p:nvSpPr>
          <p:cNvPr id="22" name="TextBox 21"/>
          <p:cNvSpPr txBox="1"/>
          <p:nvPr/>
        </p:nvSpPr>
        <p:spPr>
          <a:xfrm>
            <a:off x="502920" y="5715000"/>
            <a:ext cx="10698480" cy="457200"/>
          </a:xfrm>
          <a:prstGeom prst="rect">
            <a:avLst/>
          </a:prstGeom>
          <a:noFill/>
        </p:spPr>
        <p:txBody>
          <a:bodyPr wrap="square" lIns="0" rIns="0" tIns="0" bIns="0" anchor="t">
            <a:spAutoFit/>
          </a:bodyPr>
          <a:lstStyle/>
          <a:p>
            <a:pPr algn="l">
              <a:lnSpc>
                <a:spcPct val="130000"/>
              </a:lnSpc>
            </a:pPr>
            <a:r>
              <a:rPr sz="1200" b="0">
                <a:solidFill>
                  <a:srgbClr val="58595B"/>
                </a:solidFill>
                <a:latin typeface="Arial"/>
              </a:rPr>
              <a:t>Productionisation, not research: the algorithms are finished and cross-checked between two implementations. Refitting constants per region is science work, costed under Phase 2.</a:t>
            </a:r>
          </a:p>
        </p:txBody>
      </p:sp>
      <p:sp>
        <p:nvSpPr>
          <p:cNvPr id="23" name="TextBox 22"/>
          <p:cNvSpPr txBox="1"/>
          <p:nvPr/>
        </p:nvSpPr>
        <p:spPr>
          <a:xfrm>
            <a:off x="502920" y="6199632"/>
            <a:ext cx="11185855" cy="256032"/>
          </a:xfrm>
          <a:prstGeom prst="rect">
            <a:avLst/>
          </a:prstGeom>
          <a:noFill/>
        </p:spPr>
        <p:txBody>
          <a:bodyPr wrap="square" lIns="0" rIns="0" tIns="0" bIns="0" anchor="t">
            <a:spAutoFit/>
          </a:bodyPr>
          <a:lstStyle/>
          <a:p>
            <a:pPr algn="l">
              <a:lnSpc>
                <a:spcPct val="120000"/>
              </a:lnSpc>
            </a:pPr>
            <a:r>
              <a:rPr sz="900" b="0">
                <a:solidFill>
                  <a:srgbClr val="58595B"/>
                </a:solidFill>
                <a:latin typeface="Arial"/>
              </a:rPr>
              <a:t>Assumes AWS, containerised workers, an existing API gateway. The integration line needs sight of the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