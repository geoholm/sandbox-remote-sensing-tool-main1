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 started from member feedback that national and state benchmarks are not valid comparisons for an individual farm.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match on this year's crop always, add last year's where enough neighbors survive, and widen the radius rather than loosen the match. Never require three years - in Georgia that never reaches ten peers at any distance still worth calling local.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benchmark machinery is sound. The cover crop threshold behind one of its inputs is not, and we measured that ourselves before this deck existed.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TM-H_wTAG_rgb.png"/>
          <p:cNvPicPr>
            <a:picLocks noChangeAspect="1"/>
          </p:cNvPicPr>
          <p:nvPr/>
        </p:nvPicPr>
        <p:blipFill>
          <a:blip r:embed="rId2"/>
          <a:stretch>
            <a:fillRect/>
          </a:stretch>
        </p:blipFill>
        <p:spPr>
          <a:xfrm>
            <a:off x="566928" y="640080"/>
            <a:ext cx="4023360" cy="1535561"/>
          </a:xfrm>
          <a:prstGeom prst="rect">
            <a:avLst/>
          </a:prstGeom>
        </p:spPr>
      </p:pic>
      <p:sp>
        <p:nvSpPr>
          <p:cNvPr id="10" name="TextBox 9"/>
          <p:cNvSpPr txBox="1"/>
          <p:nvPr/>
        </p:nvSpPr>
        <p:spPr>
          <a:xfrm>
            <a:off x="566928" y="2240280"/>
            <a:ext cx="10058400" cy="1463040"/>
          </a:xfrm>
          <a:prstGeom prst="rect">
            <a:avLst/>
          </a:prstGeom>
          <a:noFill/>
        </p:spPr>
        <p:txBody>
          <a:bodyPr wrap="square" lIns="0" rIns="0" tIns="0" bIns="0" anchor="t">
            <a:spAutoFit/>
          </a:bodyPr>
          <a:lstStyle/>
          <a:p>
            <a:pPr algn="l">
              <a:lnSpc>
                <a:spcPct val="106000"/>
              </a:lnSpc>
              <a:spcAft>
                <a:spcPts val="700"/>
              </a:spcAft>
            </a:pPr>
            <a:r>
              <a:rPr sz="4200" b="1" i="0">
                <a:solidFill>
                  <a:srgbClr val="10427C"/>
                </a:solidFill>
                <a:latin typeface="Arial Narrow"/>
              </a:rPr>
              <a:t>Benchmarks a grower</a:t>
            </a:r>
          </a:p>
          <a:p>
            <a:pPr algn="l">
              <a:lnSpc>
                <a:spcPct val="106000"/>
              </a:lnSpc>
              <a:spcAft>
                <a:spcPts val="700"/>
              </a:spcAft>
            </a:pPr>
            <a:r>
              <a:rPr sz="4200" b="1" i="0">
                <a:solidFill>
                  <a:srgbClr val="10427C"/>
                </a:solidFill>
                <a:latin typeface="Arial Narrow"/>
              </a:rPr>
              <a:t>will actually accept</a:t>
            </a:r>
          </a:p>
        </p:txBody>
      </p:sp>
      <p:sp>
        <p:nvSpPr>
          <p:cNvPr id="11" name="Rectangle 10"/>
          <p:cNvSpPr/>
          <p:nvPr/>
        </p:nvSpPr>
        <p:spPr>
          <a:xfrm>
            <a:off x="566928" y="3931920"/>
            <a:ext cx="1920240" cy="54864"/>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224528"/>
            <a:ext cx="8412480" cy="822960"/>
          </a:xfrm>
          <a:prstGeom prst="rect">
            <a:avLst/>
          </a:prstGeom>
          <a:noFill/>
        </p:spPr>
        <p:txBody>
          <a:bodyPr wrap="square" lIns="0" rIns="0" tIns="0" bIns="0" anchor="t">
            <a:spAutoFit/>
          </a:bodyPr>
          <a:lstStyle/>
          <a:p>
            <a:pPr algn="l">
              <a:lnSpc>
                <a:spcPct val="140000"/>
              </a:lnSpc>
              <a:spcAft>
                <a:spcPts val="0"/>
              </a:spcAft>
            </a:pPr>
            <a:r>
              <a:rPr sz="1400" b="0" i="0">
                <a:solidFill>
                  <a:srgbClr val="58595B"/>
                </a:solidFill>
                <a:latin typeface="Arial"/>
              </a:rPr>
              <a:t>Members tell us a national or state comparison does not describe their farm. They are right — and we can measure how wrong it is. A working alternative, built from free satellite imagery, that compares a field with </a:t>
            </a:r>
            <a:r>
              <a:rPr sz="1400" b="1" i="0">
                <a:solidFill>
                  <a:srgbClr val="58595B"/>
                </a:solidFill>
                <a:latin typeface="Arial"/>
              </a:rPr>
              <a:t>its own neighbors</a:t>
            </a:r>
            <a:r>
              <a:rPr sz="1400" b="0" i="0">
                <a:solidFill>
                  <a:srgbClr val="58595B"/>
                </a:solidFill>
                <a:latin typeface="Arial"/>
              </a:rPr>
              <a:t>.</a:t>
            </a:r>
          </a:p>
        </p:txBody>
      </p:sp>
      <p:sp>
        <p:nvSpPr>
          <p:cNvPr id="13" name="TextBox 12"/>
          <p:cNvSpPr txBox="1"/>
          <p:nvPr/>
        </p:nvSpPr>
        <p:spPr>
          <a:xfrm>
            <a:off x="566928" y="5806440"/>
            <a:ext cx="10058400" cy="274320"/>
          </a:xfrm>
          <a:prstGeom prst="rect">
            <a:avLst/>
          </a:prstGeom>
          <a:noFill/>
        </p:spPr>
        <p:txBody>
          <a:bodyPr wrap="square" lIns="0" rIns="0" tIns="0" bIns="0" anchor="t">
            <a:spAutoFit/>
          </a:bodyPr>
          <a:lstStyle/>
          <a:p>
            <a:pPr algn="l">
              <a:lnSpc>
                <a:spcPct val="130000"/>
              </a:lnSpc>
              <a:spcAft>
                <a:spcPts val="0"/>
              </a:spcAft>
            </a:pPr>
            <a:r>
              <a:rPr sz="1050" b="0" i="0">
                <a:solidFill>
                  <a:srgbClr val="8A8C8E"/>
                </a:solidFill>
                <a:latin typeface="Arial"/>
              </a:rPr>
              <a:t>Field to Market remote sensing demonstration   ·   203 fields across three counties and three rotations   ·   20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The complaint we keep hearing</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27632"/>
            <a:ext cx="45720" cy="512064"/>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664208"/>
            <a:ext cx="10607040" cy="457200"/>
          </a:xfrm>
          <a:prstGeom prst="rect">
            <a:avLst/>
          </a:prstGeom>
          <a:noFill/>
        </p:spPr>
        <p:txBody>
          <a:bodyPr wrap="square" lIns="0" rIns="0" tIns="0" bIns="0" anchor="t">
            <a:spAutoFit/>
          </a:bodyPr>
          <a:lstStyle/>
          <a:p>
            <a:pPr algn="l">
              <a:lnSpc>
                <a:spcPct val="140000"/>
              </a:lnSpc>
              <a:spcAft>
                <a:spcPts val="0"/>
              </a:spcAft>
            </a:pPr>
            <a:r>
              <a:rPr sz="1400" b="0" i="0">
                <a:solidFill>
                  <a:srgbClr val="212121"/>
                </a:solidFill>
                <a:latin typeface="Arial"/>
              </a:rPr>
              <a:t>The objection, as it reaches us: a national or state average pools farms with different soils, different weather and different crops — so being told you are below it says very little about how a field is managed.</a:t>
            </a:r>
          </a:p>
        </p:txBody>
      </p:sp>
      <p:sp>
        <p:nvSpPr>
          <p:cNvPr id="13" name="TextBox 12"/>
          <p:cNvSpPr txBox="1"/>
          <p:nvPr/>
        </p:nvSpPr>
        <p:spPr>
          <a:xfrm>
            <a:off x="566928" y="2834640"/>
            <a:ext cx="5349240" cy="1737360"/>
          </a:xfrm>
          <a:prstGeom prst="rect">
            <a:avLst/>
          </a:prstGeom>
          <a:noFill/>
        </p:spPr>
        <p:txBody>
          <a:bodyPr wrap="square" lIns="0" rIns="0" tIns="0" bIns="0" anchor="t">
            <a:spAutoFit/>
          </a:bodyPr>
          <a:lstStyle/>
          <a:p>
            <a:pPr algn="l">
              <a:lnSpc>
                <a:spcPct val="130000"/>
              </a:lnSpc>
              <a:spcAft>
                <a:spcPts val="700"/>
              </a:spcAft>
            </a:pPr>
            <a:r>
              <a:rPr sz="1250" b="1" i="0">
                <a:solidFill>
                  <a:srgbClr val="58595B"/>
                </a:solidFill>
                <a:latin typeface="Arial"/>
              </a:rPr>
              <a:t>It is not a complaint about the metric. </a:t>
            </a:r>
            <a:r>
              <a:rPr sz="1250" b="0" i="0">
                <a:solidFill>
                  <a:srgbClr val="58595B"/>
                </a:solidFill>
                <a:latin typeface="Arial"/>
              </a:rPr>
              <a:t>It is a complaint about the comparison group — and on the evidence here, it is correct.</a:t>
            </a:r>
          </a:p>
          <a:p>
            <a:pPr algn="l">
              <a:lnSpc>
                <a:spcPct val="130000"/>
              </a:lnSpc>
              <a:spcAft>
                <a:spcPts val="700"/>
              </a:spcAft>
            </a:pPr>
            <a:r>
              <a:rPr sz="1250" b="0" i="0">
                <a:solidFill>
                  <a:srgbClr val="58595B"/>
                </a:solidFill>
                <a:latin typeface="Arial"/>
              </a:rPr>
              <a:t>We tested it on soil cover across three counties with three different rotations: corn and soybeans in Illinois, winter wheat and double crop in Kansas, peanuts and cotton in Georgia.</a:t>
            </a:r>
          </a:p>
        </p:txBody>
      </p:sp>
      <p:sp>
        <p:nvSpPr>
          <p:cNvPr id="14" name="TextBox 13"/>
          <p:cNvSpPr txBox="1"/>
          <p:nvPr/>
        </p:nvSpPr>
        <p:spPr>
          <a:xfrm>
            <a:off x="6355080" y="2834640"/>
            <a:ext cx="5266944" cy="237744"/>
          </a:xfrm>
          <a:prstGeom prst="rect">
            <a:avLst/>
          </a:prstGeom>
          <a:noFill/>
        </p:spPr>
        <p:txBody>
          <a:bodyPr wrap="square" lIns="0" rIns="0" tIns="0" bIns="0" anchor="t">
            <a:spAutoFit/>
          </a:bodyPr>
          <a:lstStyle/>
          <a:p>
            <a:pPr algn="l">
              <a:lnSpc>
                <a:spcPct val="100000"/>
              </a:lnSpc>
              <a:spcAft>
                <a:spcPts val="0"/>
              </a:spcAft>
            </a:pPr>
            <a:r>
              <a:rPr sz="950" b="1" i="0">
                <a:solidFill>
                  <a:srgbClr val="F46C09"/>
                </a:solidFill>
                <a:latin typeface="Arial Narrow"/>
              </a:rPr>
              <a:t>WHAT WE FOUND</a:t>
            </a:r>
          </a:p>
        </p:txBody>
      </p:sp>
      <p:sp>
        <p:nvSpPr>
          <p:cNvPr id="15" name="TextBox 14"/>
          <p:cNvSpPr txBox="1"/>
          <p:nvPr/>
        </p:nvSpPr>
        <p:spPr>
          <a:xfrm>
            <a:off x="6355080" y="3182112"/>
            <a:ext cx="5266944" cy="1371600"/>
          </a:xfrm>
          <a:prstGeom prst="rect">
            <a:avLst/>
          </a:prstGeom>
          <a:noFill/>
        </p:spPr>
        <p:txBody>
          <a:bodyPr wrap="square" lIns="0" rIns="0" tIns="0" bIns="0" anchor="t">
            <a:spAutoFit/>
          </a:bodyPr>
          <a:lstStyle/>
          <a:p>
            <a:pPr algn="l">
              <a:lnSpc>
                <a:spcPct val="130000"/>
              </a:lnSpc>
              <a:spcAft>
                <a:spcPts val="0"/>
              </a:spcAft>
            </a:pPr>
            <a:r>
              <a:rPr sz="1250" b="1" i="0">
                <a:solidFill>
                  <a:srgbClr val="58595B"/>
                </a:solidFill>
                <a:latin typeface="Arial"/>
              </a:rPr>
              <a:t>72% of the variation in soil cover sits between counties</a:t>
            </a:r>
            <a:r>
              <a:rPr sz="1250" b="0" i="0">
                <a:solidFill>
                  <a:srgbClr val="58595B"/>
                </a:solidFill>
                <a:latin typeface="Arial"/>
              </a:rPr>
              <a:t>, not between neighboring farms. A benchmark that pools them is mostly measuring WHERE a grower farms, not HOW.</a:t>
            </a:r>
          </a:p>
        </p:txBody>
      </p:sp>
      <p:sp>
        <p:nvSpPr>
          <p:cNvPr id="16" name="TextBox 15"/>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Variance decomposition over 203 field means, pre-planting soil armor. The same figure is 66% for annual residue cover and 37% for the annual worst-case.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A pooled benchmark grades the county, not the farmer</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_pooled_vs_local.png"/>
          <p:cNvPicPr>
            <a:picLocks noChangeAspect="1"/>
          </p:cNvPicPr>
          <p:nvPr/>
        </p:nvPicPr>
        <p:blipFill>
          <a:blip r:embed="rId3"/>
          <a:stretch>
            <a:fillRect/>
          </a:stretch>
        </p:blipFill>
        <p:spPr>
          <a:xfrm>
            <a:off x="590089" y="1645920"/>
            <a:ext cx="11011516" cy="3977639"/>
          </a:xfrm>
          <a:prstGeom prst="rect">
            <a:avLst/>
          </a:prstGeom>
        </p:spPr>
      </p:pic>
      <p:sp>
        <p:nvSpPr>
          <p:cNvPr id="12" name="TextBox 11"/>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Every field in three counties. The dashed line is the median of all 203 — a stand-in for a national figure. EVERY SINGLE Champaign County field falls below it on pre-plant armor, as do 82% of Mitchell's, while 91% of Sumner's sit above. None of that is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The same field, two benchmarks, two verdicts</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_same_field_two_benchmarks.png"/>
          <p:cNvPicPr>
            <a:picLocks noChangeAspect="1"/>
          </p:cNvPicPr>
          <p:nvPr/>
        </p:nvPicPr>
        <p:blipFill>
          <a:blip r:embed="rId3"/>
          <a:stretch>
            <a:fillRect/>
          </a:stretch>
        </p:blipFill>
        <p:spPr>
          <a:xfrm>
            <a:off x="566928" y="1645920"/>
            <a:ext cx="5989320" cy="3423603"/>
          </a:xfrm>
          <a:prstGeom prst="rect">
            <a:avLst/>
          </a:prstGeom>
        </p:spPr>
      </p:pic>
      <p:sp>
        <p:nvSpPr>
          <p:cNvPr id="12" name="TextBox 11"/>
          <p:cNvSpPr txBox="1"/>
          <p:nvPr/>
        </p:nvSpPr>
        <p:spPr>
          <a:xfrm>
            <a:off x="6903720" y="1645920"/>
            <a:ext cx="4721047" cy="237744"/>
          </a:xfrm>
          <a:prstGeom prst="rect">
            <a:avLst/>
          </a:prstGeom>
          <a:noFill/>
        </p:spPr>
        <p:txBody>
          <a:bodyPr wrap="square" lIns="0" rIns="0" tIns="0" bIns="0" anchor="t">
            <a:spAutoFit/>
          </a:bodyPr>
          <a:lstStyle/>
          <a:p>
            <a:pPr algn="l">
              <a:lnSpc>
                <a:spcPct val="100000"/>
              </a:lnSpc>
              <a:spcAft>
                <a:spcPts val="0"/>
              </a:spcAft>
            </a:pPr>
            <a:r>
              <a:rPr sz="950" b="1" i="0">
                <a:solidFill>
                  <a:srgbClr val="F46C09"/>
                </a:solidFill>
                <a:latin typeface="Arial Narrow"/>
              </a:rPr>
              <a:t>WHAT MOVES</a:t>
            </a:r>
          </a:p>
        </p:txBody>
      </p:sp>
      <p:sp>
        <p:nvSpPr>
          <p:cNvPr id="13" name="TextBox 12"/>
          <p:cNvSpPr txBox="1"/>
          <p:nvPr/>
        </p:nvSpPr>
        <p:spPr>
          <a:xfrm>
            <a:off x="6903720" y="1993392"/>
            <a:ext cx="4721047" cy="3291840"/>
          </a:xfrm>
          <a:prstGeom prst="rect">
            <a:avLst/>
          </a:prstGeom>
          <a:noFill/>
        </p:spPr>
        <p:txBody>
          <a:bodyPr wrap="square" lIns="0" rIns="0" tIns="0" bIns="0" anchor="t">
            <a:spAutoFit/>
          </a:bodyPr>
          <a:lstStyle/>
          <a:p>
            <a:pPr algn="l">
              <a:lnSpc>
                <a:spcPct val="130000"/>
              </a:lnSpc>
              <a:spcAft>
                <a:spcPts val="700"/>
              </a:spcAft>
            </a:pPr>
            <a:r>
              <a:rPr sz="1250" b="0" i="0">
                <a:solidFill>
                  <a:srgbClr val="58595B"/>
                </a:solidFill>
                <a:latin typeface="Arial"/>
              </a:rPr>
              <a:t>Our Illinois field sits in the </a:t>
            </a:r>
            <a:r>
              <a:rPr sz="1250" b="1" i="0">
                <a:solidFill>
                  <a:srgbClr val="58595B"/>
                </a:solidFill>
                <a:latin typeface="Arial"/>
              </a:rPr>
              <a:t>top fifth of its own neighborhood</a:t>
            </a:r>
            <a:r>
              <a:rPr sz="1250" b="0" i="0">
                <a:solidFill>
                  <a:srgbClr val="58595B"/>
                </a:solidFill>
                <a:latin typeface="Arial"/>
              </a:rPr>
              <a:t> on every measure. Pooled with Kansas and Georgia it reads below average.</a:t>
            </a:r>
          </a:p>
          <a:p>
            <a:pPr algn="l">
              <a:lnSpc>
                <a:spcPct val="130000"/>
              </a:lnSpc>
              <a:spcAft>
                <a:spcPts val="700"/>
              </a:spcAft>
            </a:pPr>
            <a:r>
              <a:rPr sz="1250" b="0" i="0">
                <a:solidFill>
                  <a:srgbClr val="58595B"/>
                </a:solidFill>
                <a:latin typeface="Arial"/>
              </a:rPr>
              <a:t>The Kansas field is the mirror image: </a:t>
            </a:r>
            <a:r>
              <a:rPr sz="1250" b="1" i="0">
                <a:solidFill>
                  <a:srgbClr val="58595B"/>
                </a:solidFill>
                <a:latin typeface="Arial"/>
              </a:rPr>
              <a:t>8th percentile locally</a:t>
            </a:r>
            <a:r>
              <a:rPr sz="1250" b="0" i="0">
                <a:solidFill>
                  <a:srgbClr val="58595B"/>
                </a:solidFill>
                <a:latin typeface="Arial"/>
              </a:rPr>
              <a:t>, about average once pooled.</a:t>
            </a:r>
          </a:p>
          <a:p>
            <a:pPr algn="l">
              <a:lnSpc>
                <a:spcPct val="130000"/>
              </a:lnSpc>
              <a:spcAft>
                <a:spcPts val="700"/>
              </a:spcAft>
            </a:pPr>
            <a:r>
              <a:rPr sz="1250" b="0" i="0">
                <a:solidFill>
                  <a:srgbClr val="58595B"/>
                </a:solidFill>
                <a:latin typeface="Arial"/>
              </a:rPr>
              <a:t>Nothing about either field changed. Only the comparison group did.</a:t>
            </a:r>
          </a:p>
          <a:p>
            <a:pPr algn="l">
              <a:lnSpc>
                <a:spcPct val="130000"/>
              </a:lnSpc>
              <a:spcAft>
                <a:spcPts val="700"/>
              </a:spcAft>
            </a:pPr>
            <a:r>
              <a:rPr sz="1250" b="1" i="0">
                <a:solidFill>
                  <a:srgbClr val="58595B"/>
                </a:solidFill>
                <a:latin typeface="Arial"/>
              </a:rPr>
              <a:t>This is the member complaint, measured.</a:t>
            </a:r>
          </a:p>
        </p:txBody>
      </p:sp>
      <p:sp>
        <p:nvSpPr>
          <p:cNvPr id="14" name="TextBox 13"/>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Three scores per field. "Local" is the field's own 50 to 100 qualifying neighbors; "pooled" is all 203 fields across the three counties.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The proposal: benchmark a field against its neighbors</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Same weather. Same soils. Same markets. Same season. The comparison a grower would make themselves.</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 y="2139696"/>
            <a:ext cx="2627299" cy="1280160"/>
          </a:xfrm>
          <a:prstGeom prst="roundRect">
            <a:avLst>
              <a:gd name="adj" fmla="val 6000"/>
            </a:avLst>
          </a:prstGeom>
          <a:solidFill>
            <a:srgbClr val="FFFFFF"/>
          </a:solidFill>
          <a:ln w="19050">
            <a:solidFill>
              <a:srgbClr val="F46C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295144"/>
            <a:ext cx="2224963" cy="548640"/>
          </a:xfrm>
          <a:prstGeom prst="rect">
            <a:avLst/>
          </a:prstGeom>
          <a:noFill/>
        </p:spPr>
        <p:txBody>
          <a:bodyPr wrap="square" lIns="0" rIns="0" tIns="0" bIns="0" anchor="t">
            <a:spAutoFit/>
          </a:bodyPr>
          <a:lstStyle/>
          <a:p>
            <a:pPr algn="l">
              <a:lnSpc>
                <a:spcPct val="100000"/>
              </a:lnSpc>
              <a:spcAft>
                <a:spcPts val="0"/>
              </a:spcAft>
            </a:pPr>
            <a:r>
              <a:rPr sz="3400" b="1" i="0">
                <a:solidFill>
                  <a:srgbClr val="F46C09"/>
                </a:solidFill>
                <a:latin typeface="Arial Narrow"/>
              </a:rPr>
              <a:t>50–100</a:t>
            </a:r>
          </a:p>
        </p:txBody>
      </p:sp>
      <p:sp>
        <p:nvSpPr>
          <p:cNvPr id="14" name="TextBox 13"/>
          <p:cNvSpPr txBox="1"/>
          <p:nvPr/>
        </p:nvSpPr>
        <p:spPr>
          <a:xfrm>
            <a:off x="768096" y="2871215"/>
            <a:ext cx="2224963" cy="420623"/>
          </a:xfrm>
          <a:prstGeom prst="rect">
            <a:avLst/>
          </a:prstGeom>
          <a:noFill/>
        </p:spPr>
        <p:txBody>
          <a:bodyPr wrap="square" lIns="0" rIns="0" tIns="0" bIns="0" anchor="t">
            <a:spAutoFit/>
          </a:bodyPr>
          <a:lstStyle/>
          <a:p>
            <a:pPr algn="l">
              <a:lnSpc>
                <a:spcPct val="126000"/>
              </a:lnSpc>
              <a:spcAft>
                <a:spcPts val="0"/>
              </a:spcAft>
            </a:pPr>
            <a:r>
              <a:rPr sz="1050" b="0" i="0">
                <a:solidFill>
                  <a:srgbClr val="58595B"/>
                </a:solidFill>
                <a:latin typeface="Arial"/>
              </a:rPr>
              <a:t>qualifying cropland fields
around the member's field</a:t>
            </a:r>
          </a:p>
        </p:txBody>
      </p:sp>
      <p:sp>
        <p:nvSpPr>
          <p:cNvPr id="15" name="Rounded Rectangle 14"/>
          <p:cNvSpPr/>
          <p:nvPr/>
        </p:nvSpPr>
        <p:spPr>
          <a:xfrm>
            <a:off x="3377107" y="2139696"/>
            <a:ext cx="2627299" cy="1280160"/>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275" y="2295144"/>
            <a:ext cx="2224963" cy="548640"/>
          </a:xfrm>
          <a:prstGeom prst="rect">
            <a:avLst/>
          </a:prstGeom>
          <a:noFill/>
        </p:spPr>
        <p:txBody>
          <a:bodyPr wrap="square" lIns="0" rIns="0" tIns="0" bIns="0" anchor="t">
            <a:spAutoFit/>
          </a:bodyPr>
          <a:lstStyle/>
          <a:p>
            <a:pPr algn="l">
              <a:lnSpc>
                <a:spcPct val="100000"/>
              </a:lnSpc>
              <a:spcAft>
                <a:spcPts val="0"/>
              </a:spcAft>
            </a:pPr>
            <a:r>
              <a:rPr sz="2200" b="1" i="0">
                <a:solidFill>
                  <a:srgbClr val="10427C"/>
                </a:solidFill>
                <a:latin typeface="Arial Narrow"/>
              </a:rPr>
              <a:t>2.5–4.3 km</a:t>
            </a:r>
          </a:p>
        </p:txBody>
      </p:sp>
      <p:sp>
        <p:nvSpPr>
          <p:cNvPr id="17" name="TextBox 16"/>
          <p:cNvSpPr txBox="1"/>
          <p:nvPr/>
        </p:nvSpPr>
        <p:spPr>
          <a:xfrm>
            <a:off x="3578275" y="2871215"/>
            <a:ext cx="2224963" cy="420623"/>
          </a:xfrm>
          <a:prstGeom prst="rect">
            <a:avLst/>
          </a:prstGeom>
          <a:noFill/>
        </p:spPr>
        <p:txBody>
          <a:bodyPr wrap="square" lIns="0" rIns="0" tIns="0" bIns="0" anchor="t">
            <a:spAutoFit/>
          </a:bodyPr>
          <a:lstStyle/>
          <a:p>
            <a:pPr algn="l">
              <a:lnSpc>
                <a:spcPct val="126000"/>
              </a:lnSpc>
              <a:spcAft>
                <a:spcPts val="0"/>
              </a:spcAft>
            </a:pPr>
            <a:r>
              <a:rPr sz="1050" b="0" i="0">
                <a:solidFill>
                  <a:srgbClr val="58595B"/>
                </a:solidFill>
                <a:latin typeface="Arial"/>
              </a:rPr>
              <a:t>the radius that takes
to reach them</a:t>
            </a:r>
          </a:p>
        </p:txBody>
      </p:sp>
      <p:sp>
        <p:nvSpPr>
          <p:cNvPr id="18" name="Rounded Rectangle 17"/>
          <p:cNvSpPr/>
          <p:nvPr/>
        </p:nvSpPr>
        <p:spPr>
          <a:xfrm>
            <a:off x="6187287" y="2139696"/>
            <a:ext cx="2627299" cy="1280160"/>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455" y="2295144"/>
            <a:ext cx="2224963" cy="548640"/>
          </a:xfrm>
          <a:prstGeom prst="rect">
            <a:avLst/>
          </a:prstGeom>
          <a:noFill/>
        </p:spPr>
        <p:txBody>
          <a:bodyPr wrap="square" lIns="0" rIns="0" tIns="0" bIns="0" anchor="t">
            <a:spAutoFit/>
          </a:bodyPr>
          <a:lstStyle/>
          <a:p>
            <a:pPr algn="l">
              <a:lnSpc>
                <a:spcPct val="100000"/>
              </a:lnSpc>
              <a:spcAft>
                <a:spcPts val="0"/>
              </a:spcAft>
            </a:pPr>
            <a:r>
              <a:rPr sz="3400" b="1" i="0">
                <a:solidFill>
                  <a:srgbClr val="10427C"/>
                </a:solidFill>
                <a:latin typeface="Arial Narrow"/>
              </a:rPr>
              <a:t>0</a:t>
            </a:r>
          </a:p>
        </p:txBody>
      </p:sp>
      <p:sp>
        <p:nvSpPr>
          <p:cNvPr id="20" name="TextBox 19"/>
          <p:cNvSpPr txBox="1"/>
          <p:nvPr/>
        </p:nvSpPr>
        <p:spPr>
          <a:xfrm>
            <a:off x="6388455" y="2871215"/>
            <a:ext cx="2224963" cy="420623"/>
          </a:xfrm>
          <a:prstGeom prst="rect">
            <a:avLst/>
          </a:prstGeom>
          <a:noFill/>
        </p:spPr>
        <p:txBody>
          <a:bodyPr wrap="square" lIns="0" rIns="0" tIns="0" bIns="0" anchor="t">
            <a:spAutoFit/>
          </a:bodyPr>
          <a:lstStyle/>
          <a:p>
            <a:pPr algn="l">
              <a:lnSpc>
                <a:spcPct val="126000"/>
              </a:lnSpc>
              <a:spcAft>
                <a:spcPts val="0"/>
              </a:spcAft>
            </a:pPr>
            <a:r>
              <a:rPr sz="1050" b="0" i="0">
                <a:solidFill>
                  <a:srgbClr val="58595B"/>
                </a:solidFill>
                <a:latin typeface="Arial"/>
              </a:rPr>
              <a:t>new data from the grower
or from the neighbors</a:t>
            </a:r>
          </a:p>
        </p:txBody>
      </p:sp>
      <p:sp>
        <p:nvSpPr>
          <p:cNvPr id="21" name="Rounded Rectangle 20"/>
          <p:cNvSpPr/>
          <p:nvPr/>
        </p:nvSpPr>
        <p:spPr>
          <a:xfrm>
            <a:off x="8997467" y="2139696"/>
            <a:ext cx="2627299" cy="1280160"/>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98635" y="2295144"/>
            <a:ext cx="2224963" cy="548640"/>
          </a:xfrm>
          <a:prstGeom prst="rect">
            <a:avLst/>
          </a:prstGeom>
          <a:noFill/>
        </p:spPr>
        <p:txBody>
          <a:bodyPr wrap="square" lIns="0" rIns="0" tIns="0" bIns="0" anchor="t">
            <a:spAutoFit/>
          </a:bodyPr>
          <a:lstStyle/>
          <a:p>
            <a:pPr algn="l">
              <a:lnSpc>
                <a:spcPct val="100000"/>
              </a:lnSpc>
              <a:spcAft>
                <a:spcPts val="0"/>
              </a:spcAft>
            </a:pPr>
            <a:r>
              <a:rPr sz="3400" b="1" i="0">
                <a:solidFill>
                  <a:srgbClr val="10427C"/>
                </a:solidFill>
                <a:latin typeface="Arial Narrow"/>
              </a:rPr>
              <a:t>~2 min</a:t>
            </a:r>
          </a:p>
        </p:txBody>
      </p:sp>
      <p:sp>
        <p:nvSpPr>
          <p:cNvPr id="23" name="TextBox 22"/>
          <p:cNvSpPr txBox="1"/>
          <p:nvPr/>
        </p:nvSpPr>
        <p:spPr>
          <a:xfrm>
            <a:off x="9198635" y="2871215"/>
            <a:ext cx="2224963" cy="420623"/>
          </a:xfrm>
          <a:prstGeom prst="rect">
            <a:avLst/>
          </a:prstGeom>
          <a:noFill/>
        </p:spPr>
        <p:txBody>
          <a:bodyPr wrap="square" lIns="0" rIns="0" tIns="0" bIns="0" anchor="t">
            <a:spAutoFit/>
          </a:bodyPr>
          <a:lstStyle/>
          <a:p>
            <a:pPr algn="l">
              <a:lnSpc>
                <a:spcPct val="126000"/>
              </a:lnSpc>
              <a:spcAft>
                <a:spcPts val="0"/>
              </a:spcAft>
            </a:pPr>
            <a:r>
              <a:rPr sz="1050" b="0" i="0">
                <a:solidFill>
                  <a:srgbClr val="58595B"/>
                </a:solidFill>
                <a:latin typeface="Arial"/>
              </a:rPr>
              <a:t>of compute per field,
once, per year</a:t>
            </a:r>
          </a:p>
        </p:txBody>
      </p:sp>
      <p:sp>
        <p:nvSpPr>
          <p:cNvPr id="24" name="TextBox 23"/>
          <p:cNvSpPr txBox="1"/>
          <p:nvPr/>
        </p:nvSpPr>
        <p:spPr>
          <a:xfrm>
            <a:off x="566928" y="3712463"/>
            <a:ext cx="5349240" cy="1371600"/>
          </a:xfrm>
          <a:prstGeom prst="rect">
            <a:avLst/>
          </a:prstGeom>
          <a:noFill/>
        </p:spPr>
        <p:txBody>
          <a:bodyPr wrap="square" lIns="0" rIns="0" tIns="0" bIns="0" anchor="t">
            <a:spAutoFit/>
          </a:bodyPr>
          <a:lstStyle/>
          <a:p>
            <a:pPr algn="l">
              <a:lnSpc>
                <a:spcPct val="130000"/>
              </a:lnSpc>
              <a:spcAft>
                <a:spcPts val="0"/>
              </a:spcAft>
            </a:pPr>
            <a:r>
              <a:rPr sz="1250" b="1" i="0">
                <a:solidFill>
                  <a:srgbClr val="58595B"/>
                </a:solidFill>
                <a:latin typeface="Arial"/>
              </a:rPr>
              <a:t>The neighbors never have to enroll. </a:t>
            </a:r>
            <a:r>
              <a:rPr sz="1250" b="0" i="0">
                <a:solidFill>
                  <a:srgbClr val="58595B"/>
                </a:solidFill>
                <a:latin typeface="Arial"/>
              </a:rPr>
              <a:t>Their boundaries come from public USDA data and their cover is read from free satellite imagery. No neighbor is identified, contacted, or asked for anything.</a:t>
            </a:r>
          </a:p>
        </p:txBody>
      </p:sp>
      <p:sp>
        <p:nvSpPr>
          <p:cNvPr id="25" name="TextBox 24"/>
          <p:cNvSpPr txBox="1"/>
          <p:nvPr/>
        </p:nvSpPr>
        <p:spPr>
          <a:xfrm>
            <a:off x="6355080" y="3712463"/>
            <a:ext cx="5266944" cy="1371600"/>
          </a:xfrm>
          <a:prstGeom prst="rect">
            <a:avLst/>
          </a:prstGeom>
          <a:noFill/>
        </p:spPr>
        <p:txBody>
          <a:bodyPr wrap="square" lIns="0" rIns="0" tIns="0" bIns="0" anchor="t">
            <a:spAutoFit/>
          </a:bodyPr>
          <a:lstStyle/>
          <a:p>
            <a:pPr algn="l">
              <a:lnSpc>
                <a:spcPct val="130000"/>
              </a:lnSpc>
              <a:spcAft>
                <a:spcPts val="0"/>
              </a:spcAft>
            </a:pPr>
            <a:r>
              <a:rPr sz="1250" b="1" i="0">
                <a:solidFill>
                  <a:srgbClr val="58595B"/>
                </a:solidFill>
                <a:latin typeface="Arial"/>
              </a:rPr>
              <a:t>The member's field is the only one named. </a:t>
            </a:r>
            <a:r>
              <a:rPr sz="1250" b="0" i="0">
                <a:solidFill>
                  <a:srgbClr val="58595B"/>
                </a:solidFill>
                <a:latin typeface="Arial"/>
              </a:rPr>
              <a:t>Everything else is an anonymous distribution — which is also what makes it safe to show a grower where they sit.</a:t>
            </a:r>
          </a:p>
        </p:txBody>
      </p:sp>
      <p:sp>
        <p:nvSpPr>
          <p:cNvPr id="26" name="TextBox 25"/>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Boundaries: USDA FSA Common Land Unit, 2008 public release, which carries geometry and acreage only — every identifying attribute was stripped before release.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What counts as a neighbor</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A benchmark is only as good as its comparison group, so the filters are deliberate and stated.</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566928" y="2066543"/>
          <a:ext cx="11057838" cy="3310128"/>
        </p:xfrm>
        <a:graphic>
          <a:graphicData uri="http://schemas.openxmlformats.org/drawingml/2006/table">
            <a:tbl>
              <a:tblPr firstRow="1" bandRow="1">
                <a:tableStyleId>{5C22544A-7EE6-4342-B048-85BDC9FD1C3A}</a:tableStyleId>
              </a:tblPr>
              <a:tblGrid>
                <a:gridCol w="2086384"/>
                <a:gridCol w="6259154"/>
                <a:gridCol w="2712300"/>
              </a:tblGrid>
              <a:tr h="310896">
                <a:tc>
                  <a:txBody>
                    <a:bodyPr/>
                    <a:lstStyle/>
                    <a:p>
                      <a:pPr algn="l"/>
                      <a:r>
                        <a:rPr sz="1100" b="1">
                          <a:solidFill>
                            <a:srgbClr val="FFFFFF"/>
                          </a:solidFill>
                          <a:latin typeface="Arial Narrow"/>
                        </a:rPr>
                        <a:t>Filter</a:t>
                      </a:r>
                    </a:p>
                  </a:txBody>
                  <a:tcPr marL="82296" marR="82296" marT="27432" marB="27432" anchor="ctr">
                    <a:solidFill>
                      <a:srgbClr val="10427C"/>
                    </a:solidFill>
                  </a:tcPr>
                </a:tc>
                <a:tc>
                  <a:txBody>
                    <a:bodyPr/>
                    <a:lstStyle/>
                    <a:p>
                      <a:pPr algn="l"/>
                      <a:r>
                        <a:rPr sz="1100" b="1">
                          <a:solidFill>
                            <a:srgbClr val="FFFFFF"/>
                          </a:solidFill>
                          <a:latin typeface="Arial Narrow"/>
                        </a:rPr>
                        <a:t>Why</a:t>
                      </a:r>
                    </a:p>
                  </a:txBody>
                  <a:tcPr marL="82296" marR="82296" marT="27432" marB="27432" anchor="ctr">
                    <a:solidFill>
                      <a:srgbClr val="10427C"/>
                    </a:solidFill>
                  </a:tcPr>
                </a:tc>
                <a:tc>
                  <a:txBody>
                    <a:bodyPr/>
                    <a:lstStyle/>
                    <a:p>
                      <a:pPr algn="ctr"/>
                      <a:r>
                        <a:rPr sz="1100" b="1">
                          <a:solidFill>
                            <a:srgbClr val="FFFFFF"/>
                          </a:solidFill>
                          <a:latin typeface="Arial Narrow"/>
                        </a:rPr>
                        <a:t>Effect in Sumner County</a:t>
                      </a:r>
                    </a:p>
                  </a:txBody>
                  <a:tcPr marL="82296" marR="82296" marT="27432" marB="27432" anchor="ctr">
                    <a:solidFill>
                      <a:srgbClr val="10427C"/>
                    </a:solidFill>
                  </a:tcPr>
                </a:tc>
              </a:tr>
              <a:tr h="749808">
                <a:tc>
                  <a:txBody>
                    <a:bodyPr/>
                    <a:lstStyle/>
                    <a:p>
                      <a:pPr algn="l"/>
                      <a:r>
                        <a:rPr sz="1100" b="1">
                          <a:solidFill>
                            <a:srgbClr val="10427C"/>
                          </a:solidFill>
                          <a:latin typeface="Arial"/>
                        </a:rPr>
                        <a:t>40–400 acres</a:t>
                      </a:r>
                    </a:p>
                  </a:txBody>
                  <a:tcPr marL="82296" marR="82296" marT="27432" marB="27432" anchor="ctr">
                    <a:solidFill>
                      <a:srgbClr val="FFFFFF"/>
                    </a:solidFill>
                  </a:tcPr>
                </a:tc>
                <a:tc>
                  <a:txBody>
                    <a:bodyPr/>
                    <a:lstStyle/>
                    <a:p>
                      <a:pPr algn="l"/>
                      <a:r>
                        <a:rPr sz="1100" b="0">
                          <a:solidFill>
                            <a:srgbClr val="444444"/>
                          </a:solidFill>
                          <a:latin typeface="Arial"/>
                        </a:rPr>
                        <a:t>Below 40 the satellite sample thins and edge pixels dominate; above 400 a single CLU unit is usually rangeland</a:t>
                      </a:r>
                    </a:p>
                  </a:txBody>
                  <a:tcPr marL="82296" marR="82296" marT="27432" marB="27432" anchor="ctr">
                    <a:solidFill>
                      <a:srgbClr val="FFFFFF"/>
                    </a:solidFill>
                  </a:tcPr>
                </a:tc>
                <a:tc>
                  <a:txBody>
                    <a:bodyPr/>
                    <a:lstStyle/>
                    <a:p>
                      <a:pPr algn="ctr"/>
                      <a:r>
                        <a:rPr sz="1100" b="0">
                          <a:solidFill>
                            <a:srgbClr val="444444"/>
                          </a:solidFill>
                          <a:latin typeface="Arial"/>
                        </a:rPr>
                        <a:t>25,576 → 4,840</a:t>
                      </a:r>
                    </a:p>
                  </a:txBody>
                  <a:tcPr marL="82296" marR="82296" marT="27432" marB="27432" anchor="ctr">
                    <a:solidFill>
                      <a:srgbClr val="FFFFFF"/>
                    </a:solidFill>
                  </a:tcPr>
                </a:tc>
              </a:tr>
              <a:tr h="749808">
                <a:tc>
                  <a:txBody>
                    <a:bodyPr/>
                    <a:lstStyle/>
                    <a:p>
                      <a:pPr algn="l"/>
                      <a:r>
                        <a:rPr sz="1100" b="1">
                          <a:solidFill>
                            <a:srgbClr val="10427C"/>
                          </a:solidFill>
                          <a:latin typeface="Arial"/>
                        </a:rPr>
                        <a:t>Compact shape</a:t>
                      </a:r>
                    </a:p>
                  </a:txBody>
                  <a:tcPr marL="82296" marR="82296" marT="27432" marB="27432" anchor="ctr">
                    <a:solidFill>
                      <a:srgbClr val="F2F2F2"/>
                    </a:solidFill>
                  </a:tcPr>
                </a:tc>
                <a:tc>
                  <a:txBody>
                    <a:bodyPr/>
                    <a:lstStyle/>
                    <a:p>
                      <a:pPr algn="l"/>
                      <a:r>
                        <a:rPr sz="1100" b="0">
                          <a:solidFill>
                            <a:srgbClr val="444444"/>
                          </a:solidFill>
                          <a:latin typeface="Arial"/>
                        </a:rPr>
                        <a:t>Grass waterways, terraces and road verges are all separate units in the CLU, and all are long and thin</a:t>
                      </a:r>
                    </a:p>
                  </a:txBody>
                  <a:tcPr marL="82296" marR="82296" marT="27432" marB="27432" anchor="ctr">
                    <a:solidFill>
                      <a:srgbClr val="F2F2F2"/>
                    </a:solidFill>
                  </a:tcPr>
                </a:tc>
                <a:tc>
                  <a:txBody>
                    <a:bodyPr/>
                    <a:lstStyle/>
                    <a:p>
                      <a:pPr algn="ctr"/>
                      <a:r>
                        <a:rPr sz="1100" b="0">
                          <a:solidFill>
                            <a:srgbClr val="444444"/>
                          </a:solidFill>
                          <a:latin typeface="Arial"/>
                        </a:rPr>
                        <a:t>included above</a:t>
                      </a:r>
                    </a:p>
                  </a:txBody>
                  <a:tcPr marL="82296" marR="82296" marT="27432" marB="27432" anchor="ctr">
                    <a:solidFill>
                      <a:srgbClr val="F2F2F2"/>
                    </a:solidFill>
                  </a:tcPr>
                </a:tc>
              </a:tr>
              <a:tr h="749808">
                <a:tc>
                  <a:txBody>
                    <a:bodyPr/>
                    <a:lstStyle/>
                    <a:p>
                      <a:pPr algn="l"/>
                      <a:r>
                        <a:rPr sz="1100" b="1">
                          <a:solidFill>
                            <a:srgbClr val="10427C"/>
                          </a:solidFill>
                          <a:latin typeface="Arial"/>
                        </a:rPr>
                        <a:t>Cropland, 3 of 4 years</a:t>
                      </a:r>
                    </a:p>
                  </a:txBody>
                  <a:tcPr marL="82296" marR="82296" marT="27432" marB="27432" anchor="ctr">
                    <a:solidFill>
                      <a:srgbClr val="FFFFFF"/>
                    </a:solidFill>
                  </a:tcPr>
                </a:tc>
                <a:tc>
                  <a:txBody>
                    <a:bodyPr/>
                    <a:lstStyle/>
                    <a:p>
                      <a:pPr algn="l"/>
                      <a:r>
                        <a:rPr sz="1100" b="0">
                          <a:solidFill>
                            <a:srgbClr val="444444"/>
                          </a:solidFill>
                          <a:latin typeface="Arial"/>
                        </a:rPr>
                        <a:t>Dominant USDA crop class at 60%+ purity. Doubles as a staleness check on an 18-year-old boundary</a:t>
                      </a:r>
                    </a:p>
                  </a:txBody>
                  <a:tcPr marL="82296" marR="82296" marT="27432" marB="27432" anchor="ctr">
                    <a:solidFill>
                      <a:srgbClr val="FFFFFF"/>
                    </a:solidFill>
                  </a:tcPr>
                </a:tc>
                <a:tc>
                  <a:txBody>
                    <a:bodyPr/>
                    <a:lstStyle/>
                    <a:p>
                      <a:pPr algn="ctr"/>
                      <a:r>
                        <a:rPr sz="1100" b="0">
                          <a:solidFill>
                            <a:srgbClr val="444444"/>
                          </a:solidFill>
                          <a:latin typeface="Arial"/>
                        </a:rPr>
                        <a:t>4,840 → 3,610</a:t>
                      </a:r>
                    </a:p>
                  </a:txBody>
                  <a:tcPr marL="82296" marR="82296" marT="27432" marB="27432" anchor="ctr">
                    <a:solidFill>
                      <a:srgbClr val="FFFFFF"/>
                    </a:solidFill>
                  </a:tcPr>
                </a:tc>
              </a:tr>
              <a:tr h="749808">
                <a:tc>
                  <a:txBody>
                    <a:bodyPr/>
                    <a:lstStyle/>
                    <a:p>
                      <a:pPr algn="l"/>
                      <a:r>
                        <a:rPr sz="1100" b="1">
                          <a:solidFill>
                            <a:srgbClr val="10427C"/>
                          </a:solidFill>
                          <a:latin typeface="Arial"/>
                        </a:rPr>
                        <a:t>No perennials</a:t>
                      </a:r>
                    </a:p>
                  </a:txBody>
                  <a:tcPr marL="82296" marR="82296" marT="27432" marB="27432" anchor="ctr">
                    <a:solidFill>
                      <a:srgbClr val="F2F2F2"/>
                    </a:solidFill>
                  </a:tcPr>
                </a:tc>
                <a:tc>
                  <a:txBody>
                    <a:bodyPr/>
                    <a:lstStyle/>
                    <a:p>
                      <a:pPr algn="l"/>
                      <a:r>
                        <a:rPr sz="1100" b="0">
                          <a:solidFill>
                            <a:srgbClr val="444444"/>
                          </a:solidFill>
                          <a:latin typeface="Arial"/>
                        </a:rPr>
                        <a:t>An orchard has a permanent canopy and an alfalfa stand is green for years — both score high cover for reasons unrelated to the management being compared</a:t>
                      </a:r>
                    </a:p>
                  </a:txBody>
                  <a:tcPr marL="82296" marR="82296" marT="27432" marB="27432" anchor="ctr">
                    <a:solidFill>
                      <a:srgbClr val="F2F2F2"/>
                    </a:solidFill>
                  </a:tcPr>
                </a:tc>
                <a:tc>
                  <a:txBody>
                    <a:bodyPr/>
                    <a:lstStyle/>
                    <a:p>
                      <a:pPr algn="ctr"/>
                      <a:r>
                        <a:rPr sz="1100" b="0">
                          <a:solidFill>
                            <a:srgbClr val="444444"/>
                          </a:solidFill>
                          <a:latin typeface="Arial"/>
                        </a:rPr>
                        <a:t>removes pecan groves,
hay and orchards</a:t>
                      </a:r>
                    </a:p>
                  </a:txBody>
                  <a:tcPr marL="82296" marR="82296" marT="27432" marB="27432" anchor="ctr">
                    <a:solidFill>
                      <a:srgbClr val="F2F2F2"/>
                    </a:solidFill>
                  </a:tcPr>
                </a:tc>
              </a:tr>
            </a:tbl>
          </a:graphicData>
        </a:graphic>
      </p:graphicFrame>
      <p:sp>
        <p:nvSpPr>
          <p:cNvPr id="13" name="TextBox 12"/>
          <p:cNvSpPr txBox="1"/>
          <p:nvPr/>
        </p:nvSpPr>
        <p:spPr>
          <a:xfrm>
            <a:off x="566928" y="5303520"/>
            <a:ext cx="11057839" cy="457200"/>
          </a:xfrm>
          <a:prstGeom prst="rect">
            <a:avLst/>
          </a:prstGeom>
          <a:noFill/>
        </p:spPr>
        <p:txBody>
          <a:bodyPr wrap="square" lIns="0" rIns="0" tIns="0" bIns="0" anchor="t">
            <a:spAutoFit/>
          </a:bodyPr>
          <a:lstStyle/>
          <a:p>
            <a:pPr algn="l">
              <a:lnSpc>
                <a:spcPct val="130000"/>
              </a:lnSpc>
              <a:spcAft>
                <a:spcPts val="0"/>
              </a:spcAft>
            </a:pPr>
            <a:r>
              <a:rPr sz="1250" b="1" i="0">
                <a:solidFill>
                  <a:srgbClr val="58595B"/>
                </a:solidFill>
                <a:latin typeface="Arial"/>
              </a:rPr>
              <a:t>Then the radius grows until it holds enough of them. </a:t>
            </a:r>
            <a:r>
              <a:rPr sz="1250" b="0" i="0">
                <a:solidFill>
                  <a:srgbClr val="58595B"/>
                </a:solidFill>
                <a:latin typeface="Arial"/>
              </a:rPr>
              <a:t>A dense county needs 2.5 km; a sparser one needs 3.9.</a:t>
            </a:r>
          </a:p>
        </p:txBody>
      </p:sp>
      <p:sp>
        <p:nvSpPr>
          <p:cNvPr id="14" name="TextBox 13"/>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Mitchell County put four pecan groves into a cohort of fifty before the perennial filter existed. Filters like this are the difference between a comparison and a coincidence.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One step further: compare like with like</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A neighbor growing a different rotation is still the wrong comparison. Matching on crop sequence is the single largest improvement available.</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_rotation_match.png"/>
          <p:cNvPicPr>
            <a:picLocks noChangeAspect="1"/>
          </p:cNvPicPr>
          <p:nvPr/>
        </p:nvPicPr>
        <p:blipFill>
          <a:blip r:embed="rId3"/>
          <a:stretch>
            <a:fillRect/>
          </a:stretch>
        </p:blipFill>
        <p:spPr>
          <a:xfrm>
            <a:off x="1790906" y="2011680"/>
            <a:ext cx="8609883" cy="3017520"/>
          </a:xfrm>
          <a:prstGeom prst="rect">
            <a:avLst/>
          </a:prstGeom>
        </p:spPr>
      </p:pic>
      <p:sp>
        <p:nvSpPr>
          <p:cNvPr id="13" name="TextBox 12"/>
          <p:cNvSpPr txBox="1"/>
          <p:nvPr/>
        </p:nvSpPr>
        <p:spPr>
          <a:xfrm>
            <a:off x="566928" y="5230368"/>
            <a:ext cx="5349240" cy="1005840"/>
          </a:xfrm>
          <a:prstGeom prst="rect">
            <a:avLst/>
          </a:prstGeom>
          <a:noFill/>
        </p:spPr>
        <p:txBody>
          <a:bodyPr wrap="square" lIns="0" rIns="0" tIns="0" bIns="0" anchor="t">
            <a:spAutoFit/>
          </a:bodyPr>
          <a:lstStyle/>
          <a:p>
            <a:pPr algn="l">
              <a:lnSpc>
                <a:spcPct val="130000"/>
              </a:lnSpc>
              <a:spcAft>
                <a:spcPts val="0"/>
              </a:spcAft>
            </a:pPr>
            <a:r>
              <a:rPr sz="1150" b="1" i="0">
                <a:solidFill>
                  <a:srgbClr val="58595B"/>
                </a:solidFill>
                <a:latin typeface="Arial"/>
              </a:rPr>
              <a:t>Crop sequence explains more of the spread inside a county than county explains between them. </a:t>
            </a:r>
            <a:r>
              <a:rPr sz="1150" b="0" i="0">
                <a:solidFill>
                  <a:srgbClr val="58595B"/>
                </a:solidFill>
                <a:latin typeface="Arial"/>
              </a:rPr>
              <a:t>Match this year and last and it accounts for 78% of the variation in pre-plant cover - so an unmatched local benchmark is still partly ranking rotations.</a:t>
            </a:r>
          </a:p>
        </p:txBody>
      </p:sp>
      <p:sp>
        <p:nvSpPr>
          <p:cNvPr id="14" name="TextBox 13"/>
          <p:cNvSpPr txBox="1"/>
          <p:nvPr/>
        </p:nvSpPr>
        <p:spPr>
          <a:xfrm>
            <a:off x="6355080" y="5230368"/>
            <a:ext cx="5266944" cy="1005840"/>
          </a:xfrm>
          <a:prstGeom prst="rect">
            <a:avLst/>
          </a:prstGeom>
          <a:noFill/>
        </p:spPr>
        <p:txBody>
          <a:bodyPr wrap="square" lIns="0" rIns="0" tIns="0" bIns="0" anchor="t">
            <a:spAutoFit/>
          </a:bodyPr>
          <a:lstStyle/>
          <a:p>
            <a:pPr algn="l">
              <a:lnSpc>
                <a:spcPct val="130000"/>
              </a:lnSpc>
              <a:spcAft>
                <a:spcPts val="0"/>
              </a:spcAft>
            </a:pPr>
            <a:r>
              <a:rPr sz="1150" b="1" i="0">
                <a:solidFill>
                  <a:srgbClr val="58595B"/>
                </a:solidFill>
                <a:latin typeface="Arial"/>
              </a:rPr>
              <a:t>But the matched cohort only survives where rotations repeat. </a:t>
            </a:r>
            <a:r>
              <a:rPr sz="1150" b="0" i="0">
                <a:solidFill>
                  <a:srgbClr val="58595B"/>
                </a:solidFill>
                <a:latin typeface="Arial"/>
              </a:rPr>
              <a:t>In Champaign, every corn field followed soybeans, so matching is free. In Kansas and Georgia, requiring two years leaves six or seven neighbors - too few to rank anyone against.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Champaign County, Illinois</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Corn and soybeans. 50 neighbors inside 2.5 km.</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1_cohort_map.png"/>
          <p:cNvPicPr>
            <a:picLocks noChangeAspect="1"/>
          </p:cNvPicPr>
          <p:nvPr/>
        </p:nvPicPr>
        <p:blipFill>
          <a:blip r:embed="rId3"/>
          <a:stretch>
            <a:fillRect/>
          </a:stretch>
        </p:blipFill>
        <p:spPr>
          <a:xfrm>
            <a:off x="3923867" y="1920240"/>
            <a:ext cx="4343961" cy="3931920"/>
          </a:xfrm>
          <a:prstGeom prst="rect">
            <a:avLst/>
          </a:prstGeom>
        </p:spPr>
      </p:pic>
      <p:sp>
        <p:nvSpPr>
          <p:cNvPr id="13" name="TextBox 12"/>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The dashed circle is the radius needed to reach 50 qualifying fields. Fields inside it that are not outlined failed a filter — the cohort is a screened subset of the neighborhood, not everything in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Sumner County, Kansas</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Winter wheat, wheat/soybean double crop, milo and cotton. 100 neighbors inside 4.3 km.</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1_cohort_map.png"/>
          <p:cNvPicPr>
            <a:picLocks noChangeAspect="1"/>
          </p:cNvPicPr>
          <p:nvPr/>
        </p:nvPicPr>
        <p:blipFill>
          <a:blip r:embed="rId3"/>
          <a:stretch>
            <a:fillRect/>
          </a:stretch>
        </p:blipFill>
        <p:spPr>
          <a:xfrm>
            <a:off x="4031261" y="1920240"/>
            <a:ext cx="4129173" cy="3931920"/>
          </a:xfrm>
          <a:prstGeom prst="rect">
            <a:avLst/>
          </a:prstGeom>
        </p:spPr>
      </p:pic>
      <p:sp>
        <p:nvSpPr>
          <p:cNvPr id="13" name="TextBox 12"/>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A wider radius, because the qualifying fields are spread more thinly here. The dark wooded band running southwest is a riparian corridor - several cohort fields wrap around it, which is why their shapes are irregular. This is the 100-field cohort; the other two counties use 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Mitchell County, Georgia</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Peanuts and cotton, almost entirely center pivot. 50 neighbors inside 3.9 km.</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1_cohort_map.png"/>
          <p:cNvPicPr>
            <a:picLocks noChangeAspect="1"/>
          </p:cNvPicPr>
          <p:nvPr/>
        </p:nvPicPr>
        <p:blipFill>
          <a:blip r:embed="rId3"/>
          <a:stretch>
            <a:fillRect/>
          </a:stretch>
        </p:blipFill>
        <p:spPr>
          <a:xfrm>
            <a:off x="3965509" y="1920240"/>
            <a:ext cx="4260676" cy="3931920"/>
          </a:xfrm>
          <a:prstGeom prst="rect">
            <a:avLst/>
          </a:prstGeom>
        </p:spPr>
      </p:pic>
      <p:sp>
        <p:nvSpPr>
          <p:cNvPr id="13" name="TextBox 12"/>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A different farming system in every respect — and the method did not change between this slide and the last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This is not a concept. It ran.</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 y="1920240"/>
            <a:ext cx="2627299" cy="1280160"/>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075688"/>
            <a:ext cx="2224963" cy="548640"/>
          </a:xfrm>
          <a:prstGeom prst="rect">
            <a:avLst/>
          </a:prstGeom>
          <a:noFill/>
        </p:spPr>
        <p:txBody>
          <a:bodyPr wrap="square" lIns="0" rIns="0" tIns="0" bIns="0" anchor="t">
            <a:spAutoFit/>
          </a:bodyPr>
          <a:lstStyle/>
          <a:p>
            <a:pPr algn="l">
              <a:lnSpc>
                <a:spcPct val="100000"/>
              </a:lnSpc>
              <a:spcAft>
                <a:spcPts val="0"/>
              </a:spcAft>
            </a:pPr>
            <a:r>
              <a:rPr sz="3400" b="1" i="0">
                <a:solidFill>
                  <a:srgbClr val="10427C"/>
                </a:solidFill>
                <a:latin typeface="Arial Narrow"/>
              </a:rPr>
              <a:t>203</a:t>
            </a:r>
          </a:p>
        </p:txBody>
      </p:sp>
      <p:sp>
        <p:nvSpPr>
          <p:cNvPr id="13" name="TextBox 12"/>
          <p:cNvSpPr txBox="1"/>
          <p:nvPr/>
        </p:nvSpPr>
        <p:spPr>
          <a:xfrm>
            <a:off x="768096" y="2651760"/>
            <a:ext cx="2224963" cy="420623"/>
          </a:xfrm>
          <a:prstGeom prst="rect">
            <a:avLst/>
          </a:prstGeom>
          <a:noFill/>
        </p:spPr>
        <p:txBody>
          <a:bodyPr wrap="square" lIns="0" rIns="0" tIns="0" bIns="0" anchor="t">
            <a:spAutoFit/>
          </a:bodyPr>
          <a:lstStyle/>
          <a:p>
            <a:pPr algn="l">
              <a:lnSpc>
                <a:spcPct val="126000"/>
              </a:lnSpc>
              <a:spcAft>
                <a:spcPts val="0"/>
              </a:spcAft>
            </a:pPr>
            <a:r>
              <a:rPr sz="1050" b="0" i="0">
                <a:solidFill>
                  <a:srgbClr val="58595B"/>
                </a:solidFill>
                <a:latin typeface="Arial"/>
              </a:rPr>
              <a:t>fields benchmarked
across three counties</a:t>
            </a:r>
          </a:p>
        </p:txBody>
      </p:sp>
      <p:sp>
        <p:nvSpPr>
          <p:cNvPr id="14" name="Rounded Rectangle 13"/>
          <p:cNvSpPr/>
          <p:nvPr/>
        </p:nvSpPr>
        <p:spPr>
          <a:xfrm>
            <a:off x="3377107" y="1920240"/>
            <a:ext cx="2627299" cy="1280160"/>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8275" y="2075688"/>
            <a:ext cx="2224963" cy="548640"/>
          </a:xfrm>
          <a:prstGeom prst="rect">
            <a:avLst/>
          </a:prstGeom>
          <a:noFill/>
        </p:spPr>
        <p:txBody>
          <a:bodyPr wrap="square" lIns="0" rIns="0" tIns="0" bIns="0" anchor="t">
            <a:spAutoFit/>
          </a:bodyPr>
          <a:lstStyle/>
          <a:p>
            <a:pPr algn="l">
              <a:lnSpc>
                <a:spcPct val="100000"/>
              </a:lnSpc>
              <a:spcAft>
                <a:spcPts val="0"/>
              </a:spcAft>
            </a:pPr>
            <a:r>
              <a:rPr sz="3400" b="1" i="0">
                <a:solidFill>
                  <a:srgbClr val="10427C"/>
                </a:solidFill>
                <a:latin typeface="Arial Narrow"/>
              </a:rPr>
              <a:t>1,015</a:t>
            </a:r>
          </a:p>
        </p:txBody>
      </p:sp>
      <p:sp>
        <p:nvSpPr>
          <p:cNvPr id="16" name="TextBox 15"/>
          <p:cNvSpPr txBox="1"/>
          <p:nvPr/>
        </p:nvSpPr>
        <p:spPr>
          <a:xfrm>
            <a:off x="3578275" y="2651760"/>
            <a:ext cx="2224963" cy="420623"/>
          </a:xfrm>
          <a:prstGeom prst="rect">
            <a:avLst/>
          </a:prstGeom>
          <a:noFill/>
        </p:spPr>
        <p:txBody>
          <a:bodyPr wrap="square" lIns="0" rIns="0" tIns="0" bIns="0" anchor="t">
            <a:spAutoFit/>
          </a:bodyPr>
          <a:lstStyle/>
          <a:p>
            <a:pPr algn="l">
              <a:lnSpc>
                <a:spcPct val="126000"/>
              </a:lnSpc>
              <a:spcAft>
                <a:spcPts val="0"/>
              </a:spcAft>
            </a:pPr>
            <a:r>
              <a:rPr sz="1050" b="0" i="0">
                <a:solidFill>
                  <a:srgbClr val="58595B"/>
                </a:solidFill>
                <a:latin typeface="Arial"/>
              </a:rPr>
              <a:t>field-years
2022 to 2026</a:t>
            </a:r>
          </a:p>
        </p:txBody>
      </p:sp>
      <p:sp>
        <p:nvSpPr>
          <p:cNvPr id="17" name="Rounded Rectangle 16"/>
          <p:cNvSpPr/>
          <p:nvPr/>
        </p:nvSpPr>
        <p:spPr>
          <a:xfrm>
            <a:off x="6187287" y="1920240"/>
            <a:ext cx="2627299" cy="1280160"/>
          </a:xfrm>
          <a:prstGeom prst="roundRect">
            <a:avLst>
              <a:gd name="adj" fmla="val 6000"/>
            </a:avLst>
          </a:prstGeom>
          <a:solidFill>
            <a:srgbClr val="FFFFFF"/>
          </a:solidFill>
          <a:ln w="19050">
            <a:solidFill>
              <a:srgbClr val="F46C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8455" y="2075688"/>
            <a:ext cx="2224963" cy="548640"/>
          </a:xfrm>
          <a:prstGeom prst="rect">
            <a:avLst/>
          </a:prstGeom>
          <a:noFill/>
        </p:spPr>
        <p:txBody>
          <a:bodyPr wrap="square" lIns="0" rIns="0" tIns="0" bIns="0" anchor="t">
            <a:spAutoFit/>
          </a:bodyPr>
          <a:lstStyle/>
          <a:p>
            <a:pPr algn="l">
              <a:lnSpc>
                <a:spcPct val="100000"/>
              </a:lnSpc>
              <a:spcAft>
                <a:spcPts val="0"/>
              </a:spcAft>
            </a:pPr>
            <a:r>
              <a:rPr sz="3400" b="1" i="0">
                <a:solidFill>
                  <a:srgbClr val="F46C09"/>
                </a:solidFill>
                <a:latin typeface="Arial Narrow"/>
              </a:rPr>
              <a:t>0</a:t>
            </a:r>
          </a:p>
        </p:txBody>
      </p:sp>
      <p:sp>
        <p:nvSpPr>
          <p:cNvPr id="19" name="TextBox 18"/>
          <p:cNvSpPr txBox="1"/>
          <p:nvPr/>
        </p:nvSpPr>
        <p:spPr>
          <a:xfrm>
            <a:off x="6388455" y="2651760"/>
            <a:ext cx="2224963" cy="420623"/>
          </a:xfrm>
          <a:prstGeom prst="rect">
            <a:avLst/>
          </a:prstGeom>
          <a:noFill/>
        </p:spPr>
        <p:txBody>
          <a:bodyPr wrap="square" lIns="0" rIns="0" tIns="0" bIns="0" anchor="t">
            <a:spAutoFit/>
          </a:bodyPr>
          <a:lstStyle/>
          <a:p>
            <a:pPr algn="l">
              <a:lnSpc>
                <a:spcPct val="126000"/>
              </a:lnSpc>
              <a:spcAft>
                <a:spcPts val="0"/>
              </a:spcAft>
            </a:pPr>
            <a:r>
              <a:rPr sz="1050" b="0" i="0">
                <a:solidFill>
                  <a:srgbClr val="58595B"/>
                </a:solidFill>
                <a:latin typeface="Arial"/>
              </a:rPr>
              <a:t>failures
in 493 minutes</a:t>
            </a:r>
          </a:p>
        </p:txBody>
      </p:sp>
      <p:sp>
        <p:nvSpPr>
          <p:cNvPr id="20" name="Rounded Rectangle 19"/>
          <p:cNvSpPr/>
          <p:nvPr/>
        </p:nvSpPr>
        <p:spPr>
          <a:xfrm>
            <a:off x="8997467" y="1920240"/>
            <a:ext cx="2627299" cy="1280160"/>
          </a:xfrm>
          <a:prstGeom prst="roundRect">
            <a:avLst>
              <a:gd name="adj" fmla="val 6000"/>
            </a:avLst>
          </a:prstGeom>
          <a:solidFill>
            <a:srgbClr val="FFFFFF"/>
          </a:solidFill>
          <a:ln w="19050">
            <a:solidFill>
              <a:srgbClr val="1042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8635" y="2075688"/>
            <a:ext cx="2224963" cy="548640"/>
          </a:xfrm>
          <a:prstGeom prst="rect">
            <a:avLst/>
          </a:prstGeom>
          <a:noFill/>
        </p:spPr>
        <p:txBody>
          <a:bodyPr wrap="square" lIns="0" rIns="0" tIns="0" bIns="0" anchor="t">
            <a:spAutoFit/>
          </a:bodyPr>
          <a:lstStyle/>
          <a:p>
            <a:pPr algn="l">
              <a:lnSpc>
                <a:spcPct val="100000"/>
              </a:lnSpc>
              <a:spcAft>
                <a:spcPts val="0"/>
              </a:spcAft>
            </a:pPr>
            <a:r>
              <a:rPr sz="3400" b="1" i="0">
                <a:solidFill>
                  <a:srgbClr val="10427C"/>
                </a:solidFill>
                <a:latin typeface="Arial Narrow"/>
              </a:rPr>
              <a:t>$0</a:t>
            </a:r>
          </a:p>
        </p:txBody>
      </p:sp>
      <p:sp>
        <p:nvSpPr>
          <p:cNvPr id="22" name="TextBox 21"/>
          <p:cNvSpPr txBox="1"/>
          <p:nvPr/>
        </p:nvSpPr>
        <p:spPr>
          <a:xfrm>
            <a:off x="9198635" y="2651760"/>
            <a:ext cx="2224963" cy="420623"/>
          </a:xfrm>
          <a:prstGeom prst="rect">
            <a:avLst/>
          </a:prstGeom>
          <a:noFill/>
        </p:spPr>
        <p:txBody>
          <a:bodyPr wrap="square" lIns="0" rIns="0" tIns="0" bIns="0" anchor="t">
            <a:spAutoFit/>
          </a:bodyPr>
          <a:lstStyle/>
          <a:p>
            <a:pPr algn="l">
              <a:lnSpc>
                <a:spcPct val="126000"/>
              </a:lnSpc>
              <a:spcAft>
                <a:spcPts val="0"/>
              </a:spcAft>
            </a:pPr>
            <a:r>
              <a:rPr sz="1050" b="0" i="0">
                <a:solidFill>
                  <a:srgbClr val="58595B"/>
                </a:solidFill>
                <a:latin typeface="Arial"/>
              </a:rPr>
              <a:t>in data cost: Sentinel-2,
USDA CDL and CLU</a:t>
            </a:r>
          </a:p>
        </p:txBody>
      </p:sp>
      <p:sp>
        <p:nvSpPr>
          <p:cNvPr id="23" name="TextBox 22"/>
          <p:cNvSpPr txBox="1"/>
          <p:nvPr/>
        </p:nvSpPr>
        <p:spPr>
          <a:xfrm>
            <a:off x="566928" y="3611880"/>
            <a:ext cx="5349240" cy="1371600"/>
          </a:xfrm>
          <a:prstGeom prst="rect">
            <a:avLst/>
          </a:prstGeom>
          <a:noFill/>
        </p:spPr>
        <p:txBody>
          <a:bodyPr wrap="square" lIns="0" rIns="0" tIns="0" bIns="0" anchor="t">
            <a:spAutoFit/>
          </a:bodyPr>
          <a:lstStyle/>
          <a:p>
            <a:pPr algn="l">
              <a:lnSpc>
                <a:spcPct val="130000"/>
              </a:lnSpc>
              <a:spcAft>
                <a:spcPts val="0"/>
              </a:spcAft>
            </a:pPr>
            <a:r>
              <a:rPr sz="1250" b="1" i="0">
                <a:solidFill>
                  <a:srgbClr val="58595B"/>
                </a:solidFill>
                <a:latin typeface="Arial"/>
              </a:rPr>
              <a:t>Three rotations, one unchanged method. </a:t>
            </a:r>
            <a:r>
              <a:rPr sz="1250" b="0" i="0">
                <a:solidFill>
                  <a:srgbClr val="58595B"/>
                </a:solidFill>
                <a:latin typeface="Arial"/>
              </a:rPr>
              <a:t>Corn/soy, winter wheat with double crop, and peanut/cotton under pivot. No per-county tuning.</a:t>
            </a:r>
          </a:p>
        </p:txBody>
      </p:sp>
      <p:sp>
        <p:nvSpPr>
          <p:cNvPr id="24" name="TextBox 23"/>
          <p:cNvSpPr txBox="1"/>
          <p:nvPr/>
        </p:nvSpPr>
        <p:spPr>
          <a:xfrm>
            <a:off x="6355080" y="3611880"/>
            <a:ext cx="5266944" cy="1371600"/>
          </a:xfrm>
          <a:prstGeom prst="rect">
            <a:avLst/>
          </a:prstGeom>
          <a:noFill/>
        </p:spPr>
        <p:txBody>
          <a:bodyPr wrap="square" lIns="0" rIns="0" tIns="0" bIns="0" anchor="t">
            <a:spAutoFit/>
          </a:bodyPr>
          <a:lstStyle/>
          <a:p>
            <a:pPr algn="l">
              <a:lnSpc>
                <a:spcPct val="130000"/>
              </a:lnSpc>
              <a:spcAft>
                <a:spcPts val="0"/>
              </a:spcAft>
            </a:pPr>
            <a:r>
              <a:rPr sz="1250" b="1" i="0">
                <a:solidFill>
                  <a:srgbClr val="58595B"/>
                </a:solidFill>
                <a:latin typeface="Arial"/>
              </a:rPr>
              <a:t>It uses imagery we already download. </a:t>
            </a:r>
            <a:r>
              <a:rPr sz="1250" b="0" i="0">
                <a:solidFill>
                  <a:srgbClr val="58595B"/>
                </a:solidFill>
                <a:latin typeface="Arial"/>
              </a:rPr>
              <a:t>Every number here came from a pass the pipeline makes anyway for any field it is given.</a:t>
            </a:r>
          </a:p>
        </p:txBody>
      </p:sp>
      <p:sp>
        <p:nvSpPr>
          <p:cNvPr id="25" name="TextBox 24"/>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Run on one laptop. Per-field cost ranged from 1.5 minutes in Illinois to 2.7 in Georgia, where cloud forces more scenes to be read.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What it measures: how covered the ground is</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Soil armor is the share of ground covered by anything at all — living plants or crop residue.</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011680"/>
            <a:ext cx="5349240" cy="2194560"/>
          </a:xfrm>
          <a:prstGeom prst="rect">
            <a:avLst/>
          </a:prstGeom>
          <a:noFill/>
        </p:spPr>
        <p:txBody>
          <a:bodyPr wrap="square" lIns="0" rIns="0" tIns="0" bIns="0" anchor="t">
            <a:spAutoFit/>
          </a:bodyPr>
          <a:lstStyle/>
          <a:p>
            <a:pPr algn="l">
              <a:lnSpc>
                <a:spcPct val="130000"/>
              </a:lnSpc>
              <a:spcAft>
                <a:spcPts val="700"/>
              </a:spcAft>
            </a:pPr>
            <a:r>
              <a:rPr sz="1250" b="0" i="0">
                <a:solidFill>
                  <a:srgbClr val="58595B"/>
                </a:solidFill>
                <a:latin typeface="Arial"/>
              </a:rPr>
              <a:t>Every pixel is split into three parts that add to one: </a:t>
            </a:r>
            <a:r>
              <a:rPr sz="1250" b="1" i="0">
                <a:solidFill>
                  <a:srgbClr val="58595B"/>
                </a:solidFill>
                <a:latin typeface="Arial"/>
              </a:rPr>
              <a:t>living green cover</a:t>
            </a:r>
            <a:r>
              <a:rPr sz="1250" b="0" i="0">
                <a:solidFill>
                  <a:srgbClr val="58595B"/>
                </a:solidFill>
                <a:latin typeface="Arial"/>
              </a:rPr>
              <a:t>, </a:t>
            </a:r>
            <a:r>
              <a:rPr sz="1250" b="1" i="0">
                <a:solidFill>
                  <a:srgbClr val="58595B"/>
                </a:solidFill>
                <a:latin typeface="Arial"/>
              </a:rPr>
              <a:t>crop residue</a:t>
            </a:r>
            <a:r>
              <a:rPr sz="1250" b="0" i="0">
                <a:solidFill>
                  <a:srgbClr val="58595B"/>
                </a:solidFill>
                <a:latin typeface="Arial"/>
              </a:rPr>
              <a:t>, and </a:t>
            </a:r>
            <a:r>
              <a:rPr sz="1250" b="1" i="0">
                <a:solidFill>
                  <a:srgbClr val="58595B"/>
                </a:solidFill>
                <a:latin typeface="Arial"/>
              </a:rPr>
              <a:t>bare soil</a:t>
            </a:r>
            <a:r>
              <a:rPr sz="1250" b="0" i="0">
                <a:solidFill>
                  <a:srgbClr val="58595B"/>
                </a:solidFill>
                <a:latin typeface="Arial"/>
              </a:rPr>
              <a:t>. Armor is one minus the bare fraction.</a:t>
            </a:r>
          </a:p>
          <a:p>
            <a:pPr algn="l">
              <a:lnSpc>
                <a:spcPct val="130000"/>
              </a:lnSpc>
              <a:spcAft>
                <a:spcPts val="700"/>
              </a:spcAft>
            </a:pPr>
            <a:r>
              <a:rPr sz="1250" b="0" i="0">
                <a:solidFill>
                  <a:srgbClr val="58595B"/>
                </a:solidFill>
                <a:latin typeface="Arial"/>
              </a:rPr>
              <a:t>It is a COVER metric, not a tillage metric. Checked against 347 farmer-reported field-years, almost all of its apparent tillage signal ran through cover crop adoption instead.</a:t>
            </a:r>
          </a:p>
        </p:txBody>
      </p:sp>
      <p:sp>
        <p:nvSpPr>
          <p:cNvPr id="13" name="TextBox 12"/>
          <p:cNvSpPr txBox="1"/>
          <p:nvPr/>
        </p:nvSpPr>
        <p:spPr>
          <a:xfrm>
            <a:off x="6355080" y="2011680"/>
            <a:ext cx="5266944" cy="237744"/>
          </a:xfrm>
          <a:prstGeom prst="rect">
            <a:avLst/>
          </a:prstGeom>
          <a:noFill/>
        </p:spPr>
        <p:txBody>
          <a:bodyPr wrap="square" lIns="0" rIns="0" tIns="0" bIns="0" anchor="t">
            <a:spAutoFit/>
          </a:bodyPr>
          <a:lstStyle/>
          <a:p>
            <a:pPr algn="l">
              <a:lnSpc>
                <a:spcPct val="100000"/>
              </a:lnSpc>
              <a:spcAft>
                <a:spcPts val="0"/>
              </a:spcAft>
            </a:pPr>
            <a:r>
              <a:rPr sz="950" b="1" i="0">
                <a:solidFill>
                  <a:srgbClr val="F46C09"/>
                </a:solidFill>
                <a:latin typeface="Arial Narrow"/>
              </a:rPr>
              <a:t>WHY COVER IS THE RIGHT THING TO BENCHMARK LOCALLY</a:t>
            </a:r>
          </a:p>
        </p:txBody>
      </p:sp>
      <p:sp>
        <p:nvSpPr>
          <p:cNvPr id="14" name="TextBox 13"/>
          <p:cNvSpPr txBox="1"/>
          <p:nvPr/>
        </p:nvSpPr>
        <p:spPr>
          <a:xfrm>
            <a:off x="6355080" y="2359152"/>
            <a:ext cx="5266944" cy="1828800"/>
          </a:xfrm>
          <a:prstGeom prst="rect">
            <a:avLst/>
          </a:prstGeom>
          <a:noFill/>
        </p:spPr>
        <p:txBody>
          <a:bodyPr wrap="square" lIns="0" rIns="0" tIns="0" bIns="0" anchor="t">
            <a:spAutoFit/>
          </a:bodyPr>
          <a:lstStyle/>
          <a:p>
            <a:pPr algn="l">
              <a:lnSpc>
                <a:spcPct val="130000"/>
              </a:lnSpc>
              <a:spcAft>
                <a:spcPts val="0"/>
              </a:spcAft>
            </a:pPr>
            <a:r>
              <a:rPr sz="1250" b="0" i="0">
                <a:solidFill>
                  <a:srgbClr val="58595B"/>
                </a:solidFill>
                <a:latin typeface="Arial"/>
              </a:rPr>
              <a:t>It responds to management within a season, it does not need a yield figure or an input record, and </a:t>
            </a:r>
            <a:r>
              <a:rPr sz="1250" b="1" i="0">
                <a:solidFill>
                  <a:srgbClr val="58595B"/>
                </a:solidFill>
                <a:latin typeface="Arial"/>
              </a:rPr>
              <a:t>it can be read for a neighbor who has never enrolled</a:t>
            </a:r>
            <a:r>
              <a:rPr sz="1250" b="0" i="0">
                <a:solidFill>
                  <a:srgbClr val="58595B"/>
                </a:solidFill>
                <a:latin typeface="Arial"/>
              </a:rPr>
              <a:t> — which is what makes a local comparison group possible at all.</a:t>
            </a:r>
          </a:p>
        </p:txBody>
      </p:sp>
      <p:sp>
        <p:nvSpPr>
          <p:cNvPr id="15" name="Rectangle 14"/>
          <p:cNvSpPr/>
          <p:nvPr/>
        </p:nvSpPr>
        <p:spPr>
          <a:xfrm>
            <a:off x="566928" y="4617720"/>
            <a:ext cx="45720" cy="512064"/>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654296"/>
            <a:ext cx="10607040" cy="457200"/>
          </a:xfrm>
          <a:prstGeom prst="rect">
            <a:avLst/>
          </a:prstGeom>
          <a:noFill/>
        </p:spPr>
        <p:txBody>
          <a:bodyPr wrap="square" lIns="0" rIns="0" tIns="0" bIns="0" anchor="t">
            <a:spAutoFit/>
          </a:bodyPr>
          <a:lstStyle/>
          <a:p>
            <a:pPr algn="l">
              <a:lnSpc>
                <a:spcPct val="140000"/>
              </a:lnSpc>
              <a:spcAft>
                <a:spcPts val="0"/>
              </a:spcAft>
            </a:pPr>
            <a:r>
              <a:rPr sz="1400" b="0" i="0">
                <a:solidFill>
                  <a:srgbClr val="212121"/>
                </a:solidFill>
                <a:latin typeface="Arial"/>
              </a:rPr>
              <a:t>The constants behind it were fitted on eleven fields. Everything in this deck is provisional in that specific way.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One thing needed fixing first</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The shipped figure covers only the weeks before planting. In a cloudy spring that window is nearly empty - so we now score the whole calendar year too.</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_coverage_independence.png"/>
          <p:cNvPicPr>
            <a:picLocks noChangeAspect="1"/>
          </p:cNvPicPr>
          <p:nvPr/>
        </p:nvPicPr>
        <p:blipFill>
          <a:blip r:embed="rId3"/>
          <a:stretch>
            <a:fillRect/>
          </a:stretch>
        </p:blipFill>
        <p:spPr>
          <a:xfrm>
            <a:off x="1843525" y="2029968"/>
            <a:ext cx="8504644" cy="3108960"/>
          </a:xfrm>
          <a:prstGeom prst="rect">
            <a:avLst/>
          </a:prstGeom>
        </p:spPr>
      </p:pic>
      <p:sp>
        <p:nvSpPr>
          <p:cNvPr id="13" name="TextBox 12"/>
          <p:cNvSpPr txBox="1"/>
          <p:nvPr/>
        </p:nvSpPr>
        <p:spPr>
          <a:xfrm>
            <a:off x="566928" y="5321808"/>
            <a:ext cx="5349240" cy="914400"/>
          </a:xfrm>
          <a:prstGeom prst="rect">
            <a:avLst/>
          </a:prstGeom>
          <a:noFill/>
        </p:spPr>
        <p:txBody>
          <a:bodyPr wrap="square" lIns="0" rIns="0" tIns="0" bIns="0" anchor="t">
            <a:spAutoFit/>
          </a:bodyPr>
          <a:lstStyle/>
          <a:p>
            <a:pPr algn="l">
              <a:lnSpc>
                <a:spcPct val="130000"/>
              </a:lnSpc>
              <a:spcAft>
                <a:spcPts val="0"/>
              </a:spcAft>
            </a:pPr>
            <a:r>
              <a:rPr sz="1150" b="1" i="0">
                <a:solidFill>
                  <a:srgbClr val="58595B"/>
                </a:solidFill>
                <a:latin typeface="Arial"/>
              </a:rPr>
              <a:t>Illinois gets a pre-plant reading for only 74% of field-years</a:t>
            </a:r>
            <a:r>
              <a:rPr sz="1150" b="0" i="0">
                <a:solidFill>
                  <a:srgbClr val="58595B"/>
                </a:solidFill>
                <a:latin typeface="Arial"/>
              </a:rPr>
              <a:t>, and where it does, the median field-year rests on three clear images. Kansas gets 98% off a median of eleven.</a:t>
            </a:r>
          </a:p>
        </p:txBody>
      </p:sp>
      <p:sp>
        <p:nvSpPr>
          <p:cNvPr id="14" name="TextBox 13"/>
          <p:cNvSpPr txBox="1"/>
          <p:nvPr/>
        </p:nvSpPr>
        <p:spPr>
          <a:xfrm>
            <a:off x="6355080" y="5321808"/>
            <a:ext cx="5266944" cy="914400"/>
          </a:xfrm>
          <a:prstGeom prst="rect">
            <a:avLst/>
          </a:prstGeom>
          <a:noFill/>
        </p:spPr>
        <p:txBody>
          <a:bodyPr wrap="square" lIns="0" rIns="0" tIns="0" bIns="0" anchor="t">
            <a:spAutoFit/>
          </a:bodyPr>
          <a:lstStyle/>
          <a:p>
            <a:pPr algn="l">
              <a:lnSpc>
                <a:spcPct val="130000"/>
              </a:lnSpc>
              <a:spcAft>
                <a:spcPts val="0"/>
              </a:spcAft>
            </a:pPr>
            <a:r>
              <a:rPr sz="1150" b="1" i="0">
                <a:solidFill>
                  <a:srgbClr val="58595B"/>
                </a:solidFill>
                <a:latin typeface="Arial"/>
              </a:rPr>
              <a:t>Annual residue cover</a:t>
            </a:r>
            <a:r>
              <a:rPr sz="1150" b="0" i="0">
                <a:solidFill>
                  <a:srgbClr val="58595B"/>
                </a:solidFill>
                <a:latin typeface="Arial"/>
              </a:rPr>
              <a:t> excludes a living crop by construction, so it compares a wheat field with a cotton field fairly. </a:t>
            </a:r>
            <a:r>
              <a:rPr sz="1150" b="1" i="0">
                <a:solidFill>
                  <a:srgbClr val="58595B"/>
                </a:solidFill>
                <a:latin typeface="Arial"/>
              </a:rPr>
              <a:t>The worst 10% of the year</a:t>
            </a:r>
            <a:r>
              <a:rPr sz="1150" b="0" i="0">
                <a:solidFill>
                  <a:srgbClr val="58595B"/>
                </a:solidFill>
                <a:latin typeface="Arial"/>
              </a:rPr>
              <a:t> asks how bare the field got, not how bare on average. Both cover 100% of field-years.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What a member would actually see</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Their field, ranked against the anonymous distribution of its own neighbors.</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4_cover_ranked.png"/>
          <p:cNvPicPr>
            <a:picLocks noChangeAspect="1"/>
          </p:cNvPicPr>
          <p:nvPr/>
        </p:nvPicPr>
        <p:blipFill>
          <a:blip r:embed="rId3"/>
          <a:stretch>
            <a:fillRect/>
          </a:stretch>
        </p:blipFill>
        <p:spPr>
          <a:xfrm>
            <a:off x="2020758" y="1993392"/>
            <a:ext cx="8150178" cy="3794760"/>
          </a:xfrm>
          <a:prstGeom prst="rect">
            <a:avLst/>
          </a:prstGeom>
        </p:spPr>
      </p:pic>
      <p:sp>
        <p:nvSpPr>
          <p:cNvPr id="13" name="TextBox 12"/>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One bar per field, the member's in orange. No neighbor is named and no neighbor had to enroll. This is the Kansas field, which sits in the bottom sixth of its neighborhood for off-season cover.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Three fields, three honest answers</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_focus_by_county.png"/>
          <p:cNvPicPr>
            <a:picLocks noChangeAspect="1"/>
          </p:cNvPicPr>
          <p:nvPr/>
        </p:nvPicPr>
        <p:blipFill>
          <a:blip r:embed="rId3"/>
          <a:stretch>
            <a:fillRect/>
          </a:stretch>
        </p:blipFill>
        <p:spPr>
          <a:xfrm>
            <a:off x="566928" y="1737360"/>
            <a:ext cx="6126480" cy="2758819"/>
          </a:xfrm>
          <a:prstGeom prst="rect">
            <a:avLst/>
          </a:prstGeom>
        </p:spPr>
      </p:pic>
      <p:sp>
        <p:nvSpPr>
          <p:cNvPr id="12" name="TextBox 11"/>
          <p:cNvSpPr txBox="1"/>
          <p:nvPr/>
        </p:nvSpPr>
        <p:spPr>
          <a:xfrm>
            <a:off x="6903720" y="1737360"/>
            <a:ext cx="4721047" cy="237744"/>
          </a:xfrm>
          <a:prstGeom prst="rect">
            <a:avLst/>
          </a:prstGeom>
          <a:noFill/>
        </p:spPr>
        <p:txBody>
          <a:bodyPr wrap="square" lIns="0" rIns="0" tIns="0" bIns="0" anchor="t">
            <a:spAutoFit/>
          </a:bodyPr>
          <a:lstStyle/>
          <a:p>
            <a:pPr algn="l">
              <a:lnSpc>
                <a:spcPct val="100000"/>
              </a:lnSpc>
              <a:spcAft>
                <a:spcPts val="0"/>
              </a:spcAft>
            </a:pPr>
            <a:r>
              <a:rPr sz="950" b="1" i="0">
                <a:solidFill>
                  <a:srgbClr val="F46C09"/>
                </a:solidFill>
                <a:latin typeface="Arial Narrow"/>
              </a:rPr>
              <a:t>READ LOCALLY</a:t>
            </a:r>
          </a:p>
        </p:txBody>
      </p:sp>
      <p:sp>
        <p:nvSpPr>
          <p:cNvPr id="13" name="TextBox 12"/>
          <p:cNvSpPr txBox="1"/>
          <p:nvPr/>
        </p:nvSpPr>
        <p:spPr>
          <a:xfrm>
            <a:off x="6903720" y="2084831"/>
            <a:ext cx="4721047" cy="3291840"/>
          </a:xfrm>
          <a:prstGeom prst="rect">
            <a:avLst/>
          </a:prstGeom>
          <a:noFill/>
        </p:spPr>
        <p:txBody>
          <a:bodyPr wrap="square" lIns="0" rIns="0" tIns="0" bIns="0" anchor="t">
            <a:spAutoFit/>
          </a:bodyPr>
          <a:lstStyle/>
          <a:p>
            <a:pPr algn="l">
              <a:lnSpc>
                <a:spcPct val="130000"/>
              </a:lnSpc>
              <a:spcAft>
                <a:spcPts val="700"/>
              </a:spcAft>
            </a:pPr>
            <a:r>
              <a:rPr sz="1200" b="1" i="0">
                <a:solidFill>
                  <a:srgbClr val="58595B"/>
                </a:solidFill>
                <a:latin typeface="Arial"/>
              </a:rPr>
              <a:t>Illinois</a:t>
            </a:r>
            <a:r>
              <a:rPr sz="1200" b="0" i="0">
                <a:solidFill>
                  <a:srgbClr val="58595B"/>
                </a:solidFill>
                <a:latin typeface="Arial"/>
              </a:rPr>
              <a:t> — well covered by local standards on all three measures. A grower who would have been told they were below the national line.</a:t>
            </a:r>
          </a:p>
          <a:p>
            <a:pPr algn="l">
              <a:lnSpc>
                <a:spcPct val="130000"/>
              </a:lnSpc>
              <a:spcAft>
                <a:spcPts val="700"/>
              </a:spcAft>
            </a:pPr>
            <a:r>
              <a:rPr sz="1200" b="1" i="0">
                <a:solidFill>
                  <a:srgbClr val="58595B"/>
                </a:solidFill>
                <a:latin typeface="Arial"/>
              </a:rPr>
              <a:t>Kansas</a:t>
            </a:r>
            <a:r>
              <a:rPr sz="1200" b="0" i="0">
                <a:solidFill>
                  <a:srgbClr val="58595B"/>
                </a:solidFill>
                <a:latin typeface="Arial"/>
              </a:rPr>
              <a:t> — genuinely below its neighborhood, and the scores agree on that.</a:t>
            </a:r>
          </a:p>
          <a:p>
            <a:pPr algn="l">
              <a:lnSpc>
                <a:spcPct val="130000"/>
              </a:lnSpc>
              <a:spcAft>
                <a:spcPts val="700"/>
              </a:spcAft>
            </a:pPr>
            <a:r>
              <a:rPr sz="1200" b="1" i="0">
                <a:solidFill>
                  <a:srgbClr val="58595B"/>
                </a:solidFill>
                <a:latin typeface="Arial"/>
              </a:rPr>
              <a:t>Georgia</a:t>
            </a:r>
            <a:r>
              <a:rPr sz="1200" b="0" i="0">
                <a:solidFill>
                  <a:srgbClr val="58595B"/>
                </a:solidFill>
                <a:latin typeface="Arial"/>
              </a:rPr>
              <a:t> — the window score says middling, annual residue says bottom tenth. The largest disagreement we found, and a reminder that which score we publish is a decision, not a detail.</a:t>
            </a:r>
          </a:p>
        </p:txBody>
      </p:sp>
      <p:sp>
        <p:nvSpPr>
          <p:cNvPr id="14" name="TextBox 13"/>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Percentile among each field's own cohort. Higher is better covered.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Do not ship the cover crop verdict yet</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One threshold, three counties - and we already measured that the Georgia end is wrong.</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_cover_by_county.png"/>
          <p:cNvPicPr>
            <a:picLocks noChangeAspect="1"/>
          </p:cNvPicPr>
          <p:nvPr/>
        </p:nvPicPr>
        <p:blipFill>
          <a:blip r:embed="rId3"/>
          <a:stretch>
            <a:fillRect/>
          </a:stretch>
        </p:blipFill>
        <p:spPr>
          <a:xfrm>
            <a:off x="2133456" y="2011680"/>
            <a:ext cx="7924782" cy="2880360"/>
          </a:xfrm>
          <a:prstGeom prst="rect">
            <a:avLst/>
          </a:prstGeom>
        </p:spPr>
      </p:pic>
      <p:sp>
        <p:nvSpPr>
          <p:cNvPr id="13" name="TextBox 12"/>
          <p:cNvSpPr txBox="1"/>
          <p:nvPr/>
        </p:nvSpPr>
        <p:spPr>
          <a:xfrm>
            <a:off x="566928" y="5120640"/>
            <a:ext cx="5349240" cy="1097280"/>
          </a:xfrm>
          <a:prstGeom prst="rect">
            <a:avLst/>
          </a:prstGeom>
          <a:noFill/>
        </p:spPr>
        <p:txBody>
          <a:bodyPr wrap="square" lIns="0" rIns="0" tIns="0" bIns="0" anchor="t">
            <a:spAutoFit/>
          </a:bodyPr>
          <a:lstStyle/>
          <a:p>
            <a:pPr algn="l">
              <a:lnSpc>
                <a:spcPct val="130000"/>
              </a:lnSpc>
              <a:spcAft>
                <a:spcPts val="0"/>
              </a:spcAft>
            </a:pPr>
            <a:r>
              <a:rPr sz="1150" b="1" i="0">
                <a:solidFill>
                  <a:srgbClr val="58595B"/>
                </a:solidFill>
                <a:latin typeface="Arial"/>
              </a:rPr>
              <a:t>6% of Illinois winters score as off-season green, 61% of Kansas, 88% of Georgia</a:t>
            </a:r>
            <a:r>
              <a:rPr sz="1150" b="0" i="0">
                <a:solidFill>
                  <a:srgbClr val="58595B"/>
                </a:solidFill>
                <a:latin typeface="Arial"/>
              </a:rPr>
              <a:t> - because the underlying distributions sit in different places. One number cannot be right in all three.</a:t>
            </a:r>
          </a:p>
        </p:txBody>
      </p:sp>
      <p:sp>
        <p:nvSpPr>
          <p:cNvPr id="14" name="TextBox 13"/>
          <p:cNvSpPr txBox="1"/>
          <p:nvPr/>
        </p:nvSpPr>
        <p:spPr>
          <a:xfrm>
            <a:off x="6355080" y="5120640"/>
            <a:ext cx="5266944" cy="1097280"/>
          </a:xfrm>
          <a:prstGeom prst="rect">
            <a:avLst/>
          </a:prstGeom>
          <a:noFill/>
        </p:spPr>
        <p:txBody>
          <a:bodyPr wrap="square" lIns="0" rIns="0" tIns="0" bIns="0" anchor="t">
            <a:spAutoFit/>
          </a:bodyPr>
          <a:lstStyle/>
          <a:p>
            <a:pPr algn="l">
              <a:lnSpc>
                <a:spcPct val="130000"/>
              </a:lnSpc>
              <a:spcAft>
                <a:spcPts val="0"/>
              </a:spcAft>
            </a:pPr>
            <a:r>
              <a:rPr sz="1150" b="1" i="0">
                <a:solidFill>
                  <a:srgbClr val="58595B"/>
                </a:solidFill>
                <a:latin typeface="Arial"/>
              </a:rPr>
              <a:t>Mitchell County is the second-largest site in our own Georgia ground-truth cohort</a:t>
            </a:r>
            <a:r>
              <a:rPr sz="1150" b="0" i="0">
                <a:solidFill>
                  <a:srgbClr val="58595B"/>
                </a:solidFill>
                <a:latin typeface="Arial"/>
              </a:rPr>
              <a:t>, 28 farmer-reported field-years, where this threshold scored 144 false positives against 11 true negatives. "100% of Mitchell fields show a cover crop" is that false-positive rate, reproduced on new fields.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So rank, do not judge</a:t>
            </a:r>
          </a:p>
        </p:txBody>
      </p:sp>
      <p:sp>
        <p:nvSpPr>
          <p:cNvPr id="5" name="TextBox 4"/>
          <p:cNvSpPr txBox="1"/>
          <p:nvPr/>
        </p:nvSpPr>
        <p:spPr>
          <a:xfrm>
            <a:off x="566928" y="1554480"/>
            <a:ext cx="10241280" cy="384048"/>
          </a:xfrm>
          <a:prstGeom prst="rect">
            <a:avLst/>
          </a:prstGeom>
          <a:noFill/>
        </p:spPr>
        <p:txBody>
          <a:bodyPr wrap="square" lIns="0" rIns="0" tIns="0" bIns="0" anchor="t">
            <a:spAutoFit/>
          </a:bodyPr>
          <a:lstStyle/>
          <a:p>
            <a:pPr algn="l">
              <a:lnSpc>
                <a:spcPct val="132000"/>
              </a:lnSpc>
              <a:spcAft>
                <a:spcPts val="0"/>
              </a:spcAft>
            </a:pPr>
            <a:r>
              <a:rPr sz="1250" b="0" i="0">
                <a:solidFill>
                  <a:srgbClr val="58595B"/>
                </a:solidFill>
                <a:latin typeface="Arial"/>
              </a:rPr>
              <a:t>The fix is to stop asking a yes/no question that depends on a threshold we cannot set nationally.</a:t>
            </a:r>
          </a:p>
        </p:txBody>
      </p:sp>
      <p:sp>
        <p:nvSpPr>
          <p:cNvPr id="6" name="Rectangle 5"/>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011680"/>
            <a:ext cx="5349240" cy="237744"/>
          </a:xfrm>
          <a:prstGeom prst="rect">
            <a:avLst/>
          </a:prstGeom>
          <a:noFill/>
        </p:spPr>
        <p:txBody>
          <a:bodyPr wrap="square" lIns="0" rIns="0" tIns="0" bIns="0" anchor="t">
            <a:spAutoFit/>
          </a:bodyPr>
          <a:lstStyle/>
          <a:p>
            <a:pPr algn="l">
              <a:lnSpc>
                <a:spcPct val="100000"/>
              </a:lnSpc>
              <a:spcAft>
                <a:spcPts val="0"/>
              </a:spcAft>
            </a:pPr>
            <a:r>
              <a:rPr sz="950" b="1" i="0">
                <a:solidFill>
                  <a:srgbClr val="F46C09"/>
                </a:solidFill>
                <a:latin typeface="Arial Narrow"/>
              </a:rPr>
              <a:t>INSTEAD OF</a:t>
            </a:r>
          </a:p>
        </p:txBody>
      </p:sp>
      <p:sp>
        <p:nvSpPr>
          <p:cNvPr id="13" name="TextBox 12"/>
          <p:cNvSpPr txBox="1"/>
          <p:nvPr/>
        </p:nvSpPr>
        <p:spPr>
          <a:xfrm>
            <a:off x="566928" y="2377440"/>
            <a:ext cx="5349240" cy="457200"/>
          </a:xfrm>
          <a:prstGeom prst="rect">
            <a:avLst/>
          </a:prstGeom>
          <a:noFill/>
        </p:spPr>
        <p:txBody>
          <a:bodyPr wrap="square" lIns="0" rIns="0" tIns="0" bIns="0" anchor="t">
            <a:spAutoFit/>
          </a:bodyPr>
          <a:lstStyle/>
          <a:p>
            <a:pPr algn="l">
              <a:lnSpc>
                <a:spcPct val="130000"/>
              </a:lnSpc>
              <a:spcAft>
                <a:spcPts val="0"/>
              </a:spcAft>
            </a:pPr>
            <a:r>
              <a:rPr sz="1400" b="1" i="0">
                <a:solidFill>
                  <a:srgbClr val="212121"/>
                </a:solidFill>
                <a:latin typeface="Arial"/>
              </a:rPr>
              <a:t>"Your field did NOT have a cover crop."</a:t>
            </a:r>
          </a:p>
        </p:txBody>
      </p:sp>
      <p:sp>
        <p:nvSpPr>
          <p:cNvPr id="14" name="TextBox 13"/>
          <p:cNvSpPr txBox="1"/>
          <p:nvPr/>
        </p:nvSpPr>
        <p:spPr>
          <a:xfrm>
            <a:off x="566928" y="3017520"/>
            <a:ext cx="5349240" cy="1097280"/>
          </a:xfrm>
          <a:prstGeom prst="rect">
            <a:avLst/>
          </a:prstGeom>
          <a:noFill/>
        </p:spPr>
        <p:txBody>
          <a:bodyPr wrap="square" lIns="0" rIns="0" tIns="0" bIns="0" anchor="t">
            <a:spAutoFit/>
          </a:bodyPr>
          <a:lstStyle/>
          <a:p>
            <a:pPr algn="l">
              <a:lnSpc>
                <a:spcPct val="130000"/>
              </a:lnSpc>
              <a:spcAft>
                <a:spcPts val="0"/>
              </a:spcAft>
            </a:pPr>
            <a:r>
              <a:rPr sz="1250" b="0" i="0">
                <a:solidFill>
                  <a:srgbClr val="58595B"/>
                </a:solidFill>
                <a:latin typeface="Arial"/>
              </a:rPr>
              <a:t>A verdict that flips on four thousandths of an index. The Kansas field's two winters peaked at 0.296 and 0.277 against a 0.30 line.</a:t>
            </a:r>
          </a:p>
        </p:txBody>
      </p:sp>
      <p:sp>
        <p:nvSpPr>
          <p:cNvPr id="15" name="TextBox 14"/>
          <p:cNvSpPr txBox="1"/>
          <p:nvPr/>
        </p:nvSpPr>
        <p:spPr>
          <a:xfrm>
            <a:off x="6355080" y="2011680"/>
            <a:ext cx="5266944" cy="237744"/>
          </a:xfrm>
          <a:prstGeom prst="rect">
            <a:avLst/>
          </a:prstGeom>
          <a:noFill/>
        </p:spPr>
        <p:txBody>
          <a:bodyPr wrap="square" lIns="0" rIns="0" tIns="0" bIns="0" anchor="t">
            <a:spAutoFit/>
          </a:bodyPr>
          <a:lstStyle/>
          <a:p>
            <a:pPr algn="l">
              <a:lnSpc>
                <a:spcPct val="100000"/>
              </a:lnSpc>
              <a:spcAft>
                <a:spcPts val="0"/>
              </a:spcAft>
            </a:pPr>
            <a:r>
              <a:rPr sz="950" b="1" i="0">
                <a:solidFill>
                  <a:srgbClr val="F46C09"/>
                </a:solidFill>
                <a:latin typeface="Arial Narrow"/>
              </a:rPr>
              <a:t>SAY</a:t>
            </a:r>
          </a:p>
        </p:txBody>
      </p:sp>
      <p:sp>
        <p:nvSpPr>
          <p:cNvPr id="16" name="TextBox 15"/>
          <p:cNvSpPr txBox="1"/>
          <p:nvPr/>
        </p:nvSpPr>
        <p:spPr>
          <a:xfrm>
            <a:off x="6355080" y="2377440"/>
            <a:ext cx="5266944" cy="731520"/>
          </a:xfrm>
          <a:prstGeom prst="rect">
            <a:avLst/>
          </a:prstGeom>
          <a:noFill/>
        </p:spPr>
        <p:txBody>
          <a:bodyPr wrap="square" lIns="0" rIns="0" tIns="0" bIns="0" anchor="t">
            <a:spAutoFit/>
          </a:bodyPr>
          <a:lstStyle/>
          <a:p>
            <a:pPr algn="l">
              <a:lnSpc>
                <a:spcPct val="130000"/>
              </a:lnSpc>
              <a:spcAft>
                <a:spcPts val="0"/>
              </a:spcAft>
            </a:pPr>
            <a:r>
              <a:rPr sz="1400" b="1" i="0">
                <a:solidFill>
                  <a:srgbClr val="212121"/>
                </a:solidFill>
                <a:latin typeface="Arial"/>
              </a:rPr>
              <a:t>"Your off-season cover was in the lowest sixth of 100 fields within three miles."</a:t>
            </a:r>
          </a:p>
        </p:txBody>
      </p:sp>
      <p:sp>
        <p:nvSpPr>
          <p:cNvPr id="17" name="TextBox 16"/>
          <p:cNvSpPr txBox="1"/>
          <p:nvPr/>
        </p:nvSpPr>
        <p:spPr>
          <a:xfrm>
            <a:off x="6355080" y="3218688"/>
            <a:ext cx="5266944" cy="1097280"/>
          </a:xfrm>
          <a:prstGeom prst="rect">
            <a:avLst/>
          </a:prstGeom>
          <a:noFill/>
        </p:spPr>
        <p:txBody>
          <a:bodyPr wrap="square" lIns="0" rIns="0" tIns="0" bIns="0" anchor="t">
            <a:spAutoFit/>
          </a:bodyPr>
          <a:lstStyle/>
          <a:p>
            <a:pPr algn="l">
              <a:lnSpc>
                <a:spcPct val="130000"/>
              </a:lnSpc>
              <a:spcAft>
                <a:spcPts val="0"/>
              </a:spcAft>
            </a:pPr>
            <a:r>
              <a:rPr sz="1250" b="0" i="0">
                <a:solidFill>
                  <a:srgbClr val="58595B"/>
                </a:solidFill>
                <a:latin typeface="Arial"/>
              </a:rPr>
              <a:t>No threshold, no national constant, and the ranking held when we removed the threshold entirely.</a:t>
            </a:r>
          </a:p>
        </p:txBody>
      </p:sp>
      <p:sp>
        <p:nvSpPr>
          <p:cNvPr id="18" name="Rectangle 17"/>
          <p:cNvSpPr/>
          <p:nvPr/>
        </p:nvSpPr>
        <p:spPr>
          <a:xfrm>
            <a:off x="566928" y="4526280"/>
            <a:ext cx="45720" cy="512064"/>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562856"/>
            <a:ext cx="10607040" cy="457200"/>
          </a:xfrm>
          <a:prstGeom prst="rect">
            <a:avLst/>
          </a:prstGeom>
          <a:noFill/>
        </p:spPr>
        <p:txBody>
          <a:bodyPr wrap="square" lIns="0" rIns="0" tIns="0" bIns="0" anchor="t">
            <a:spAutoFit/>
          </a:bodyPr>
          <a:lstStyle/>
          <a:p>
            <a:pPr algn="l">
              <a:lnSpc>
                <a:spcPct val="140000"/>
              </a:lnSpc>
              <a:spcAft>
                <a:spcPts val="0"/>
              </a:spcAft>
            </a:pPr>
            <a:r>
              <a:rPr sz="1400" b="0" i="0">
                <a:solidFill>
                  <a:srgbClr val="212121"/>
                </a:solidFill>
                <a:latin typeface="Arial"/>
              </a:rPr>
              <a:t>A ranking against real neighbors is both more defensible and more useful than a verdict against a national constant — and it is the thing members have been asking for.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What it would take to offer this</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66928" y="1920240"/>
          <a:ext cx="11057837" cy="3529584"/>
        </p:xfrm>
        <a:graphic>
          <a:graphicData uri="http://schemas.openxmlformats.org/drawingml/2006/table">
            <a:tbl>
              <a:tblPr firstRow="1" bandRow="1">
                <a:tableStyleId>{5C22544A-7EE6-4342-B048-85BDC9FD1C3A}</a:tableStyleId>
              </a:tblPr>
              <a:tblGrid>
                <a:gridCol w="2287828"/>
                <a:gridCol w="6958812"/>
                <a:gridCol w="1811197"/>
              </a:tblGrid>
              <a:tr h="310896">
                <a:tc>
                  <a:txBody>
                    <a:bodyPr/>
                    <a:lstStyle/>
                    <a:p>
                      <a:pPr algn="l"/>
                      <a:r>
                        <a:rPr sz="1100" b="1">
                          <a:solidFill>
                            <a:srgbClr val="FFFFFF"/>
                          </a:solidFill>
                          <a:latin typeface="Arial Narrow"/>
                        </a:rPr>
                        <a:t>Step</a:t>
                      </a:r>
                    </a:p>
                  </a:txBody>
                  <a:tcPr marL="82296" marR="82296" marT="27432" marB="27432" anchor="ctr">
                    <a:solidFill>
                      <a:srgbClr val="10427C"/>
                    </a:solidFill>
                  </a:tcPr>
                </a:tc>
                <a:tc>
                  <a:txBody>
                    <a:bodyPr/>
                    <a:lstStyle/>
                    <a:p>
                      <a:pPr algn="l"/>
                      <a:r>
                        <a:rPr sz="1100" b="1">
                          <a:solidFill>
                            <a:srgbClr val="FFFFFF"/>
                          </a:solidFill>
                          <a:latin typeface="Arial Narrow"/>
                        </a:rPr>
                        <a:t>What is involved</a:t>
                      </a:r>
                    </a:p>
                  </a:txBody>
                  <a:tcPr marL="82296" marR="82296" marT="27432" marB="27432" anchor="ctr">
                    <a:solidFill>
                      <a:srgbClr val="10427C"/>
                    </a:solidFill>
                  </a:tcPr>
                </a:tc>
                <a:tc>
                  <a:txBody>
                    <a:bodyPr/>
                    <a:lstStyle/>
                    <a:p>
                      <a:pPr algn="ctr"/>
                      <a:r>
                        <a:rPr sz="1100" b="1">
                          <a:solidFill>
                            <a:srgbClr val="FFFFFF"/>
                          </a:solidFill>
                          <a:latin typeface="Arial Narrow"/>
                        </a:rPr>
                        <a:t>Size</a:t>
                      </a:r>
                    </a:p>
                  </a:txBody>
                  <a:tcPr marL="82296" marR="82296" marT="27432" marB="27432" anchor="ctr">
                    <a:solidFill>
                      <a:srgbClr val="10427C"/>
                    </a:solidFill>
                  </a:tcPr>
                </a:tc>
              </a:tr>
              <a:tr h="804672">
                <a:tc>
                  <a:txBody>
                    <a:bodyPr/>
                    <a:lstStyle/>
                    <a:p>
                      <a:pPr algn="l"/>
                      <a:r>
                        <a:rPr sz="1100" b="1">
                          <a:solidFill>
                            <a:srgbClr val="10427C"/>
                          </a:solidFill>
                          <a:latin typeface="Arial"/>
                        </a:rPr>
                        <a:t>Field boundaries</a:t>
                      </a:r>
                    </a:p>
                  </a:txBody>
                  <a:tcPr marL="82296" marR="82296" marT="27432" marB="27432" anchor="ctr">
                    <a:solidFill>
                      <a:srgbClr val="FFFFFF"/>
                    </a:solidFill>
                  </a:tcPr>
                </a:tc>
                <a:tc>
                  <a:txBody>
                    <a:bodyPr/>
                    <a:lstStyle/>
                    <a:p>
                      <a:pPr algn="l"/>
                      <a:r>
                        <a:rPr sz="1100" b="0">
                          <a:solidFill>
                            <a:srgbClr val="444444"/>
                          </a:solidFill>
                          <a:latin typeface="Arial"/>
                        </a:rPr>
                        <a:t>The 2008 public CLU is eighteen years stale. Current CLU is restricted, but Field to Market may qualify for access — worth a conversation with FSA before anything is built. Commercial boundary sets are the fallback</a:t>
                      </a:r>
                    </a:p>
                  </a:txBody>
                  <a:tcPr marL="82296" marR="82296" marT="27432" marB="27432" anchor="ctr">
                    <a:solidFill>
                      <a:srgbClr val="FFFFFF"/>
                    </a:solidFill>
                  </a:tcPr>
                </a:tc>
                <a:tc>
                  <a:txBody>
                    <a:bodyPr/>
                    <a:lstStyle/>
                    <a:p>
                      <a:pPr algn="ctr"/>
                      <a:r>
                        <a:rPr sz="1100" b="0">
                          <a:solidFill>
                            <a:srgbClr val="444444"/>
                          </a:solidFill>
                          <a:latin typeface="Arial"/>
                        </a:rPr>
                        <a:t>a phone call,
then a decision</a:t>
                      </a:r>
                    </a:p>
                  </a:txBody>
                  <a:tcPr marL="82296" marR="82296" marT="27432" marB="27432" anchor="ctr">
                    <a:solidFill>
                      <a:srgbClr val="FFFFFF"/>
                    </a:solidFill>
                  </a:tcPr>
                </a:tc>
              </a:tr>
              <a:tr h="804672">
                <a:tc>
                  <a:txBody>
                    <a:bodyPr/>
                    <a:lstStyle/>
                    <a:p>
                      <a:pPr algn="l"/>
                      <a:r>
                        <a:rPr sz="1100" b="1">
                          <a:solidFill>
                            <a:srgbClr val="10427C"/>
                          </a:solidFill>
                          <a:latin typeface="Arial"/>
                        </a:rPr>
                        <a:t>A cohort service</a:t>
                      </a:r>
                    </a:p>
                  </a:txBody>
                  <a:tcPr marL="82296" marR="82296" marT="27432" marB="27432" anchor="ctr">
                    <a:solidFill>
                      <a:srgbClr val="F2F2F2"/>
                    </a:solidFill>
                  </a:tcPr>
                </a:tc>
                <a:tc>
                  <a:txBody>
                    <a:bodyPr/>
                    <a:lstStyle/>
                    <a:p>
                      <a:pPr algn="l"/>
                      <a:r>
                        <a:rPr sz="1100" b="0">
                          <a:solidFill>
                            <a:srgbClr val="444444"/>
                          </a:solidFill>
                          <a:latin typeface="Arial"/>
                        </a:rPr>
                        <a:t>Given a member field, select neighbors, run the pass, return percentiles. Everything here already exists as scripts</a:t>
                      </a:r>
                    </a:p>
                  </a:txBody>
                  <a:tcPr marL="82296" marR="82296" marT="27432" marB="27432" anchor="ctr">
                    <a:solidFill>
                      <a:srgbClr val="F2F2F2"/>
                    </a:solidFill>
                  </a:tcPr>
                </a:tc>
                <a:tc>
                  <a:txBody>
                    <a:bodyPr/>
                    <a:lstStyle/>
                    <a:p>
                      <a:pPr algn="ctr"/>
                      <a:r>
                        <a:rPr sz="1100" b="0">
                          <a:solidFill>
                            <a:srgbClr val="444444"/>
                          </a:solidFill>
                          <a:latin typeface="Arial"/>
                        </a:rPr>
                        <a:t>weeks</a:t>
                      </a:r>
                    </a:p>
                  </a:txBody>
                  <a:tcPr marL="82296" marR="82296" marT="27432" marB="27432" anchor="ctr">
                    <a:solidFill>
                      <a:srgbClr val="F2F2F2"/>
                    </a:solidFill>
                  </a:tcPr>
                </a:tc>
              </a:tr>
              <a:tr h="804672">
                <a:tc>
                  <a:txBody>
                    <a:bodyPr/>
                    <a:lstStyle/>
                    <a:p>
                      <a:pPr algn="l"/>
                      <a:r>
                        <a:rPr sz="1100" b="1">
                          <a:solidFill>
                            <a:srgbClr val="10427C"/>
                          </a:solidFill>
                          <a:latin typeface="Arial"/>
                        </a:rPr>
                        <a:t>Regional thresholds
or none at all</a:t>
                      </a:r>
                    </a:p>
                  </a:txBody>
                  <a:tcPr marL="82296" marR="82296" marT="27432" marB="27432" anchor="ctr">
                    <a:solidFill>
                      <a:srgbClr val="FFFFFF"/>
                    </a:solidFill>
                  </a:tcPr>
                </a:tc>
                <a:tc>
                  <a:txBody>
                    <a:bodyPr/>
                    <a:lstStyle/>
                    <a:p>
                      <a:pPr algn="l"/>
                      <a:r>
                        <a:rPr sz="1100" b="0">
                          <a:solidFill>
                            <a:srgbClr val="444444"/>
                          </a:solidFill>
                          <a:latin typeface="Arial"/>
                        </a:rPr>
                        <a:t>Publish rankings on the continuous measures. Keep cover crop verdicts out of the member view until they are regionally calibrated</a:t>
                      </a:r>
                    </a:p>
                  </a:txBody>
                  <a:tcPr marL="82296" marR="82296" marT="27432" marB="27432" anchor="ctr">
                    <a:solidFill>
                      <a:srgbClr val="FFFFFF"/>
                    </a:solidFill>
                  </a:tcPr>
                </a:tc>
                <a:tc>
                  <a:txBody>
                    <a:bodyPr/>
                    <a:lstStyle/>
                    <a:p>
                      <a:pPr algn="ctr"/>
                      <a:r>
                        <a:rPr sz="1100" b="0">
                          <a:solidFill>
                            <a:srgbClr val="444444"/>
                          </a:solidFill>
                          <a:latin typeface="Arial"/>
                        </a:rPr>
                        <a:t>a policy decision</a:t>
                      </a:r>
                    </a:p>
                  </a:txBody>
                  <a:tcPr marL="82296" marR="82296" marT="27432" marB="27432" anchor="ctr">
                    <a:solidFill>
                      <a:srgbClr val="FFFFFF"/>
                    </a:solidFill>
                  </a:tcPr>
                </a:tc>
              </a:tr>
              <a:tr h="804672">
                <a:tc>
                  <a:txBody>
                    <a:bodyPr/>
                    <a:lstStyle/>
                    <a:p>
                      <a:pPr algn="l"/>
                      <a:r>
                        <a:rPr sz="1100" b="1">
                          <a:solidFill>
                            <a:srgbClr val="10427C"/>
                          </a:solidFill>
                          <a:latin typeface="Arial"/>
                        </a:rPr>
                        <a:t>A validation season</a:t>
                      </a:r>
                    </a:p>
                  </a:txBody>
                  <a:tcPr marL="82296" marR="82296" marT="27432" marB="27432" anchor="ctr">
                    <a:solidFill>
                      <a:srgbClr val="F2F2F2"/>
                    </a:solidFill>
                  </a:tcPr>
                </a:tc>
                <a:tc>
                  <a:txBody>
                    <a:bodyPr/>
                    <a:lstStyle/>
                    <a:p>
                      <a:pPr algn="l"/>
                      <a:r>
                        <a:rPr sz="1100" b="0">
                          <a:solidFill>
                            <a:srgbClr val="444444"/>
                          </a:solidFill>
                          <a:latin typeface="Arial"/>
                        </a:rPr>
                        <a:t>Grower-reported cover and residue for a few dozen fields, to check the ranking against what was actually done</a:t>
                      </a:r>
                    </a:p>
                  </a:txBody>
                  <a:tcPr marL="82296" marR="82296" marT="27432" marB="27432" anchor="ctr">
                    <a:solidFill>
                      <a:srgbClr val="F2F2F2"/>
                    </a:solidFill>
                  </a:tcPr>
                </a:tc>
                <a:tc>
                  <a:txBody>
                    <a:bodyPr/>
                    <a:lstStyle/>
                    <a:p>
                      <a:pPr algn="ctr"/>
                      <a:r>
                        <a:rPr sz="1100" b="0">
                          <a:solidFill>
                            <a:srgbClr val="444444"/>
                          </a:solidFill>
                          <a:latin typeface="Arial"/>
                        </a:rPr>
                        <a:t>one season</a:t>
                      </a:r>
                    </a:p>
                  </a:txBody>
                  <a:tcPr marL="82296" marR="82296" marT="27432" marB="27432" anchor="ctr">
                    <a:solidFill>
                      <a:srgbClr val="F2F2F2"/>
                    </a:solidFill>
                  </a:tcPr>
                </a:tc>
              </a:tr>
            </a:tbl>
          </a:graphicData>
        </a:graphic>
      </p:graphicFrame>
      <p:sp>
        <p:nvSpPr>
          <p:cNvPr id="12" name="TextBox 11"/>
          <p:cNvSpPr txBox="1"/>
          <p:nvPr/>
        </p:nvSpPr>
        <p:spPr>
          <a:xfrm>
            <a:off x="566928" y="6053328"/>
            <a:ext cx="11057839" cy="384048"/>
          </a:xfrm>
          <a:prstGeom prst="rect">
            <a:avLst/>
          </a:prstGeom>
          <a:noFill/>
        </p:spPr>
        <p:txBody>
          <a:bodyPr wrap="square" lIns="0" rIns="0" tIns="0" bIns="0" anchor="t">
            <a:spAutoFit/>
          </a:bodyPr>
          <a:lstStyle/>
          <a:p>
            <a:pPr algn="l">
              <a:lnSpc>
                <a:spcPct val="132000"/>
              </a:lnSpc>
              <a:spcAft>
                <a:spcPts val="0"/>
              </a:spcAft>
            </a:pPr>
            <a:r>
              <a:rPr sz="919" b="0" i="0">
                <a:solidFill>
                  <a:srgbClr val="8A8C8E"/>
                </a:solidFill>
                <a:latin typeface="Arial"/>
              </a:rPr>
              <a:t>The compute is not the constraint: 203 fields ran on a laptop in eight hours, and a member's cohort is a few minutes of that.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What this is not</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83080"/>
            <a:ext cx="11057839" cy="4206240"/>
          </a:xfrm>
          <a:prstGeom prst="rect">
            <a:avLst/>
          </a:prstGeom>
          <a:noFill/>
        </p:spPr>
        <p:txBody>
          <a:bodyPr wrap="square" lIns="0" rIns="0" tIns="0" bIns="0" anchor="t">
            <a:spAutoFit/>
          </a:bodyPr>
          <a:lstStyle/>
          <a:p>
            <a:pPr algn="l">
              <a:lnSpc>
                <a:spcPct val="136000"/>
              </a:lnSpc>
              <a:spcAft>
                <a:spcPts val="700"/>
              </a:spcAft>
            </a:pPr>
            <a:r>
              <a:rPr sz="1300" b="0" i="0">
                <a:solidFill>
                  <a:srgbClr val="58595B"/>
                </a:solidFill>
                <a:latin typeface="Arial"/>
              </a:rPr>
              <a:t>•  </a:t>
            </a:r>
            <a:r>
              <a:rPr sz="1300" b="1" i="0">
                <a:solidFill>
                  <a:srgbClr val="58595B"/>
                </a:solidFill>
                <a:latin typeface="Arial"/>
              </a:rPr>
              <a:t>Not validated. </a:t>
            </a:r>
            <a:r>
              <a:rPr sz="1300" b="0" i="0">
                <a:solidFill>
                  <a:srgbClr val="58595B"/>
                </a:solidFill>
                <a:latin typeface="Arial"/>
              </a:rPr>
              <a:t>No grower record has been checked against any of this, in any of the three counties. Every criterion we used to choose between scores measures behavior — crop neutrality, independence, stability, coverage — not accuracy.</a:t>
            </a:r>
          </a:p>
          <a:p>
            <a:pPr algn="l">
              <a:lnSpc>
                <a:spcPct val="136000"/>
              </a:lnSpc>
              <a:spcAft>
                <a:spcPts val="700"/>
              </a:spcAft>
            </a:pPr>
            <a:r>
              <a:rPr sz="1300" b="0" i="0">
                <a:solidFill>
                  <a:srgbClr val="58595B"/>
                </a:solidFill>
                <a:latin typeface="Arial"/>
              </a:rPr>
              <a:t>•  </a:t>
            </a:r>
            <a:r>
              <a:rPr sz="1300" b="1" i="0">
                <a:solidFill>
                  <a:srgbClr val="58595B"/>
                </a:solidFill>
                <a:latin typeface="Arial"/>
              </a:rPr>
              <a:t>Not a judgment of any individual field. </a:t>
            </a:r>
            <a:r>
              <a:rPr sz="1300" b="0" i="0">
                <a:solidFill>
                  <a:srgbClr val="58595B"/>
                </a:solidFill>
                <a:latin typeface="Arial"/>
              </a:rPr>
              <a:t>Three counties of internal consistency is not evidence that a given grower is doing well or badly.</a:t>
            </a:r>
          </a:p>
          <a:p>
            <a:pPr algn="l">
              <a:lnSpc>
                <a:spcPct val="136000"/>
              </a:lnSpc>
              <a:spcAft>
                <a:spcPts val="700"/>
              </a:spcAft>
            </a:pPr>
            <a:r>
              <a:rPr sz="1300" b="0" i="0">
                <a:solidFill>
                  <a:srgbClr val="58595B"/>
                </a:solidFill>
                <a:latin typeface="Arial"/>
              </a:rPr>
              <a:t>•  </a:t>
            </a:r>
            <a:r>
              <a:rPr sz="1300" b="1" i="0">
                <a:solidFill>
                  <a:srgbClr val="58595B"/>
                </a:solidFill>
                <a:latin typeface="Arial"/>
              </a:rPr>
              <a:t>Not current boundaries. </a:t>
            </a:r>
            <a:r>
              <a:rPr sz="1300" b="0" i="0">
                <a:solidFill>
                  <a:srgbClr val="58595B"/>
                </a:solidFill>
                <a:latin typeface="Arial"/>
              </a:rPr>
              <a:t>2008 CLU, with a purity filter that removes the worst drift and cannot fix a field split along a line the crop layer still reads as uniform.</a:t>
            </a:r>
          </a:p>
          <a:p>
            <a:pPr algn="l">
              <a:lnSpc>
                <a:spcPct val="136000"/>
              </a:lnSpc>
              <a:spcAft>
                <a:spcPts val="700"/>
              </a:spcAft>
            </a:pPr>
            <a:r>
              <a:rPr sz="1300" b="0" i="0">
                <a:solidFill>
                  <a:srgbClr val="58595B"/>
                </a:solidFill>
                <a:latin typeface="Arial"/>
              </a:rPr>
              <a:t>•  </a:t>
            </a:r>
            <a:r>
              <a:rPr sz="1300" b="1" i="0">
                <a:solidFill>
                  <a:srgbClr val="58595B"/>
                </a:solidFill>
                <a:latin typeface="Arial"/>
              </a:rPr>
              <a:t>Not a national result. </a:t>
            </a:r>
            <a:r>
              <a:rPr sz="1300" b="0" i="0">
                <a:solidFill>
                  <a:srgbClr val="58595B"/>
                </a:solidFill>
                <a:latin typeface="Arial"/>
              </a:rPr>
              <a:t>Three counties. No irrigated West, no Delta, no Northern Plains, no specialty crops.</a:t>
            </a:r>
          </a:p>
          <a:p>
            <a:pPr algn="l">
              <a:lnSpc>
                <a:spcPct val="136000"/>
              </a:lnSpc>
              <a:spcAft>
                <a:spcPts val="700"/>
              </a:spcAft>
            </a:pPr>
            <a:r>
              <a:rPr sz="1300" b="0" i="0">
                <a:solidFill>
                  <a:srgbClr val="58595B"/>
                </a:solidFill>
                <a:latin typeface="Arial"/>
              </a:rPr>
              <a:t>•  </a:t>
            </a:r>
            <a:r>
              <a:rPr sz="1300" b="1" i="0">
                <a:solidFill>
                  <a:srgbClr val="58595B"/>
                </a:solidFill>
                <a:latin typeface="Arial"/>
              </a:rPr>
              <a:t>Not a tillage metric. </a:t>
            </a:r>
            <a:r>
              <a:rPr sz="1300" b="0" i="0">
                <a:solidFill>
                  <a:srgbClr val="58595B"/>
                </a:solidFill>
                <a:latin typeface="Arial"/>
              </a:rPr>
              <a:t>Soil armor measures cover from any source. We have measured that its apparent tillage signal runs through cover cropping.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TM-H_rgb.png"/>
          <p:cNvPicPr>
            <a:picLocks noChangeAspect="1"/>
          </p:cNvPicPr>
          <p:nvPr/>
        </p:nvPicPr>
        <p:blipFill>
          <a:blip r:embed="rId2"/>
          <a:stretch>
            <a:fillRect/>
          </a:stretch>
        </p:blipFill>
        <p:spPr>
          <a:xfrm>
            <a:off x="9795967" y="384048"/>
            <a:ext cx="1828800" cy="559000"/>
          </a:xfrm>
          <a:prstGeom prst="rect">
            <a:avLst/>
          </a:prstGeom>
        </p:spPr>
      </p:pic>
      <p:sp>
        <p:nvSpPr>
          <p:cNvPr id="4" name="TextBox 3"/>
          <p:cNvSpPr txBox="1"/>
          <p:nvPr/>
        </p:nvSpPr>
        <p:spPr>
          <a:xfrm>
            <a:off x="566928" y="1005840"/>
            <a:ext cx="8954719" cy="566928"/>
          </a:xfrm>
          <a:prstGeom prst="rect">
            <a:avLst/>
          </a:prstGeom>
          <a:noFill/>
        </p:spPr>
        <p:txBody>
          <a:bodyPr wrap="square" lIns="0" rIns="0" tIns="0" bIns="0" anchor="t">
            <a:spAutoFit/>
          </a:bodyPr>
          <a:lstStyle/>
          <a:p>
            <a:pPr algn="l">
              <a:lnSpc>
                <a:spcPct val="100000"/>
              </a:lnSpc>
              <a:spcAft>
                <a:spcPts val="0"/>
              </a:spcAft>
            </a:pPr>
            <a:r>
              <a:rPr sz="2500" b="1" i="0">
                <a:solidFill>
                  <a:srgbClr val="10427C"/>
                </a:solidFill>
                <a:latin typeface="Arial Narrow"/>
              </a:rPr>
              <a:t>What we are asking for</a:t>
            </a:r>
          </a:p>
        </p:txBody>
      </p:sp>
      <p:sp>
        <p:nvSpPr>
          <p:cNvPr id="5" name="Rectangle 4"/>
          <p:cNvSpPr/>
          <p:nvPr/>
        </p:nvSpPr>
        <p:spPr>
          <a:xfrm>
            <a:off x="0" y="6510528"/>
            <a:ext cx="4885822" cy="274320"/>
          </a:xfrm>
          <a:prstGeom prst="rect">
            <a:avLst/>
          </a:prstGeom>
          <a:solidFill>
            <a:srgbClr val="1042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76678" y="6510528"/>
            <a:ext cx="4885822" cy="274320"/>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3356" y="6510528"/>
            <a:ext cx="618728" cy="274320"/>
          </a:xfrm>
          <a:prstGeom prst="rect">
            <a:avLst/>
          </a:prstGeom>
          <a:solidFill>
            <a:srgbClr val="00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62940" y="6510528"/>
            <a:ext cx="618728" cy="274320"/>
          </a:xfrm>
          <a:prstGeom prst="rect">
            <a:avLst/>
          </a:prstGeom>
          <a:solidFill>
            <a:srgbClr val="0D9A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525" y="6510528"/>
            <a:ext cx="618728" cy="274320"/>
          </a:xfrm>
          <a:prstGeom prst="rect">
            <a:avLst/>
          </a:prstGeom>
          <a:solidFill>
            <a:srgbClr val="462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582110" y="6510528"/>
            <a:ext cx="618728" cy="274320"/>
          </a:xfrm>
          <a:prstGeom prst="rect">
            <a:avLst/>
          </a:prstGeom>
          <a:solidFill>
            <a:srgbClr val="FFD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37360"/>
            <a:ext cx="5349240" cy="237744"/>
          </a:xfrm>
          <a:prstGeom prst="rect">
            <a:avLst/>
          </a:prstGeom>
          <a:noFill/>
        </p:spPr>
        <p:txBody>
          <a:bodyPr wrap="square" lIns="0" rIns="0" tIns="0" bIns="0" anchor="t">
            <a:spAutoFit/>
          </a:bodyPr>
          <a:lstStyle/>
          <a:p>
            <a:pPr algn="l">
              <a:lnSpc>
                <a:spcPct val="100000"/>
              </a:lnSpc>
              <a:spcAft>
                <a:spcPts val="0"/>
              </a:spcAft>
            </a:pPr>
            <a:r>
              <a:rPr sz="950" b="1" i="0">
                <a:solidFill>
                  <a:srgbClr val="F46C09"/>
                </a:solidFill>
                <a:latin typeface="Arial Narrow"/>
              </a:rPr>
              <a:t>THE FINDING</a:t>
            </a:r>
          </a:p>
        </p:txBody>
      </p:sp>
      <p:sp>
        <p:nvSpPr>
          <p:cNvPr id="12" name="TextBox 11"/>
          <p:cNvSpPr txBox="1"/>
          <p:nvPr/>
        </p:nvSpPr>
        <p:spPr>
          <a:xfrm>
            <a:off x="566928" y="2084831"/>
            <a:ext cx="5349240" cy="2377440"/>
          </a:xfrm>
          <a:prstGeom prst="rect">
            <a:avLst/>
          </a:prstGeom>
          <a:noFill/>
        </p:spPr>
        <p:txBody>
          <a:bodyPr wrap="square" lIns="0" rIns="0" tIns="0" bIns="0" anchor="t">
            <a:spAutoFit/>
          </a:bodyPr>
          <a:lstStyle/>
          <a:p>
            <a:pPr algn="l">
              <a:lnSpc>
                <a:spcPct val="130000"/>
              </a:lnSpc>
              <a:spcAft>
                <a:spcPts val="700"/>
              </a:spcAft>
            </a:pPr>
            <a:r>
              <a:rPr sz="1250" b="1" i="0">
                <a:solidFill>
                  <a:srgbClr val="58595B"/>
                </a:solidFill>
                <a:latin typeface="Arial"/>
              </a:rPr>
              <a:t>Members are right about the benchmark. </a:t>
            </a:r>
            <a:r>
              <a:rPr sz="1250" b="0" i="0">
                <a:solidFill>
                  <a:srgbClr val="58595B"/>
                </a:solidFill>
                <a:latin typeface="Arial"/>
              </a:rPr>
              <a:t>Nearly three quarters of the variation in soil cover is between counties. Pooling them tells an Illinois grower they are below average for farming in Illinois.</a:t>
            </a:r>
          </a:p>
          <a:p>
            <a:pPr algn="l">
              <a:lnSpc>
                <a:spcPct val="130000"/>
              </a:lnSpc>
              <a:spcAft>
                <a:spcPts val="700"/>
              </a:spcAft>
            </a:pPr>
            <a:r>
              <a:rPr sz="1250" b="1" i="0">
                <a:solidFill>
                  <a:srgbClr val="58595B"/>
                </a:solidFill>
                <a:latin typeface="Arial"/>
              </a:rPr>
              <a:t>A local comparison already runs</a:t>
            </a:r>
            <a:r>
              <a:rPr sz="1250" b="0" i="0">
                <a:solidFill>
                  <a:srgbClr val="58595B"/>
                </a:solidFill>
                <a:latin typeface="Arial"/>
              </a:rPr>
              <a:t>, on free imagery, with no data asked of the member or of anyone around them.</a:t>
            </a:r>
          </a:p>
        </p:txBody>
      </p:sp>
      <p:sp>
        <p:nvSpPr>
          <p:cNvPr id="13" name="TextBox 12"/>
          <p:cNvSpPr txBox="1"/>
          <p:nvPr/>
        </p:nvSpPr>
        <p:spPr>
          <a:xfrm>
            <a:off x="6355080" y="1737360"/>
            <a:ext cx="5266944" cy="237744"/>
          </a:xfrm>
          <a:prstGeom prst="rect">
            <a:avLst/>
          </a:prstGeom>
          <a:noFill/>
        </p:spPr>
        <p:txBody>
          <a:bodyPr wrap="square" lIns="0" rIns="0" tIns="0" bIns="0" anchor="t">
            <a:spAutoFit/>
          </a:bodyPr>
          <a:lstStyle/>
          <a:p>
            <a:pPr algn="l">
              <a:lnSpc>
                <a:spcPct val="100000"/>
              </a:lnSpc>
              <a:spcAft>
                <a:spcPts val="0"/>
              </a:spcAft>
            </a:pPr>
            <a:r>
              <a:rPr sz="950" b="1" i="0">
                <a:solidFill>
                  <a:srgbClr val="F46C09"/>
                </a:solidFill>
                <a:latin typeface="Arial Narrow"/>
              </a:rPr>
              <a:t>THE NEXT THREE STEPS</a:t>
            </a:r>
          </a:p>
        </p:txBody>
      </p:sp>
      <p:sp>
        <p:nvSpPr>
          <p:cNvPr id="14" name="TextBox 13"/>
          <p:cNvSpPr txBox="1"/>
          <p:nvPr/>
        </p:nvSpPr>
        <p:spPr>
          <a:xfrm>
            <a:off x="6355080" y="2084831"/>
            <a:ext cx="5266944" cy="2377440"/>
          </a:xfrm>
          <a:prstGeom prst="rect">
            <a:avLst/>
          </a:prstGeom>
          <a:noFill/>
        </p:spPr>
        <p:txBody>
          <a:bodyPr wrap="square" lIns="0" rIns="0" tIns="0" bIns="0" anchor="t">
            <a:spAutoFit/>
          </a:bodyPr>
          <a:lstStyle/>
          <a:p>
            <a:pPr algn="l">
              <a:lnSpc>
                <a:spcPct val="130000"/>
              </a:lnSpc>
              <a:spcAft>
                <a:spcPts val="700"/>
              </a:spcAft>
            </a:pPr>
            <a:r>
              <a:rPr sz="1250" b="1" i="0">
                <a:solidFill>
                  <a:srgbClr val="58595B"/>
                </a:solidFill>
                <a:latin typeface="Arial"/>
              </a:rPr>
              <a:t>1. </a:t>
            </a:r>
            <a:r>
              <a:rPr sz="1250" b="0" i="0">
                <a:solidFill>
                  <a:srgbClr val="58595B"/>
                </a:solidFill>
                <a:latin typeface="Arial"/>
              </a:rPr>
              <a:t>Ask FSA whether we qualify for current CLU.</a:t>
            </a:r>
          </a:p>
          <a:p>
            <a:pPr algn="l">
              <a:lnSpc>
                <a:spcPct val="130000"/>
              </a:lnSpc>
              <a:spcAft>
                <a:spcPts val="700"/>
              </a:spcAft>
            </a:pPr>
            <a:r>
              <a:rPr sz="1250" b="1" i="0">
                <a:solidFill>
                  <a:srgbClr val="58595B"/>
                </a:solidFill>
                <a:latin typeface="Arial"/>
              </a:rPr>
              <a:t>2. </a:t>
            </a:r>
            <a:r>
              <a:rPr sz="1250" b="0" i="0">
                <a:solidFill>
                  <a:srgbClr val="58595B"/>
                </a:solidFill>
                <a:latin typeface="Arial"/>
              </a:rPr>
              <a:t>Pick one member cooperative and run their fields the way we ran these three counties.</a:t>
            </a:r>
          </a:p>
          <a:p>
            <a:pPr algn="l">
              <a:lnSpc>
                <a:spcPct val="130000"/>
              </a:lnSpc>
              <a:spcAft>
                <a:spcPts val="700"/>
              </a:spcAft>
            </a:pPr>
            <a:r>
              <a:rPr sz="1250" b="1" i="0">
                <a:solidFill>
                  <a:srgbClr val="58595B"/>
                </a:solidFill>
                <a:latin typeface="Arial"/>
              </a:rPr>
              <a:t>3. </a:t>
            </a:r>
            <a:r>
              <a:rPr sz="1250" b="0" i="0">
                <a:solidFill>
                  <a:srgbClr val="58595B"/>
                </a:solidFill>
                <a:latin typeface="Arial"/>
              </a:rPr>
              <a:t>Collect one season of grower-reported cover on a few dozen of those fields, and find out whether the ranking is right.</a:t>
            </a:r>
          </a:p>
        </p:txBody>
      </p:sp>
      <p:sp>
        <p:nvSpPr>
          <p:cNvPr id="15" name="Rectangle 14"/>
          <p:cNvSpPr/>
          <p:nvPr/>
        </p:nvSpPr>
        <p:spPr>
          <a:xfrm>
            <a:off x="566928" y="4800600"/>
            <a:ext cx="45720" cy="512064"/>
          </a:xfrm>
          <a:prstGeom prst="rect">
            <a:avLst/>
          </a:prstGeom>
          <a:solidFill>
            <a:srgbClr val="F46C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837176"/>
            <a:ext cx="10607040" cy="457200"/>
          </a:xfrm>
          <a:prstGeom prst="rect">
            <a:avLst/>
          </a:prstGeom>
          <a:noFill/>
        </p:spPr>
        <p:txBody>
          <a:bodyPr wrap="square" lIns="0" rIns="0" tIns="0" bIns="0" anchor="t">
            <a:spAutoFit/>
          </a:bodyPr>
          <a:lstStyle/>
          <a:p>
            <a:pPr algn="l">
              <a:lnSpc>
                <a:spcPct val="140000"/>
              </a:lnSpc>
              <a:spcAft>
                <a:spcPts val="0"/>
              </a:spcAft>
            </a:pPr>
            <a:r>
              <a:rPr sz="1400" b="0" i="0">
                <a:solidFill>
                  <a:srgbClr val="212121"/>
                </a:solidFill>
                <a:latin typeface="Arial"/>
              </a:rPr>
              <a:t>We can stop telling growers they are below a national average that was never about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