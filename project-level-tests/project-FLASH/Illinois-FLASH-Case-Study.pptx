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0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0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129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TM-H_wTAG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0080"/>
            <a:ext cx="4023360" cy="15355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240280"/>
            <a:ext cx="10058400" cy="1394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lang="en-US" sz="4200" b="1" dirty="0">
                <a:solidFill>
                  <a:srgbClr val="10427C"/>
                </a:solidFill>
                <a:latin typeface="Arial Narrow"/>
              </a:rPr>
              <a:t>AFT FLASH project</a:t>
            </a:r>
            <a:r>
              <a:rPr sz="4200" b="1" dirty="0">
                <a:solidFill>
                  <a:srgbClr val="10427C"/>
                </a:solidFill>
                <a:latin typeface="Arial Narrow"/>
              </a:rPr>
              <a:t>: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200" b="1" dirty="0">
                <a:solidFill>
                  <a:srgbClr val="10427C"/>
                </a:solidFill>
                <a:latin typeface="Arial Narrow"/>
              </a:rPr>
              <a:t>what </a:t>
            </a:r>
            <a:r>
              <a:rPr lang="en-US" sz="4200" b="1" dirty="0">
                <a:solidFill>
                  <a:srgbClr val="10427C"/>
                </a:solidFill>
                <a:latin typeface="Arial Narrow"/>
              </a:rPr>
              <a:t>remote sensing detected</a:t>
            </a:r>
            <a:endParaRPr sz="4200" b="1" dirty="0">
              <a:solidFill>
                <a:srgbClr val="10427C"/>
              </a:solidFill>
              <a:latin typeface="Arial Narro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3931920"/>
            <a:ext cx="1920240" cy="54864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4224528"/>
            <a:ext cx="8229600" cy="56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dirty="0">
                <a:solidFill>
                  <a:srgbClr val="58595B"/>
                </a:solidFill>
                <a:latin typeface="Arial"/>
              </a:rPr>
              <a:t>98 fields enrolled in </a:t>
            </a:r>
            <a:r>
              <a:rPr sz="1400" b="1" dirty="0">
                <a:solidFill>
                  <a:srgbClr val="58595B"/>
                </a:solidFill>
                <a:latin typeface="Arial"/>
              </a:rPr>
              <a:t>Farmer-Led Advances in Soil Health</a:t>
            </a:r>
            <a:r>
              <a:rPr sz="1400" b="0" dirty="0">
                <a:solidFill>
                  <a:srgbClr val="58595B"/>
                </a:solidFill>
                <a:latin typeface="Arial"/>
              </a:rPr>
              <a:t>, read from satellite imagery and compared against what was entered in </a:t>
            </a:r>
            <a:r>
              <a:rPr lang="en-US" sz="1400" b="0" dirty="0">
                <a:solidFill>
                  <a:srgbClr val="58595B"/>
                </a:solidFill>
                <a:latin typeface="Arial"/>
              </a:rPr>
              <a:t>the </a:t>
            </a:r>
            <a:r>
              <a:rPr sz="1400" b="0" dirty="0">
                <a:solidFill>
                  <a:srgbClr val="58595B"/>
                </a:solidFill>
                <a:latin typeface="Arial"/>
              </a:rPr>
              <a:t>Fieldprint</a:t>
            </a:r>
            <a:r>
              <a:rPr lang="en-US" sz="1400" b="0" dirty="0">
                <a:solidFill>
                  <a:srgbClr val="58595B"/>
                </a:solidFill>
                <a:latin typeface="Arial"/>
              </a:rPr>
              <a:t> Calculator</a:t>
            </a:r>
            <a:r>
              <a:rPr sz="1400" b="0" dirty="0">
                <a:solidFill>
                  <a:srgbClr val="58595B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06440"/>
            <a:ext cx="9144000" cy="188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dirty="0">
                <a:latin typeface="Arial"/>
              </a:rPr>
              <a:t>Fieldprint project 370   ·   winters 2022-23 to 2025-26   ·   analysis run 11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The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195 Fieldprint payloads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 (field-years or crop intervals)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from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98 field boundaries.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029968"/>
            <a:ext cx="262729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185416"/>
            <a:ext cx="22249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0427C"/>
                </a:solidFill>
                <a:latin typeface="Arial Narrow"/>
              </a:rPr>
              <a:t>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43200"/>
            <a:ext cx="22249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dirty="0">
                <a:solidFill>
                  <a:srgbClr val="58595B"/>
                </a:solidFill>
                <a:latin typeface="Arial"/>
              </a:rPr>
              <a:t>distinct field boundaries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7107" y="2029968"/>
            <a:ext cx="262729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8275" y="2185416"/>
            <a:ext cx="22249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0427C"/>
                </a:solidFill>
                <a:latin typeface="Arial Narrow"/>
              </a:rPr>
              <a:t>8,668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8275" y="2743200"/>
            <a:ext cx="2224963" cy="18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dirty="0">
                <a:solidFill>
                  <a:srgbClr val="58595B"/>
                </a:solidFill>
                <a:latin typeface="Arial"/>
              </a:rPr>
              <a:t>acres, median field</a:t>
            </a:r>
            <a:r>
              <a:rPr lang="en-US" sz="1050" b="0" dirty="0">
                <a:solidFill>
                  <a:srgbClr val="58595B"/>
                </a:solidFill>
                <a:latin typeface="Arial"/>
              </a:rPr>
              <a:t> size</a:t>
            </a:r>
            <a:r>
              <a:rPr sz="1050" b="0" dirty="0">
                <a:solidFill>
                  <a:srgbClr val="58595B"/>
                </a:solidFill>
                <a:latin typeface="Arial"/>
              </a:rPr>
              <a:t> 79</a:t>
            </a:r>
            <a:r>
              <a:rPr lang="en-US" sz="1050" b="0" dirty="0">
                <a:solidFill>
                  <a:srgbClr val="58595B"/>
                </a:solidFill>
                <a:latin typeface="Arial"/>
              </a:rPr>
              <a:t> acres</a:t>
            </a:r>
            <a:endParaRPr sz="1050" b="0" dirty="0">
              <a:solidFill>
                <a:srgbClr val="58595B"/>
              </a:solidFill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7287" y="2029968"/>
            <a:ext cx="262729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2185416"/>
            <a:ext cx="22249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0427C"/>
                </a:solidFill>
                <a:latin typeface="Arial Narrow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55" y="2743200"/>
            <a:ext cx="22249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58595B"/>
                </a:solidFill>
                <a:latin typeface="Arial"/>
              </a:rPr>
              <a:t>counties, all Illinois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467" y="2029968"/>
            <a:ext cx="2627299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4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98635" y="2185416"/>
            <a:ext cx="222496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46C09"/>
                </a:solidFill>
                <a:latin typeface="Arial Narrow"/>
              </a:rPr>
              <a:t>15,323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635" y="2743200"/>
            <a:ext cx="222496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58595B"/>
                </a:solidFill>
                <a:latin typeface="Arial"/>
              </a:rPr>
              <a:t>cloud-free observations read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66928" y="3474720"/>
          <a:ext cx="4572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County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fields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Jo Daviess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Montgomery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Champaign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Livingston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Coles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Ford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5" name="Picture 24" descr="01_field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474720"/>
            <a:ext cx="5074920" cy="24361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6928" y="6053328"/>
            <a:ext cx="11057839" cy="166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19" b="0" dirty="0">
                <a:latin typeface="Arial"/>
              </a:rPr>
              <a:t>The same physical field appears once per crop year under a different Fieldprint id, so boundaries were deduplicated on geometry.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dirty="0">
                <a:solidFill>
                  <a:srgbClr val="10427C"/>
                </a:solidFill>
                <a:latin typeface="Arial Narrow"/>
              </a:rPr>
              <a:t>What w</a:t>
            </a:r>
            <a:r>
              <a:rPr lang="en-US" sz="2500" b="1" dirty="0">
                <a:solidFill>
                  <a:srgbClr val="10427C"/>
                </a:solidFill>
                <a:latin typeface="Arial Narrow"/>
              </a:rPr>
              <a:t>e</a:t>
            </a:r>
            <a:r>
              <a:rPr sz="2500" b="1" dirty="0">
                <a:solidFill>
                  <a:srgbClr val="10427C"/>
                </a:solidFill>
                <a:latin typeface="Arial Narrow"/>
              </a:rPr>
              <a:t>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58595B"/>
                </a:solidFill>
                <a:latin typeface="Arial"/>
              </a:rPr>
              <a:t>For each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boundary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 we get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crop history, season dates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 soil cover,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and an off-season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029968"/>
            <a:ext cx="5669280" cy="2264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Sentinel-2 L2A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surface reflectance, 10 m, cloud-masked with the scene classification layer.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2022 to present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— four complete off-seasons: 2022-23, 2023-24, 2024-25, 2025-26.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USDA Cropland Data Layer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for crop type and for the check on whether a boundary holds one field or several.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88 minutes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for all 98 fields, 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n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o failures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 Median 126 clear observations per field.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Crops present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(CDL): corn on 97 fields, soybeans on 91, winter wheat on 4, with small areas of grass, pasture and alfalfa.</a:t>
            </a:r>
          </a:p>
        </p:txBody>
      </p:sp>
      <p:pic>
        <p:nvPicPr>
          <p:cNvPr id="14" name="Picture 13" descr="02_boundary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03120"/>
            <a:ext cx="5257800" cy="19815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80" y="3977639"/>
            <a:ext cx="5257800" cy="909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2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58595B"/>
                </a:solidFill>
                <a:latin typeface="Arial"/>
              </a:rPr>
              <a:t>Boundary quality is checked before anything else, because every number downstream averages over whatever the outline contains.</a:t>
            </a:r>
            <a:endParaRPr lang="en-US" sz="1150" b="0" dirty="0">
              <a:solidFill>
                <a:srgbClr val="58595B"/>
              </a:solidFill>
              <a:latin typeface="Arial"/>
            </a:endParaRPr>
          </a:p>
          <a:p>
            <a:pPr marL="171450" indent="-171450" algn="l">
              <a:lnSpc>
                <a:spcPct val="132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58595B"/>
                </a:solidFill>
                <a:latin typeface="Arial"/>
              </a:rPr>
              <a:t>Ideally, the 29 fields with mixed crop history would be redrawn and reanalyzed.</a:t>
            </a:r>
            <a:endParaRPr sz="1150" b="0" dirty="0">
              <a:solidFill>
                <a:srgbClr val="58595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The growing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What a corn and soybean rotation looks like from orbit.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3_seas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0"/>
            <a:ext cx="6400800" cy="3337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78040" y="2194560"/>
            <a:ext cx="4434840" cy="161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cash crop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signal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is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strong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: bare ground through April, canopy closing in June, senescence from late August.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The cover crop 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verdict gets made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in the flat stretch between November and April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, where the signal is small, the sky is cloudy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and the difference between a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planted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cover and bare residue is a few hundredths of NDVI.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617720"/>
            <a:ext cx="4434840" cy="493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sz="1300" b="1" dirty="0">
                <a:solidFill>
                  <a:srgbClr val="F46C09"/>
                </a:solidFill>
                <a:latin typeface="Arial"/>
              </a:rPr>
              <a:t>The slides </a:t>
            </a:r>
            <a:r>
              <a:rPr sz="1300" b="1" dirty="0">
                <a:solidFill>
                  <a:srgbClr val="F46C09"/>
                </a:solidFill>
                <a:latin typeface="Arial"/>
              </a:rPr>
              <a:t>that follow </a:t>
            </a:r>
            <a:r>
              <a:rPr lang="en-US" sz="1300" b="1" dirty="0">
                <a:solidFill>
                  <a:srgbClr val="F46C09"/>
                </a:solidFill>
                <a:latin typeface="Arial"/>
              </a:rPr>
              <a:t>are focused on the </a:t>
            </a:r>
            <a:r>
              <a:rPr sz="1300" b="1" dirty="0">
                <a:solidFill>
                  <a:srgbClr val="F46C09"/>
                </a:solidFill>
                <a:latin typeface="Arial"/>
              </a:rPr>
              <a:t>off-season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dirty="0">
                <a:solidFill>
                  <a:srgbClr val="10427C"/>
                </a:solidFill>
                <a:latin typeface="Arial Narrow"/>
              </a:rPr>
              <a:t>What </a:t>
            </a:r>
            <a:r>
              <a:rPr lang="en-US" sz="2500" b="1" dirty="0">
                <a:solidFill>
                  <a:srgbClr val="10427C"/>
                </a:solidFill>
                <a:latin typeface="Arial Narrow"/>
              </a:rPr>
              <a:t>AFT </a:t>
            </a:r>
            <a:r>
              <a:rPr sz="2500" b="1" dirty="0">
                <a:solidFill>
                  <a:srgbClr val="10427C"/>
                </a:solidFill>
                <a:latin typeface="Arial Narrow"/>
              </a:rPr>
              <a:t>project staff entered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Fieldprint payloads carry a cover crop record in exactly one winter.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831645"/>
              </p:ext>
            </p:extLst>
          </p:nvPr>
        </p:nvGraphicFramePr>
        <p:xfrm>
          <a:off x="566928" y="2029968"/>
          <a:ext cx="11055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1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2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Winter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fields with a cover crop recorded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What the payload contains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2020-21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tillage, planting, fertilizer, harvest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2021-22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tillage, planting, fertilizer, harvest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2022-23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tillage, planting, fertilizer, harvest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2023-24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tillage, planting, fertilizer, harvest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2024-25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tillage, planting, fertilizer, harvest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0427C"/>
                          </a:solidFill>
                          <a:latin typeface="Arial"/>
                        </a:rPr>
                        <a:t>2025-26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427C"/>
                          </a:solidFill>
                          <a:latin typeface="Arial"/>
                        </a:rPr>
                        <a:t>98 of 98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+ </a:t>
                      </a:r>
                      <a:r>
                        <a:rPr sz="1150" b="1" dirty="0" err="1">
                          <a:solidFill>
                            <a:srgbClr val="10427C"/>
                          </a:solidFill>
                          <a:latin typeface="Arial"/>
                        </a:rPr>
                        <a:t>planting_cover</a:t>
                      </a:r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, with </a:t>
                      </a:r>
                      <a:r>
                        <a:rPr lang="en-US" sz="1150" b="1" dirty="0">
                          <a:solidFill>
                            <a:srgbClr val="10427C"/>
                          </a:solidFill>
                          <a:latin typeface="Arial"/>
                        </a:rPr>
                        <a:t>planting</a:t>
                      </a:r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 and termination dates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4754880"/>
            <a:ext cx="11055096" cy="487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A </a:t>
            </a:r>
            <a:r>
              <a:rPr sz="1250" b="1" dirty="0" err="1">
                <a:solidFill>
                  <a:srgbClr val="58595B"/>
                </a:solidFill>
                <a:latin typeface="Arial"/>
              </a:rPr>
              <a:t>planting_cover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 activity appears 98 times in the entire archive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once per field, all in the 2026 harvest-year interval. Every year from 2008 to 2025 carries the other four activity types and no cover crop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053328"/>
            <a:ext cx="11057839" cy="166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en-US" sz="919" b="0" dirty="0">
                <a:latin typeface="Arial"/>
              </a:rPr>
              <a:t>T</a:t>
            </a:r>
            <a:r>
              <a:rPr sz="919" b="0" dirty="0">
                <a:latin typeface="Arial"/>
              </a:rPr>
              <a:t>he historical intervals are rotation </a:t>
            </a:r>
            <a:r>
              <a:rPr lang="en-US" sz="919" b="0" dirty="0">
                <a:latin typeface="Arial"/>
              </a:rPr>
              <a:t>pre-fills, </a:t>
            </a:r>
            <a:r>
              <a:rPr sz="919" b="0" dirty="0">
                <a:latin typeface="Arial"/>
              </a:rPr>
              <a:t>the crop history Fieldprint needs for its calculations</a:t>
            </a:r>
            <a:r>
              <a:rPr lang="en-US" sz="919" b="0" dirty="0">
                <a:latin typeface="Arial"/>
              </a:rPr>
              <a:t>,</a:t>
            </a:r>
            <a:r>
              <a:rPr sz="919" b="0" dirty="0">
                <a:latin typeface="Arial"/>
              </a:rPr>
              <a:t> while only the </a:t>
            </a:r>
            <a:r>
              <a:rPr lang="en-US" sz="919" b="0" dirty="0">
                <a:latin typeface="Arial"/>
              </a:rPr>
              <a:t>latest </a:t>
            </a:r>
            <a:r>
              <a:rPr sz="919" b="0" dirty="0">
                <a:latin typeface="Arial"/>
              </a:rPr>
              <a:t>submission year carries </a:t>
            </a:r>
            <a:r>
              <a:rPr lang="en-US" sz="919" b="0" dirty="0">
                <a:latin typeface="Arial"/>
              </a:rPr>
              <a:t>more </a:t>
            </a:r>
            <a:r>
              <a:rPr sz="919" b="0" dirty="0">
                <a:latin typeface="Arial"/>
              </a:rPr>
              <a:t>practice detail.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Cover prevalence the satellite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58595B"/>
                </a:solidFill>
                <a:latin typeface="Arial"/>
              </a:rPr>
              <a:t>Four winters, same 98 fields, same thresholds.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6_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0"/>
            <a:ext cx="5852160" cy="30331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2194560"/>
            <a:ext cx="4937760" cy="135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trend is monotonic and the rise is substantial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from under a third of fields showing off-season green in 2022-23 to roughly two thirds in 2025-26.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That is the shape a cohort progressively adopting cover crops would produce, which is what a soil health project is designed to create.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896112"/>
            <a:ext cx="73152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dirty="0">
                <a:solidFill>
                  <a:srgbClr val="F46C09"/>
                </a:solidFill>
                <a:latin typeface="Arial Narrow"/>
              </a:rPr>
              <a:t>THE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98448"/>
            <a:ext cx="10058400" cy="970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800" b="1" dirty="0">
                <a:solidFill>
                  <a:srgbClr val="10427C"/>
                </a:solidFill>
                <a:latin typeface="Arial Narrow"/>
              </a:rPr>
              <a:t>Of 98 fields </a:t>
            </a:r>
            <a:r>
              <a:rPr lang="en-US" sz="2800" b="1" dirty="0">
                <a:solidFill>
                  <a:srgbClr val="10427C"/>
                </a:solidFill>
                <a:latin typeface="Arial Narrow"/>
              </a:rPr>
              <a:t>planted </a:t>
            </a:r>
            <a:r>
              <a:rPr sz="2800" b="1" dirty="0">
                <a:solidFill>
                  <a:srgbClr val="10427C"/>
                </a:solidFill>
                <a:latin typeface="Arial Narrow"/>
              </a:rPr>
              <a:t>to a cover crop,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800" b="1" dirty="0">
                <a:solidFill>
                  <a:srgbClr val="10427C"/>
                </a:solidFill>
                <a:latin typeface="Arial Narrow"/>
              </a:rPr>
              <a:t>the satellite finds 63.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97480"/>
            <a:ext cx="356402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852928"/>
            <a:ext cx="316169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0427C"/>
                </a:solidFill>
                <a:latin typeface="Arial Narrow"/>
              </a:rPr>
              <a:t>35.7%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410712"/>
            <a:ext cx="316169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58595B"/>
                </a:solidFill>
                <a:latin typeface="Arial"/>
              </a:rPr>
              <a:t>strict reading
"likely cover crop" only — 35 of 98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3834" y="2697480"/>
            <a:ext cx="356402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5002" y="2852928"/>
            <a:ext cx="316169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10427C"/>
                </a:solidFill>
                <a:latin typeface="Arial Narrow"/>
              </a:rPr>
              <a:t>64.3%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5002" y="3410712"/>
            <a:ext cx="316169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 dirty="0">
                <a:solidFill>
                  <a:srgbClr val="58595B"/>
                </a:solidFill>
                <a:latin typeface="Arial"/>
              </a:rPr>
              <a:t>loose reading
any off-season green — 63 of 98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0740" y="2697480"/>
            <a:ext cx="356402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4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1908" y="2852928"/>
            <a:ext cx="316169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46C09"/>
                </a:solidFill>
                <a:latin typeface="Arial Narrow"/>
              </a:rPr>
              <a:t>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1908" y="3410712"/>
            <a:ext cx="316169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50" b="0">
                <a:solidFill>
                  <a:srgbClr val="58595B"/>
                </a:solidFill>
                <a:latin typeface="Arial"/>
              </a:rPr>
              <a:t>missed entirely
"no cover crop detected"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4315968"/>
          <a:ext cx="11055096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2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2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Verdict, winter 2025-26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fields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likely cover crop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possible cover crop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green cover — cover crop or small grain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no cover crop detected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The misses are not bare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Every missed field showed green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 but n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one reached the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NDVI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threshold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 to make a verdict on green cover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5_peak_nd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0"/>
            <a:ext cx="6400800" cy="31423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78040" y="2194560"/>
            <a:ext cx="4434840" cy="1694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All 35 misses fall between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NDVI 0.193 and 0.292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Not one is below 0.15, which is what bare ground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typically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reads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 (from the scientific literature)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34 of the 35 sit in the band 0.20 to 0.30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immediately under the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NDVI threshold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line.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detector is not confusing a cover crop with bare soil. It is seeing a modest amount of green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cover but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declining to call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The off-season, detected against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Both groups were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planted with cover crops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 The separation is real but small.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4_offseas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0"/>
            <a:ext cx="6400800" cy="32574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78040" y="2194560"/>
            <a:ext cx="4434840" cy="1879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Both groups sit near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NDVI of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0.20 from November to March. The split opens in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April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, when the detected group climbs toward 0.39 and the missed group reaches about 0.27.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At 42° north a cover crop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planted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in late October accumulates very little biomass before dormancy.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Almost the entire usable signal is compressed into four to six weeks in spring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the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time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window where Illinois cloud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cover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is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typically heavy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dirty="0">
                <a:solidFill>
                  <a:srgbClr val="10427C"/>
                </a:solidFill>
                <a:latin typeface="Arial Narrow"/>
              </a:rPr>
              <a:t>Every field, every clear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Off-season 2025-26. One thin line per field, both group medians on 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1_all_fields_off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21408"/>
            <a:ext cx="9555480" cy="37241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053328"/>
            <a:ext cx="11057839" cy="353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en-US" sz="919" b="0" dirty="0">
                <a:latin typeface="Arial"/>
              </a:rPr>
              <a:t>T</a:t>
            </a:r>
            <a:r>
              <a:rPr sz="919" b="0" dirty="0">
                <a:latin typeface="Arial"/>
              </a:rPr>
              <a:t>he two groups overlap through most of the winter and separate only in April. Markers show dates carrying at least twenty clear fields</a:t>
            </a:r>
            <a:r>
              <a:rPr lang="en-US" sz="919" b="0" dirty="0">
                <a:latin typeface="Arial"/>
              </a:rPr>
              <a:t>;</a:t>
            </a:r>
            <a:r>
              <a:rPr sz="919" b="0" dirty="0">
                <a:latin typeface="Arial"/>
              </a:rPr>
              <a:t> between early December and early February almost none did, so the medians bridge that stretch.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dirty="0">
                <a:solidFill>
                  <a:srgbClr val="10427C"/>
                </a:solidFill>
                <a:latin typeface="Arial Narrow"/>
              </a:rPr>
              <a:t>Two fields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Both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seemed to have been planted with cover crops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in October 2025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 but o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nly one cleared the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0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94560"/>
            <a:ext cx="10332720" cy="35827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053328"/>
            <a:ext cx="11057839" cy="353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19" b="0" dirty="0">
                <a:latin typeface="Arial"/>
              </a:rPr>
              <a:t>Left: a clear spring rise that stays near or above 0.30 from March. Right: a collapse to 0.12 by November, a flat winter near 0.18, and a rise that only begins in May</a:t>
            </a:r>
            <a:r>
              <a:rPr lang="en-US" sz="919" b="0" dirty="0">
                <a:latin typeface="Arial"/>
              </a:rPr>
              <a:t>,</a:t>
            </a:r>
            <a:r>
              <a:rPr sz="919" b="0" dirty="0">
                <a:latin typeface="Arial"/>
              </a:rPr>
              <a:t> reaching 0.34 at the very edge of the window, after the grower's 20 May termination date. NDVI sees green, not intent: neither panel can distinguish a sown cover crop from volunteer regrowth</a:t>
            </a:r>
            <a:r>
              <a:rPr lang="en-US" sz="919" b="0" dirty="0">
                <a:latin typeface="Arial"/>
              </a:rPr>
              <a:t> or weeds</a:t>
            </a:r>
            <a:r>
              <a:rPr sz="919" b="0" dirty="0"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Thin winters hide cover crops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Detection tracks how many clear days the window contains.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8_obser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0"/>
            <a:ext cx="5852160" cy="2867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2194560"/>
            <a:ext cx="4937760" cy="1956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Fields with ten or fewer clear observations are detected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35.7%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of the time. Fields with more than twenty are detected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88.5%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of the time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two and a half times the rate on the same practice.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median winter here carries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15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clear observations and the thinnest carries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7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 Seventeen of the 53 dates in the window had fewer than twenty of the 98 fields clear at once.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Some of the 35 misses are 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due to heavy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cloud 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cover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500" b="1" dirty="0">
                <a:solidFill>
                  <a:srgbClr val="10427C"/>
                </a:solidFill>
                <a:latin typeface="Arial Narrow"/>
              </a:rPr>
              <a:t>Mixed </a:t>
            </a:r>
            <a:r>
              <a:rPr sz="2500" b="1" dirty="0">
                <a:solidFill>
                  <a:srgbClr val="10427C"/>
                </a:solidFill>
                <a:latin typeface="Arial Narrow"/>
              </a:rPr>
              <a:t>boundaries detect more, not 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58595B"/>
                </a:solidFill>
                <a:latin typeface="Arial"/>
              </a:rPr>
              <a:t>Boundary quality </a:t>
            </a:r>
            <a:r>
              <a:rPr lang="en-US" sz="1250" dirty="0">
                <a:solidFill>
                  <a:srgbClr val="58595B"/>
                </a:solidFill>
                <a:latin typeface="Arial"/>
              </a:rPr>
              <a:t>has a significant impact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9_boundary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0"/>
            <a:ext cx="5852160" cy="2867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2194560"/>
            <a:ext cx="4937760" cy="2741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Boundaries the CDL check flags as holding more than one management unit are detected at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83%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 Clean single-unit boundaries are detected at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56%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A boundary spilling into a grassed waterway, a field margin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 another management unit,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or a neighbor's ground collects winter green that does not belong to the field, and the average rises above the threshold.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29 of these 98 boundaries are 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likely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not a single management unit.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On this cohort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that inflates apparent adoption rather than degrading it.</a:t>
            </a:r>
            <a:endParaRPr lang="en-US" sz="1250" b="0" dirty="0">
              <a:solidFill>
                <a:srgbClr val="58595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Soil armor: a second, independent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Different bands, different physics, same imagery.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029968"/>
            <a:ext cx="5486400" cy="100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58595B"/>
                </a:solidFill>
                <a:latin typeface="Arial"/>
              </a:rPr>
              <a:t>The slides up to this point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came from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NDVI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greenness in the visible and near-infrared. </a:t>
            </a:r>
            <a:endParaRPr lang="en-US" sz="1250" b="0" dirty="0">
              <a:solidFill>
                <a:srgbClr val="58595B"/>
              </a:solidFill>
              <a:latin typeface="Arial"/>
            </a:endParaRP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Soil armor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comes from the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shortwave infrared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, where cellulose and lignin absorb, and decomposes every pixel into three fractions that sum to one: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46120"/>
            <a:ext cx="5486400" cy="8780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living cover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green canopy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crop residue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stubble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 from the previous crop or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a terminated cover crop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• 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bare soil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80560"/>
            <a:ext cx="5486400" cy="487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Soil armor is one minus the bare fraction</a:t>
            </a:r>
            <a:r>
              <a:rPr lang="en-US" sz="1250" b="1" dirty="0">
                <a:solidFill>
                  <a:srgbClr val="58595B"/>
                </a:solidFill>
                <a:latin typeface="Arial"/>
              </a:rPr>
              <a:t>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the share of the surface protected by anything at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93392"/>
            <a:ext cx="5285232" cy="1235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46C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1579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46C09"/>
                </a:solidFill>
                <a:latin typeface="Arial Narrow"/>
              </a:rPr>
              <a:t>It is not a tillage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23744"/>
            <a:ext cx="4828032" cy="67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lang="en-US" sz="1150" b="0" dirty="0">
                <a:solidFill>
                  <a:srgbClr val="58595B"/>
                </a:solidFill>
                <a:latin typeface="Arial"/>
              </a:rPr>
              <a:t>Soil armor represents </a:t>
            </a:r>
            <a:r>
              <a:rPr sz="1150" b="0" dirty="0">
                <a:solidFill>
                  <a:srgbClr val="58595B"/>
                </a:solidFill>
                <a:latin typeface="Arial"/>
              </a:rPr>
              <a:t>ground cover</a:t>
            </a:r>
            <a:r>
              <a:rPr lang="en-US" sz="1150" b="0" dirty="0">
                <a:solidFill>
                  <a:srgbClr val="58595B"/>
                </a:solidFill>
                <a:latin typeface="Arial"/>
              </a:rPr>
              <a:t> from living and dead plant tissue</a:t>
            </a:r>
            <a:r>
              <a:rPr sz="1150" b="0" dirty="0">
                <a:solidFill>
                  <a:srgbClr val="58595B"/>
                </a:solidFill>
                <a:latin typeface="Arial"/>
              </a:rPr>
              <a:t>. A field under a living cover crop and a field under heavy stubble are both protected, and armor counts both.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455272"/>
            <a:ext cx="5285232" cy="423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dirty="0">
                <a:solidFill>
                  <a:srgbClr val="58595B"/>
                </a:solidFill>
                <a:latin typeface="Arial"/>
              </a:rPr>
              <a:t>Method: NDVI–DFI ternary unmixing, after </a:t>
            </a:r>
            <a:r>
              <a:rPr sz="1100" b="0" dirty="0" err="1">
                <a:solidFill>
                  <a:srgbClr val="58595B"/>
                </a:solidFill>
                <a:latin typeface="Arial"/>
              </a:rPr>
              <a:t>Guerschman</a:t>
            </a:r>
            <a:r>
              <a:rPr sz="1100" b="0" dirty="0">
                <a:solidFill>
                  <a:srgbClr val="58595B"/>
                </a:solidFill>
                <a:latin typeface="Arial"/>
              </a:rPr>
              <a:t> et al. (2009) and Wang et al. (2019). </a:t>
            </a:r>
            <a:r>
              <a:rPr lang="en-US" sz="1100" b="0" dirty="0">
                <a:solidFill>
                  <a:srgbClr val="58595B"/>
                </a:solidFill>
                <a:latin typeface="Arial"/>
              </a:rPr>
              <a:t>Results </a:t>
            </a:r>
            <a:r>
              <a:rPr sz="1100" b="0" dirty="0">
                <a:solidFill>
                  <a:srgbClr val="58595B"/>
                </a:solidFill>
                <a:latin typeface="Arial"/>
              </a:rPr>
              <a:t>are </a:t>
            </a:r>
            <a:r>
              <a:rPr lang="en-US" sz="1100" b="0" dirty="0">
                <a:solidFill>
                  <a:srgbClr val="58595B"/>
                </a:solidFill>
                <a:latin typeface="Arial"/>
              </a:rPr>
              <a:t>exploratory</a:t>
            </a:r>
            <a:r>
              <a:rPr sz="1100" b="0" dirty="0">
                <a:solidFill>
                  <a:srgbClr val="58595B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Armor cannot always be read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58595B"/>
                </a:solidFill>
                <a:latin typeface="Arial"/>
              </a:rPr>
              <a:t>It needs clear days in a narrow pre-planting window, and northern Illinois does not always supply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2_armor_read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0280"/>
            <a:ext cx="5852160" cy="29068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2286000"/>
            <a:ext cx="4937760" cy="1694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408 of 490 field-years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produced a reading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83%.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failures are almost entirely too few clear dates: 72 of the 82 gaps are windows with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one or two usable observations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, below the minimum of three.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2022 is the worst year at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59%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readable, with a median of three observations per window. 2025 is the best at 98%.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800600"/>
            <a:ext cx="4937760" cy="745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1" dirty="0">
                <a:solidFill>
                  <a:srgbClr val="F46C09"/>
                </a:solidFill>
                <a:latin typeface="Arial"/>
              </a:rPr>
              <a:t>This is the same cloud problem that suppresses cover crop detection</a:t>
            </a:r>
            <a:r>
              <a:rPr sz="1250" b="0" dirty="0">
                <a:solidFill>
                  <a:srgbClr val="F46C09"/>
                </a:solidFill>
                <a:latin typeface="Arial"/>
              </a:rPr>
              <a:t>, now hitting a second metric</a:t>
            </a:r>
            <a:r>
              <a:rPr lang="en-US" sz="1250" b="0" dirty="0">
                <a:solidFill>
                  <a:srgbClr val="F46C09"/>
                </a:solidFill>
                <a:latin typeface="Arial"/>
              </a:rPr>
              <a:t>,</a:t>
            </a:r>
            <a:r>
              <a:rPr sz="1250" b="0" dirty="0">
                <a:solidFill>
                  <a:srgbClr val="F46C09"/>
                </a:solidFill>
                <a:latin typeface="Arial"/>
              </a:rPr>
              <a:t> and the armor window is narrower, so it </a:t>
            </a:r>
            <a:r>
              <a:rPr lang="en-US" sz="1250" b="0" dirty="0">
                <a:solidFill>
                  <a:srgbClr val="F46C09"/>
                </a:solidFill>
                <a:latin typeface="Arial"/>
              </a:rPr>
              <a:t>hits </a:t>
            </a:r>
            <a:r>
              <a:rPr sz="1250" b="0" dirty="0">
                <a:solidFill>
                  <a:srgbClr val="F46C09"/>
                </a:solidFill>
                <a:latin typeface="Arial"/>
              </a:rPr>
              <a:t>harder.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0427C"/>
                </a:solidFill>
                <a:latin typeface="Arial Narrow"/>
              </a:rPr>
              <a:t>The two measurements agree with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58595B"/>
                </a:solidFill>
                <a:latin typeface="Arial"/>
              </a:rPr>
              <a:t>Spring 2026 ground cover against what NDVI concluded about the winter before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3_armor_vs_ver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0280"/>
            <a:ext cx="5852160" cy="3063388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75120" y="2286000"/>
          <a:ext cx="4937759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Spring 2026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armor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n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detector said cover crop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427C"/>
                          </a:solidFill>
                          <a:latin typeface="Arial"/>
                        </a:rPr>
                        <a:t>0.615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detector said none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0.514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675120" y="361188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58595B"/>
                </a:solidFill>
                <a:latin typeface="Arial"/>
              </a:rPr>
              <a:t>A gap of </a:t>
            </a:r>
            <a:r>
              <a:rPr sz="1250" b="1">
                <a:solidFill>
                  <a:srgbClr val="58595B"/>
                </a:solidFill>
                <a:latin typeface="Arial"/>
              </a:rPr>
              <a:t>0.101</a:t>
            </a:r>
            <a:r>
              <a:rPr sz="1250" b="0">
                <a:solidFill>
                  <a:srgbClr val="58595B"/>
                </a:solidFill>
                <a:latin typeface="Arial"/>
              </a:rPr>
              <a:t>, with </a:t>
            </a:r>
            <a:r>
              <a:rPr sz="1250" b="1">
                <a:solidFill>
                  <a:srgbClr val="58595B"/>
                </a:solidFill>
                <a:latin typeface="Arial"/>
              </a:rPr>
              <a:t>AUC 0.83</a:t>
            </a:r>
            <a:r>
              <a:rPr sz="1250" b="0">
                <a:solidFill>
                  <a:srgbClr val="58595B"/>
                </a:solidFill>
                <a:latin typeface="Arial"/>
              </a:rPr>
              <a:t> (p &lt; 0.001). Fields NDVI called cover-cropped carry measurably more ground cover into spring.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4937760" cy="745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1" dirty="0">
                <a:solidFill>
                  <a:srgbClr val="F46C09"/>
                </a:solidFill>
                <a:latin typeface="Arial"/>
              </a:rPr>
              <a:t>This is consistency</a:t>
            </a:r>
            <a:r>
              <a:rPr lang="en-US" sz="1250" b="1" dirty="0">
                <a:solidFill>
                  <a:srgbClr val="F46C09"/>
                </a:solidFill>
                <a:latin typeface="Arial"/>
              </a:rPr>
              <a:t> but </a:t>
            </a:r>
            <a:r>
              <a:rPr sz="1250" b="1" dirty="0">
                <a:solidFill>
                  <a:srgbClr val="F46C09"/>
                </a:solidFill>
                <a:latin typeface="Arial"/>
              </a:rPr>
              <a:t>not accuracy.</a:t>
            </a:r>
            <a:r>
              <a:rPr sz="1250" b="0" dirty="0">
                <a:solidFill>
                  <a:srgbClr val="F46C09"/>
                </a:solidFill>
                <a:latin typeface="Arial"/>
              </a:rPr>
              <a:t> Both numbers come from the same satellite over the same field, and a weedy field looks green to one and covered to the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005840"/>
            <a:ext cx="895471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500" b="1" dirty="0">
                <a:solidFill>
                  <a:srgbClr val="10427C"/>
                </a:solidFill>
                <a:latin typeface="Arial Narrow"/>
              </a:rPr>
              <a:t>Detection agreement</a:t>
            </a:r>
            <a:endParaRPr sz="2500" b="1" dirty="0">
              <a:solidFill>
                <a:srgbClr val="10427C"/>
              </a:solidFill>
              <a:latin typeface="Arial Narro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separation sits in living cover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 and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not in residue.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4_armor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06940"/>
            <a:ext cx="8595360" cy="31179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7" y="5350444"/>
            <a:ext cx="11276729" cy="745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Residue is identical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between the two groups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: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0.49 against 0.48.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Living cover is four times higher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on the fields NDVI called: 0.11 against 0.03.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 Living cover is low in both groups because the window closes three days before planting and terminations ran to 20 May; by then much of a terminated cover crop has already become residue, where armor still counts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8961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46C09"/>
                </a:solidFill>
                <a:latin typeface="Arial Narrow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0913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dirty="0">
                <a:solidFill>
                  <a:srgbClr val="10427C"/>
                </a:solidFill>
                <a:latin typeface="Arial Narrow"/>
              </a:rPr>
              <a:t>Does the data entry</a:t>
            </a:r>
            <a:r>
              <a:rPr lang="en-US" sz="2400" b="1" dirty="0">
                <a:solidFill>
                  <a:srgbClr val="10427C"/>
                </a:solidFill>
                <a:latin typeface="Arial Narrow"/>
              </a:rPr>
              <a:t> in the Fieldprint Calculator</a:t>
            </a:r>
            <a:r>
              <a:rPr sz="2400" b="1" dirty="0">
                <a:solidFill>
                  <a:srgbClr val="10427C"/>
                </a:solidFill>
                <a:latin typeface="Arial Narrow"/>
              </a:rPr>
              <a:t> match what the satellite sees?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241280" cy="22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en-US" sz="1250" b="0" dirty="0">
                <a:solidFill>
                  <a:srgbClr val="58595B"/>
                </a:solidFill>
                <a:latin typeface="Arial"/>
              </a:rPr>
              <a:t>This question has t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hree separate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80255"/>
              </p:ext>
            </p:extLst>
          </p:nvPr>
        </p:nvGraphicFramePr>
        <p:xfrm>
          <a:off x="566928" y="2331720"/>
          <a:ext cx="11055094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Question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Answer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 Narrow"/>
                        </a:rPr>
                        <a:t>Basis</a:t>
                      </a:r>
                    </a:p>
                  </a:txBody>
                  <a:tcPr marL="82296" marR="82296" marT="18288" marB="18288" anchor="ctr">
                    <a:solidFill>
                      <a:srgbClr val="104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0427C"/>
                          </a:solidFill>
                          <a:latin typeface="Arial"/>
                        </a:rPr>
                        <a:t>Does the entered practice match the imagery?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0427C"/>
                          </a:solidFill>
                          <a:latin typeface="Arial"/>
                        </a:rPr>
                        <a:t>Partly — 64%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4444"/>
                          </a:solidFill>
                          <a:latin typeface="Arial"/>
                        </a:rPr>
                        <a:t>63 of 98 fields show off-season green consistent with the recorded cover crop; 35 do not.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1150" b="1" dirty="0">
                          <a:solidFill>
                            <a:srgbClr val="10427C"/>
                          </a:solidFill>
                          <a:latin typeface="Arial"/>
                        </a:rPr>
                        <a:t>Can</a:t>
                      </a:r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 the </a:t>
                      </a:r>
                      <a:r>
                        <a:rPr lang="en-US" sz="1150" b="1" dirty="0">
                          <a:solidFill>
                            <a:srgbClr val="10427C"/>
                          </a:solidFill>
                          <a:latin typeface="Arial"/>
                        </a:rPr>
                        <a:t>data </a:t>
                      </a:r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entry </a:t>
                      </a:r>
                      <a:r>
                        <a:rPr lang="en-US" sz="1150" b="1" dirty="0">
                          <a:solidFill>
                            <a:srgbClr val="10427C"/>
                          </a:solidFill>
                          <a:latin typeface="Arial"/>
                        </a:rPr>
                        <a:t>be trusted </a:t>
                      </a:r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where it exists?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 dirty="0">
                          <a:solidFill>
                            <a:srgbClr val="444444"/>
                          </a:solidFill>
                          <a:latin typeface="Arial"/>
                        </a:rPr>
                        <a:t>Planting </a:t>
                      </a:r>
                      <a:r>
                        <a:rPr sz="1150" b="0" dirty="0">
                          <a:solidFill>
                            <a:srgbClr val="444444"/>
                          </a:solidFill>
                          <a:latin typeface="Arial"/>
                        </a:rPr>
                        <a:t>and termination dates are present on all 98 and are agronomically plausible for Illinois.</a:t>
                      </a:r>
                    </a:p>
                  </a:txBody>
                  <a:tcPr marL="82296" marR="82296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0427C"/>
                          </a:solidFill>
                          <a:latin typeface="Arial"/>
                        </a:rPr>
                        <a:t>Is the entry complete?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10427C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444444"/>
                          </a:solidFill>
                          <a:latin typeface="Arial"/>
                        </a:rPr>
                        <a:t>Eighteen crop years carry no cover crop field at all.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4663440"/>
            <a:ext cx="11055096" cy="487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 dirty="0">
                <a:solidFill>
                  <a:srgbClr val="58595B"/>
                </a:solidFill>
                <a:latin typeface="Arial"/>
              </a:rPr>
              <a:t>The disagreement is </a:t>
            </a:r>
            <a:r>
              <a:rPr sz="1250" b="1" dirty="0">
                <a:solidFill>
                  <a:srgbClr val="58595B"/>
                </a:solidFill>
                <a:latin typeface="Arial"/>
              </a:rPr>
              <a:t>not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evidence that growers misreported.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However, thi</a:t>
            </a:r>
            <a:r>
              <a:rPr lang="en-US" sz="1250" dirty="0">
                <a:solidFill>
                  <a:srgbClr val="58595B"/>
                </a:solidFill>
                <a:latin typeface="Arial"/>
              </a:rPr>
              <a:t>s analysis suggests that there is opportunity to improve data entry to better represent of what happened on the ground.</a:t>
            </a:r>
            <a:endParaRPr sz="1250" b="0" dirty="0">
              <a:solidFill>
                <a:srgbClr val="58595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2D7D27-79C6-03AE-B1A7-78386528710C}"/>
              </a:ext>
            </a:extLst>
          </p:cNvPr>
          <p:cNvSpPr txBox="1"/>
          <p:nvPr/>
        </p:nvSpPr>
        <p:spPr>
          <a:xfrm>
            <a:off x="566928" y="1005840"/>
            <a:ext cx="895471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dirty="0">
                <a:solidFill>
                  <a:srgbClr val="10427C"/>
                </a:solidFill>
                <a:latin typeface="Arial Narrow"/>
              </a:rPr>
              <a:t>What would </a:t>
            </a:r>
            <a:r>
              <a:rPr lang="en-US" sz="2500" b="1" dirty="0">
                <a:solidFill>
                  <a:srgbClr val="10427C"/>
                </a:solidFill>
                <a:latin typeface="Arial Narrow"/>
              </a:rPr>
              <a:t>improve data quality for this project</a:t>
            </a:r>
            <a:endParaRPr sz="2500" b="1" dirty="0">
              <a:solidFill>
                <a:srgbClr val="10427C"/>
              </a:solidFill>
              <a:latin typeface="Arial Narro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F3DEA-9986-A52E-9D95-8DA48EC03D43}"/>
              </a:ext>
            </a:extLst>
          </p:cNvPr>
          <p:cNvSpPr txBox="1"/>
          <p:nvPr/>
        </p:nvSpPr>
        <p:spPr>
          <a:xfrm>
            <a:off x="673365" y="2076995"/>
            <a:ext cx="9230216" cy="3478541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Arial"/>
            </a:endParaRP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</a:rPr>
              <a:t>Redraw the field boundaries for the 29 fields with mixed CDL histories</a:t>
            </a: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Arial"/>
            </a:endParaRP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</a:rPr>
              <a:t>Enter cover crops for prior years, if any</a:t>
            </a: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Arial"/>
            </a:endParaRP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</a:rPr>
              <a:t>Monitor cover crop growth for 25% or more fields to run the remote sensing analysis against ground truth detection in late fall and early spring, before and after the coldest part of winter.</a:t>
            </a: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Arial"/>
            </a:endParaRP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</a:rPr>
              <a:t>Replace pre-filled crop histories with more farmer data to better represent what happened on the ground.</a:t>
            </a:r>
          </a:p>
          <a:p>
            <a:pPr marL="285750" indent="-285750" algn="l">
              <a:lnSpc>
                <a:spcPct val="13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b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6309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TM-H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967" y="384048"/>
            <a:ext cx="1828800" cy="55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8961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46C09"/>
                </a:solidFill>
                <a:latin typeface="Arial Narrow"/>
              </a:rPr>
              <a:t>IN ONE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4885822" cy="274320"/>
          </a:xfrm>
          <a:prstGeom prst="rect">
            <a:avLst/>
          </a:prstGeom>
          <a:solidFill>
            <a:srgbClr val="104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6678" y="6510528"/>
            <a:ext cx="4885822" cy="274320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53356" y="6510528"/>
            <a:ext cx="618728" cy="274320"/>
          </a:xfrm>
          <a:prstGeom prst="rect">
            <a:avLst/>
          </a:prstGeom>
          <a:solidFill>
            <a:srgbClr val="00B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62940" y="6510528"/>
            <a:ext cx="618728" cy="274320"/>
          </a:xfrm>
          <a:prstGeom prst="rect">
            <a:avLst/>
          </a:prstGeom>
          <a:solidFill>
            <a:srgbClr val="0D9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525" y="6510528"/>
            <a:ext cx="618728" cy="274320"/>
          </a:xfrm>
          <a:prstGeom prst="rect">
            <a:avLst/>
          </a:prstGeom>
          <a:solidFill>
            <a:srgbClr val="462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82110" y="6510528"/>
            <a:ext cx="618728" cy="274320"/>
          </a:xfrm>
          <a:prstGeom prst="rect">
            <a:avLst/>
          </a:prstGeom>
          <a:solidFill>
            <a:srgbClr val="FFD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353312"/>
            <a:ext cx="50292" cy="658368"/>
          </a:xfrm>
          <a:prstGeom prst="rect">
            <a:avLst/>
          </a:prstGeom>
          <a:solidFill>
            <a:srgbClr val="F4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1353312"/>
            <a:ext cx="10424160" cy="312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700" b="0" dirty="0">
                <a:solidFill>
                  <a:srgbClr val="212121"/>
                </a:solidFill>
                <a:latin typeface="Arial"/>
              </a:rPr>
              <a:t>98 Illinois fields, all </a:t>
            </a:r>
            <a:r>
              <a:rPr lang="en-US" sz="1700" b="0" dirty="0">
                <a:solidFill>
                  <a:srgbClr val="212121"/>
                </a:solidFill>
                <a:latin typeface="Arial"/>
              </a:rPr>
              <a:t>planted with </a:t>
            </a:r>
            <a:r>
              <a:rPr sz="1700" b="0" dirty="0">
                <a:solidFill>
                  <a:srgbClr val="212121"/>
                </a:solidFill>
                <a:latin typeface="Arial"/>
              </a:rPr>
              <a:t>a cover crop in </a:t>
            </a:r>
            <a:r>
              <a:rPr lang="en-US" sz="1700" dirty="0">
                <a:solidFill>
                  <a:srgbClr val="212121"/>
                </a:solidFill>
                <a:latin typeface="Arial"/>
              </a:rPr>
              <a:t>Fa</a:t>
            </a:r>
            <a:r>
              <a:rPr lang="en-US" sz="1700" b="0" dirty="0">
                <a:solidFill>
                  <a:srgbClr val="212121"/>
                </a:solidFill>
                <a:latin typeface="Arial"/>
              </a:rPr>
              <a:t>ll </a:t>
            </a:r>
            <a:r>
              <a:rPr sz="1700" b="0" dirty="0">
                <a:solidFill>
                  <a:srgbClr val="212121"/>
                </a:solidFill>
                <a:latin typeface="Arial"/>
              </a:rPr>
              <a:t>2025. The satellite </a:t>
            </a:r>
            <a:r>
              <a:rPr lang="en-US" sz="1700" b="0" dirty="0">
                <a:solidFill>
                  <a:srgbClr val="212121"/>
                </a:solidFill>
                <a:latin typeface="Arial"/>
              </a:rPr>
              <a:t>makes a positive verdict on </a:t>
            </a:r>
            <a:r>
              <a:rPr sz="1700" b="0" dirty="0">
                <a:solidFill>
                  <a:srgbClr val="212121"/>
                </a:solidFill>
                <a:latin typeface="Arial"/>
              </a:rPr>
              <a:t>63 </a:t>
            </a:r>
            <a:r>
              <a:rPr lang="en-US" sz="1700" b="0" dirty="0">
                <a:solidFill>
                  <a:srgbClr val="212121"/>
                </a:solidFill>
                <a:latin typeface="Arial"/>
              </a:rPr>
              <a:t>fields</a:t>
            </a:r>
            <a:r>
              <a:rPr sz="1700" b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60320"/>
            <a:ext cx="5303520" cy="135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The 35 it misses are not bare.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Every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field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shows green between NDVI 0.19 and 0.29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,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right 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under </a:t>
            </a:r>
            <a:r>
              <a:rPr lang="en-US" sz="1250" dirty="0">
                <a:solidFill>
                  <a:srgbClr val="58595B"/>
                </a:solidFill>
                <a:latin typeface="Arial"/>
              </a:rPr>
              <a:t>the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threshold </a:t>
            </a:r>
            <a:r>
              <a:rPr lang="en-US" sz="1250" b="0" dirty="0">
                <a:solidFill>
                  <a:srgbClr val="58595B"/>
                </a:solidFill>
                <a:latin typeface="Arial"/>
              </a:rPr>
              <a:t>detection borrowed from the literature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250" b="1" dirty="0">
                <a:solidFill>
                  <a:srgbClr val="58595B"/>
                </a:solidFill>
                <a:latin typeface="Arial"/>
              </a:rPr>
              <a:t>Winter cloud explains part of it.</a:t>
            </a:r>
            <a:r>
              <a:rPr sz="1250" b="0" dirty="0">
                <a:solidFill>
                  <a:srgbClr val="58595B"/>
                </a:solidFill>
                <a:latin typeface="Arial"/>
              </a:rPr>
              <a:t> Fields with more than twenty clear days are detected two and a half times more often than fields with ten or fewer.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2019</Words>
  <Application>Microsoft Office PowerPoint</Application>
  <PresentationFormat>Widescreen</PresentationFormat>
  <Paragraphs>178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Coronel</cp:lastModifiedBy>
  <cp:revision>4</cp:revision>
  <dcterms:created xsi:type="dcterms:W3CDTF">2013-01-27T09:14:16Z</dcterms:created>
  <dcterms:modified xsi:type="dcterms:W3CDTF">2026-10-12T13:16:31Z</dcterms:modified>
  <cp:category/>
</cp:coreProperties>
</file>