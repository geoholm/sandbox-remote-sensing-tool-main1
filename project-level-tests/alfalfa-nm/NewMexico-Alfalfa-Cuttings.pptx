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alfalfa field in San Juan County, New Mexico. Everything here comes from free satellite imagery; nobody visited the field and no grower was asked.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boundary came with the report pack as an axis-aligned rectangle with field_id 'drawn'. The aerial imagery shows it sits inside a center pivot and covers about half of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hero chart. Four cuttings in 2023, each one a fall from full canopy to stubble inside a single revisit gap.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TM-H_wTAG_rgb.png"/>
          <p:cNvPicPr>
            <a:picLocks noChangeAspect="1"/>
          </p:cNvPicPr>
          <p:nvPr/>
        </p:nvPicPr>
        <p:blipFill>
          <a:blip r:embed="rId2"/>
          <a:stretch>
            <a:fillRect/>
          </a:stretch>
        </p:blipFill>
        <p:spPr>
          <a:xfrm>
            <a:off x="566928" y="640080"/>
            <a:ext cx="4023360" cy="1535561"/>
          </a:xfrm>
          <a:prstGeom prst="rect">
            <a:avLst/>
          </a:prstGeom>
        </p:spPr>
      </p:pic>
      <p:sp>
        <p:nvSpPr>
          <p:cNvPr id="10" name="TextBox 9"/>
          <p:cNvSpPr txBox="1"/>
          <p:nvPr/>
        </p:nvSpPr>
        <p:spPr>
          <a:xfrm>
            <a:off x="566928" y="2240280"/>
            <a:ext cx="10058400" cy="1463040"/>
          </a:xfrm>
          <a:prstGeom prst="rect">
            <a:avLst/>
          </a:prstGeom>
          <a:noFill/>
        </p:spPr>
        <p:txBody>
          <a:bodyPr wrap="square" lIns="0" rIns="0" tIns="0" bIns="0" anchor="t">
            <a:spAutoFit/>
          </a:bodyPr>
          <a:lstStyle/>
          <a:p>
            <a:pPr algn="l">
              <a:lnSpc>
                <a:spcPct val="106000"/>
              </a:lnSpc>
              <a:spcAft>
                <a:spcPts val="600"/>
              </a:spcAft>
            </a:pPr>
            <a:r>
              <a:rPr sz="4200" b="1">
                <a:solidFill>
                  <a:srgbClr val="10427C"/>
                </a:solidFill>
                <a:latin typeface="Arial Narrow"/>
              </a:rPr>
              <a:t>Counting alfalfa cuttings</a:t>
            </a:r>
          </a:p>
          <a:p>
            <a:pPr algn="l">
              <a:lnSpc>
                <a:spcPct val="106000"/>
              </a:lnSpc>
              <a:spcAft>
                <a:spcPts val="600"/>
              </a:spcAft>
            </a:pPr>
            <a:r>
              <a:rPr sz="4200" b="1">
                <a:solidFill>
                  <a:srgbClr val="10427C"/>
                </a:solidFill>
                <a:latin typeface="Arial Narrow"/>
              </a:rPr>
              <a:t>from orbit</a:t>
            </a:r>
          </a:p>
        </p:txBody>
      </p:sp>
      <p:sp>
        <p:nvSpPr>
          <p:cNvPr id="11" name="Rectangle 10"/>
          <p:cNvSpPr/>
          <p:nvPr/>
        </p:nvSpPr>
        <p:spPr>
          <a:xfrm>
            <a:off x="566928" y="3931920"/>
            <a:ext cx="1920240" cy="54864"/>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224528"/>
            <a:ext cx="8412480" cy="822960"/>
          </a:xfrm>
          <a:prstGeom prst="rect">
            <a:avLst/>
          </a:prstGeom>
          <a:noFill/>
        </p:spPr>
        <p:txBody>
          <a:bodyPr wrap="square" lIns="0" rIns="0" tIns="0" bIns="0" anchor="t">
            <a:spAutoFit/>
          </a:bodyPr>
          <a:lstStyle/>
          <a:p>
            <a:pPr algn="l">
              <a:lnSpc>
                <a:spcPct val="140000"/>
              </a:lnSpc>
              <a:spcAft>
                <a:spcPts val="0"/>
              </a:spcAft>
            </a:pPr>
            <a:r>
              <a:rPr sz="1400" b="0">
                <a:solidFill>
                  <a:srgbClr val="58595B"/>
                </a:solidFill>
                <a:latin typeface="Arial"/>
              </a:rPr>
              <a:t>One 62-acre field in northwestern New Mexico, read from free satellite imagery. The pipeline was built to find one planting and one harvest a year. This field is cut </a:t>
            </a:r>
            <a:r>
              <a:rPr sz="1400" b="1">
                <a:solidFill>
                  <a:srgbClr val="58595B"/>
                </a:solidFill>
                <a:latin typeface="Arial"/>
              </a:rPr>
              <a:t>three to four times every summer</a:t>
            </a:r>
            <a:r>
              <a:rPr sz="1400" b="0">
                <a:solidFill>
                  <a:srgbClr val="58595B"/>
                </a:solidFill>
                <a:latin typeface="Arial"/>
              </a:rPr>
              <a:t> — and the imagery shows every one.</a:t>
            </a:r>
          </a:p>
        </p:txBody>
      </p:sp>
      <p:sp>
        <p:nvSpPr>
          <p:cNvPr id="13" name="TextBox 12"/>
          <p:cNvSpPr txBox="1"/>
          <p:nvPr/>
        </p:nvSpPr>
        <p:spPr>
          <a:xfrm>
            <a:off x="566928" y="5806440"/>
            <a:ext cx="10058400" cy="274320"/>
          </a:xfrm>
          <a:prstGeom prst="rect">
            <a:avLst/>
          </a:prstGeom>
          <a:noFill/>
        </p:spPr>
        <p:txBody>
          <a:bodyPr wrap="square" lIns="0" rIns="0" tIns="0" bIns="0" anchor="t">
            <a:spAutoFit/>
          </a:bodyPr>
          <a:lstStyle/>
          <a:p>
            <a:pPr algn="l">
              <a:lnSpc>
                <a:spcPct val="130000"/>
              </a:lnSpc>
              <a:spcAft>
                <a:spcPts val="0"/>
              </a:spcAft>
            </a:pPr>
            <a:r>
              <a:rPr sz="1050" b="0">
                <a:solidFill>
                  <a:srgbClr val="8A8C8E"/>
                </a:solidFill>
                <a:latin typeface="Arial"/>
              </a:rPr>
              <a:t>Field to Market remote sensing demonstration   ·   713 clear observations, January 2020 to September 2026   ·   analysis run 19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One field, seven years</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a:solidFill>
                  <a:srgbClr val="58595B"/>
                </a:solidFill>
                <a:latin typeface="Arial"/>
              </a:rPr>
              <a:t>A single management unit: on average 100% of the boundary is one crop, so the curves below belong to the whole field and not to an average of two.</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2103120"/>
            <a:ext cx="2627299" cy="1298448"/>
          </a:xfrm>
          <a:prstGeom prst="roundRect">
            <a:avLst>
              <a:gd name="adj" fmla="val 6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58568"/>
            <a:ext cx="2224963" cy="548640"/>
          </a:xfrm>
          <a:prstGeom prst="rect">
            <a:avLst/>
          </a:prstGeom>
          <a:noFill/>
        </p:spPr>
        <p:txBody>
          <a:bodyPr wrap="square" lIns="0" rIns="0" tIns="0" bIns="0" anchor="t">
            <a:spAutoFit/>
          </a:bodyPr>
          <a:lstStyle/>
          <a:p>
            <a:pPr algn="l">
              <a:lnSpc>
                <a:spcPct val="100000"/>
              </a:lnSpc>
              <a:spcAft>
                <a:spcPts val="0"/>
              </a:spcAft>
            </a:pPr>
            <a:r>
              <a:rPr sz="3400" b="1">
                <a:solidFill>
                  <a:srgbClr val="10427C"/>
                </a:solidFill>
                <a:latin typeface="Arial Narrow"/>
              </a:rPr>
              <a:t>62</a:t>
            </a:r>
          </a:p>
        </p:txBody>
      </p:sp>
      <p:sp>
        <p:nvSpPr>
          <p:cNvPr id="14" name="TextBox 13"/>
          <p:cNvSpPr txBox="1"/>
          <p:nvPr/>
        </p:nvSpPr>
        <p:spPr>
          <a:xfrm>
            <a:off x="768096" y="2834639"/>
            <a:ext cx="2224963" cy="438912"/>
          </a:xfrm>
          <a:prstGeom prst="rect">
            <a:avLst/>
          </a:prstGeom>
          <a:noFill/>
        </p:spPr>
        <p:txBody>
          <a:bodyPr wrap="square" lIns="0" rIns="0" tIns="0" bIns="0" anchor="t">
            <a:spAutoFit/>
          </a:bodyPr>
          <a:lstStyle/>
          <a:p>
            <a:pPr algn="l">
              <a:lnSpc>
                <a:spcPct val="126000"/>
              </a:lnSpc>
              <a:spcAft>
                <a:spcPts val="0"/>
              </a:spcAft>
            </a:pPr>
            <a:r>
              <a:rPr sz="1050" b="0">
                <a:solidFill>
                  <a:srgbClr val="58595B"/>
                </a:solidFill>
                <a:latin typeface="Arial"/>
              </a:rPr>
              <a:t>acres (25.2 ha)
San Juan County, New Mexico</a:t>
            </a:r>
          </a:p>
        </p:txBody>
      </p:sp>
      <p:sp>
        <p:nvSpPr>
          <p:cNvPr id="15" name="Rounded Rectangle 14"/>
          <p:cNvSpPr/>
          <p:nvPr/>
        </p:nvSpPr>
        <p:spPr>
          <a:xfrm>
            <a:off x="3377107" y="2103120"/>
            <a:ext cx="2627299" cy="1298448"/>
          </a:xfrm>
          <a:prstGeom prst="roundRect">
            <a:avLst>
              <a:gd name="adj" fmla="val 6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8275" y="2258568"/>
            <a:ext cx="2224963" cy="548640"/>
          </a:xfrm>
          <a:prstGeom prst="rect">
            <a:avLst/>
          </a:prstGeom>
          <a:noFill/>
        </p:spPr>
        <p:txBody>
          <a:bodyPr wrap="square" lIns="0" rIns="0" tIns="0" bIns="0" anchor="t">
            <a:spAutoFit/>
          </a:bodyPr>
          <a:lstStyle/>
          <a:p>
            <a:pPr algn="l">
              <a:lnSpc>
                <a:spcPct val="100000"/>
              </a:lnSpc>
              <a:spcAft>
                <a:spcPts val="0"/>
              </a:spcAft>
            </a:pPr>
            <a:r>
              <a:rPr sz="3400" b="1">
                <a:solidFill>
                  <a:srgbClr val="10427C"/>
                </a:solidFill>
                <a:latin typeface="Arial Narrow"/>
              </a:rPr>
              <a:t>713</a:t>
            </a:r>
          </a:p>
        </p:txBody>
      </p:sp>
      <p:sp>
        <p:nvSpPr>
          <p:cNvPr id="17" name="TextBox 16"/>
          <p:cNvSpPr txBox="1"/>
          <p:nvPr/>
        </p:nvSpPr>
        <p:spPr>
          <a:xfrm>
            <a:off x="3578275" y="2834639"/>
            <a:ext cx="2224963" cy="438912"/>
          </a:xfrm>
          <a:prstGeom prst="rect">
            <a:avLst/>
          </a:prstGeom>
          <a:noFill/>
        </p:spPr>
        <p:txBody>
          <a:bodyPr wrap="square" lIns="0" rIns="0" tIns="0" bIns="0" anchor="t">
            <a:spAutoFit/>
          </a:bodyPr>
          <a:lstStyle/>
          <a:p>
            <a:pPr algn="l">
              <a:lnSpc>
                <a:spcPct val="126000"/>
              </a:lnSpc>
              <a:spcAft>
                <a:spcPts val="0"/>
              </a:spcAft>
            </a:pPr>
            <a:r>
              <a:rPr sz="1050" b="0">
                <a:solidFill>
                  <a:srgbClr val="58595B"/>
                </a:solidFill>
                <a:latin typeface="Arial"/>
              </a:rPr>
              <a:t>cloud-free observations
Jan 2020 – Sep 2026</a:t>
            </a:r>
          </a:p>
        </p:txBody>
      </p:sp>
      <p:sp>
        <p:nvSpPr>
          <p:cNvPr id="18" name="Rounded Rectangle 17"/>
          <p:cNvSpPr/>
          <p:nvPr/>
        </p:nvSpPr>
        <p:spPr>
          <a:xfrm>
            <a:off x="6187287" y="2103120"/>
            <a:ext cx="2627299" cy="1298448"/>
          </a:xfrm>
          <a:prstGeom prst="roundRect">
            <a:avLst>
              <a:gd name="adj" fmla="val 6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8455" y="2258568"/>
            <a:ext cx="2224963" cy="548640"/>
          </a:xfrm>
          <a:prstGeom prst="rect">
            <a:avLst/>
          </a:prstGeom>
          <a:noFill/>
        </p:spPr>
        <p:txBody>
          <a:bodyPr wrap="square" lIns="0" rIns="0" tIns="0" bIns="0" anchor="t">
            <a:spAutoFit/>
          </a:bodyPr>
          <a:lstStyle/>
          <a:p>
            <a:pPr algn="l">
              <a:lnSpc>
                <a:spcPct val="100000"/>
              </a:lnSpc>
              <a:spcAft>
                <a:spcPts val="0"/>
              </a:spcAft>
            </a:pPr>
            <a:r>
              <a:rPr sz="3400" b="1">
                <a:solidFill>
                  <a:srgbClr val="10427C"/>
                </a:solidFill>
                <a:latin typeface="Arial Narrow"/>
              </a:rPr>
              <a:t>3 days</a:t>
            </a:r>
          </a:p>
        </p:txBody>
      </p:sp>
      <p:sp>
        <p:nvSpPr>
          <p:cNvPr id="20" name="TextBox 19"/>
          <p:cNvSpPr txBox="1"/>
          <p:nvPr/>
        </p:nvSpPr>
        <p:spPr>
          <a:xfrm>
            <a:off x="6388455" y="2834639"/>
            <a:ext cx="2224963" cy="438912"/>
          </a:xfrm>
          <a:prstGeom prst="rect">
            <a:avLst/>
          </a:prstGeom>
          <a:noFill/>
        </p:spPr>
        <p:txBody>
          <a:bodyPr wrap="square" lIns="0" rIns="0" tIns="0" bIns="0" anchor="t">
            <a:spAutoFit/>
          </a:bodyPr>
          <a:lstStyle/>
          <a:p>
            <a:pPr algn="l">
              <a:lnSpc>
                <a:spcPct val="126000"/>
              </a:lnSpc>
              <a:spcAft>
                <a:spcPts val="0"/>
              </a:spcAft>
            </a:pPr>
            <a:r>
              <a:rPr sz="1050" b="0">
                <a:solidFill>
                  <a:srgbClr val="58595B"/>
                </a:solidFill>
                <a:latin typeface="Arial"/>
              </a:rPr>
              <a:t>typical gap between
clear images</a:t>
            </a:r>
          </a:p>
        </p:txBody>
      </p:sp>
      <p:sp>
        <p:nvSpPr>
          <p:cNvPr id="21" name="Rounded Rectangle 20"/>
          <p:cNvSpPr/>
          <p:nvPr/>
        </p:nvSpPr>
        <p:spPr>
          <a:xfrm>
            <a:off x="8997467" y="2103120"/>
            <a:ext cx="2627299" cy="1298448"/>
          </a:xfrm>
          <a:prstGeom prst="roundRect">
            <a:avLst>
              <a:gd name="adj" fmla="val 6000"/>
            </a:avLst>
          </a:prstGeom>
          <a:solidFill>
            <a:srgbClr val="FFFFFF"/>
          </a:solidFill>
          <a:ln w="19050">
            <a:solidFill>
              <a:srgbClr val="F46C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98635" y="2258568"/>
            <a:ext cx="2224963" cy="548640"/>
          </a:xfrm>
          <a:prstGeom prst="rect">
            <a:avLst/>
          </a:prstGeom>
          <a:noFill/>
        </p:spPr>
        <p:txBody>
          <a:bodyPr wrap="square" lIns="0" rIns="0" tIns="0" bIns="0" anchor="t">
            <a:spAutoFit/>
          </a:bodyPr>
          <a:lstStyle/>
          <a:p>
            <a:pPr algn="l">
              <a:lnSpc>
                <a:spcPct val="100000"/>
              </a:lnSpc>
              <a:spcAft>
                <a:spcPts val="0"/>
              </a:spcAft>
            </a:pPr>
            <a:r>
              <a:rPr sz="2000" b="1">
                <a:solidFill>
                  <a:srgbClr val="F46C09"/>
                </a:solidFill>
                <a:latin typeface="Arial Narrow"/>
              </a:rPr>
              <a:t>Wheat → Alfalfa</a:t>
            </a:r>
          </a:p>
        </p:txBody>
      </p:sp>
      <p:sp>
        <p:nvSpPr>
          <p:cNvPr id="23" name="TextBox 22"/>
          <p:cNvSpPr txBox="1"/>
          <p:nvPr/>
        </p:nvSpPr>
        <p:spPr>
          <a:xfrm>
            <a:off x="9198635" y="2834639"/>
            <a:ext cx="2224963" cy="438912"/>
          </a:xfrm>
          <a:prstGeom prst="rect">
            <a:avLst/>
          </a:prstGeom>
          <a:noFill/>
        </p:spPr>
        <p:txBody>
          <a:bodyPr wrap="square" lIns="0" rIns="0" tIns="0" bIns="0" anchor="t">
            <a:spAutoFit/>
          </a:bodyPr>
          <a:lstStyle/>
          <a:p>
            <a:pPr algn="l">
              <a:lnSpc>
                <a:spcPct val="126000"/>
              </a:lnSpc>
              <a:spcAft>
                <a:spcPts val="0"/>
              </a:spcAft>
            </a:pPr>
            <a:r>
              <a:rPr sz="1050" b="0">
                <a:solidFill>
                  <a:srgbClr val="58595B"/>
                </a:solidFill>
                <a:latin typeface="Arial"/>
              </a:rPr>
              <a:t>winter wheat 2020–21,
alfalfa 2022 onward</a:t>
            </a:r>
          </a:p>
        </p:txBody>
      </p:sp>
      <p:sp>
        <p:nvSpPr>
          <p:cNvPr id="24" name="TextBox 23"/>
          <p:cNvSpPr txBox="1"/>
          <p:nvPr/>
        </p:nvSpPr>
        <p:spPr>
          <a:xfrm>
            <a:off x="566928" y="3749039"/>
            <a:ext cx="5349240" cy="1463040"/>
          </a:xfrm>
          <a:prstGeom prst="rect">
            <a:avLst/>
          </a:prstGeom>
          <a:noFill/>
        </p:spPr>
        <p:txBody>
          <a:bodyPr wrap="square" lIns="0" rIns="0" tIns="0" bIns="0" anchor="t">
            <a:spAutoFit/>
          </a:bodyPr>
          <a:lstStyle/>
          <a:p>
            <a:pPr algn="l">
              <a:lnSpc>
                <a:spcPct val="130000"/>
              </a:lnSpc>
              <a:spcAft>
                <a:spcPts val="0"/>
              </a:spcAft>
            </a:pPr>
            <a:r>
              <a:rPr sz="1250" b="1">
                <a:solidFill>
                  <a:srgbClr val="58595B"/>
                </a:solidFill>
                <a:latin typeface="Arial"/>
              </a:rPr>
              <a:t>The crop changed in 2022. </a:t>
            </a:r>
            <a:r>
              <a:rPr sz="1250" b="0">
                <a:solidFill>
                  <a:srgbClr val="58595B"/>
                </a:solidFill>
                <a:latin typeface="Arial"/>
              </a:rPr>
              <a:t>USDA's Cropland Data Layer records winter wheat in 2020 and 2021, then alfalfa from 2022 onward, at 99.6–100% purity every year. That rotation is what makes this field useful: it contains its own control.</a:t>
            </a:r>
          </a:p>
        </p:txBody>
      </p:sp>
      <p:sp>
        <p:nvSpPr>
          <p:cNvPr id="25" name="TextBox 24"/>
          <p:cNvSpPr txBox="1"/>
          <p:nvPr/>
        </p:nvSpPr>
        <p:spPr>
          <a:xfrm>
            <a:off x="6355080" y="3749039"/>
            <a:ext cx="5266944" cy="1463040"/>
          </a:xfrm>
          <a:prstGeom prst="rect">
            <a:avLst/>
          </a:prstGeom>
          <a:noFill/>
        </p:spPr>
        <p:txBody>
          <a:bodyPr wrap="square" lIns="0" rIns="0" tIns="0" bIns="0" anchor="t">
            <a:spAutoFit/>
          </a:bodyPr>
          <a:lstStyle/>
          <a:p>
            <a:pPr algn="l">
              <a:lnSpc>
                <a:spcPct val="130000"/>
              </a:lnSpc>
              <a:spcAft>
                <a:spcPts val="0"/>
              </a:spcAft>
            </a:pPr>
            <a:r>
              <a:rPr sz="1250" b="1">
                <a:solidFill>
                  <a:srgbClr val="58595B"/>
                </a:solidFill>
                <a:latin typeface="Arial"/>
              </a:rPr>
              <a:t>Density is the whole story. </a:t>
            </a:r>
            <a:r>
              <a:rPr sz="1250" b="0">
                <a:solidFill>
                  <a:srgbClr val="58595B"/>
                </a:solidFill>
                <a:latin typeface="Arial"/>
              </a:rPr>
              <a:t>An image every three days is what makes a cutting visible at all. A crop that is mown and regrows inside five weeks is invisible to a sensor that passes monthly — the field would simply look green all summer.</a:t>
            </a:r>
          </a:p>
        </p:txBody>
      </p:sp>
      <p:sp>
        <p:nvSpPr>
          <p:cNvPr id="26" name="TextBox 25"/>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a:solidFill>
                  <a:srgbClr val="8A8C8E"/>
                </a:solidFill>
                <a:latin typeface="Arial"/>
              </a:rPr>
              <a:t>Crop type from the USDA Cropland Data Layer (30 m). Greenness from Sentinel-2 surface reflectance (10 m), cloud-masked. Boundary supplied with the report pack; no field visit and no grower input.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Where the field is</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a:solidFill>
                  <a:srgbClr val="58595B"/>
                </a:solidFill>
                <a:latin typeface="Arial"/>
              </a:rPr>
              <a:t>San Juan County, New Mexico — the irrigated valley northwest of Farmington, at about 1,600 m.</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7_location.png"/>
          <p:cNvPicPr>
            <a:picLocks noChangeAspect="1"/>
          </p:cNvPicPr>
          <p:nvPr/>
        </p:nvPicPr>
        <p:blipFill>
          <a:blip r:embed="rId3"/>
          <a:stretch>
            <a:fillRect/>
          </a:stretch>
        </p:blipFill>
        <p:spPr>
          <a:xfrm>
            <a:off x="2238843" y="1627632"/>
            <a:ext cx="7714008" cy="3218688"/>
          </a:xfrm>
          <a:prstGeom prst="rect">
            <a:avLst/>
          </a:prstGeom>
        </p:spPr>
      </p:pic>
      <p:sp>
        <p:nvSpPr>
          <p:cNvPr id="13" name="TextBox 12"/>
          <p:cNvSpPr txBox="1"/>
          <p:nvPr/>
        </p:nvSpPr>
        <p:spPr>
          <a:xfrm>
            <a:off x="566928" y="4992624"/>
            <a:ext cx="5349240" cy="914400"/>
          </a:xfrm>
          <a:prstGeom prst="rect">
            <a:avLst/>
          </a:prstGeom>
          <a:noFill/>
        </p:spPr>
        <p:txBody>
          <a:bodyPr wrap="square" lIns="0" rIns="0" tIns="0" bIns="0" anchor="t">
            <a:spAutoFit/>
          </a:bodyPr>
          <a:lstStyle/>
          <a:p>
            <a:pPr algn="l">
              <a:lnSpc>
                <a:spcPct val="130000"/>
              </a:lnSpc>
              <a:spcAft>
                <a:spcPts val="0"/>
              </a:spcAft>
            </a:pPr>
            <a:r>
              <a:rPr sz="1200" b="1">
                <a:solidFill>
                  <a:srgbClr val="58595B"/>
                </a:solidFill>
                <a:latin typeface="Arial"/>
              </a:rPr>
              <a:t>It is a center pivot</a:t>
            </a:r>
            <a:r>
              <a:rPr sz="1200" b="0">
                <a:solidFill>
                  <a:srgbClr val="58595B"/>
                </a:solidFill>
                <a:latin typeface="Arial"/>
              </a:rPr>
              <a:t> — a 122-acre irrigated circle, wheel tracks and center point visible. That is why the water goes on so regularly, and why the cutting schedule is so steady.</a:t>
            </a:r>
          </a:p>
        </p:txBody>
      </p:sp>
      <p:sp>
        <p:nvSpPr>
          <p:cNvPr id="14" name="TextBox 13"/>
          <p:cNvSpPr txBox="1"/>
          <p:nvPr/>
        </p:nvSpPr>
        <p:spPr>
          <a:xfrm>
            <a:off x="6355080" y="4992624"/>
            <a:ext cx="5266944" cy="914400"/>
          </a:xfrm>
          <a:prstGeom prst="rect">
            <a:avLst/>
          </a:prstGeom>
          <a:noFill/>
        </p:spPr>
        <p:txBody>
          <a:bodyPr wrap="square" lIns="0" rIns="0" tIns="0" bIns="0" anchor="t">
            <a:spAutoFit/>
          </a:bodyPr>
          <a:lstStyle/>
          <a:p>
            <a:pPr algn="l">
              <a:lnSpc>
                <a:spcPct val="130000"/>
              </a:lnSpc>
              <a:spcAft>
                <a:spcPts val="0"/>
              </a:spcAft>
            </a:pPr>
            <a:r>
              <a:rPr sz="1200" b="1">
                <a:solidFill>
                  <a:srgbClr val="58595B"/>
                </a:solidFill>
                <a:latin typeface="Arial"/>
              </a:rPr>
              <a:t>The orange box is drawn, not surveyed: </a:t>
            </a:r>
            <a:r>
              <a:rPr sz="1200" b="0">
                <a:solidFill>
                  <a:srgbClr val="58595B"/>
                </a:solidFill>
                <a:latin typeface="Arial"/>
              </a:rPr>
              <a:t>a hand-drawn rectangle covering </a:t>
            </a:r>
            <a:r>
              <a:rPr sz="1200" b="1">
                <a:solidFill>
                  <a:srgbClr val="58595B"/>
                </a:solidFill>
                <a:latin typeface="Arial"/>
              </a:rPr>
              <a:t>51% of the pivot</a:t>
            </a:r>
            <a:r>
              <a:rPr sz="1200" b="0">
                <a:solidFill>
                  <a:srgbClr val="58595B"/>
                </a:solidFill>
                <a:latin typeface="Arial"/>
              </a:rPr>
              <a:t>, well inside the circle. It never touches the dry corners, which is why the crop layer reads 100% one crop — and it means every number here describes half a pivot.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What a cutting looks like from space</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1_sawtooth_2023.png"/>
          <p:cNvPicPr>
            <a:picLocks noChangeAspect="1"/>
          </p:cNvPicPr>
          <p:nvPr/>
        </p:nvPicPr>
        <p:blipFill>
          <a:blip r:embed="rId3"/>
          <a:stretch>
            <a:fillRect/>
          </a:stretch>
        </p:blipFill>
        <p:spPr>
          <a:xfrm>
            <a:off x="887439" y="1572768"/>
            <a:ext cx="10416816" cy="4297680"/>
          </a:xfrm>
          <a:prstGeom prst="rect">
            <a:avLst/>
          </a:prstGeom>
        </p:spPr>
      </p:pic>
      <p:sp>
        <p:nvSpPr>
          <p:cNvPr id="12" name="TextBox 11"/>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a:solidFill>
                  <a:srgbClr val="8A8C8E"/>
                </a:solidFill>
                <a:latin typeface="Arial"/>
              </a:rPr>
              <a:t>A full alfalfa canopy reads about 0.93 on the greenness index. Within days of mowing, the same field reads 0.32 — bare stubble and windrows. Then it regrows and the pattern repeats. The two narrow spikes in August and late September are cloud shadow, not cuttings, and are rejected: see slide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Three to four cuttings a year, every year</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a:solidFill>
                  <a:srgbClr val="58595B"/>
                </a:solidFill>
                <a:latin typeface="Arial"/>
              </a:rPr>
              <a:t>Fifteen cuttings detected across five alfalfa seasons. The two wheat years, read by the identical method, give one biomass removal each — the grain harvest.</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2139696"/>
            <a:ext cx="2627299" cy="1225296"/>
          </a:xfrm>
          <a:prstGeom prst="roundRect">
            <a:avLst>
              <a:gd name="adj" fmla="val 6000"/>
            </a:avLst>
          </a:prstGeom>
          <a:solidFill>
            <a:srgbClr val="FFFFFF"/>
          </a:solidFill>
          <a:ln w="19050">
            <a:solidFill>
              <a:srgbClr val="F46C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95144"/>
            <a:ext cx="2224963" cy="548640"/>
          </a:xfrm>
          <a:prstGeom prst="rect">
            <a:avLst/>
          </a:prstGeom>
          <a:noFill/>
        </p:spPr>
        <p:txBody>
          <a:bodyPr wrap="square" lIns="0" rIns="0" tIns="0" bIns="0" anchor="t">
            <a:spAutoFit/>
          </a:bodyPr>
          <a:lstStyle/>
          <a:p>
            <a:pPr algn="l">
              <a:lnSpc>
                <a:spcPct val="100000"/>
              </a:lnSpc>
              <a:spcAft>
                <a:spcPts val="0"/>
              </a:spcAft>
            </a:pPr>
            <a:r>
              <a:rPr sz="3400" b="1">
                <a:solidFill>
                  <a:srgbClr val="F46C09"/>
                </a:solidFill>
                <a:latin typeface="Arial Narrow"/>
              </a:rPr>
              <a:t>3–4</a:t>
            </a:r>
          </a:p>
        </p:txBody>
      </p:sp>
      <p:sp>
        <p:nvSpPr>
          <p:cNvPr id="14" name="TextBox 13"/>
          <p:cNvSpPr txBox="1"/>
          <p:nvPr/>
        </p:nvSpPr>
        <p:spPr>
          <a:xfrm>
            <a:off x="768096" y="2871215"/>
            <a:ext cx="2224963" cy="365760"/>
          </a:xfrm>
          <a:prstGeom prst="rect">
            <a:avLst/>
          </a:prstGeom>
          <a:noFill/>
        </p:spPr>
        <p:txBody>
          <a:bodyPr wrap="square" lIns="0" rIns="0" tIns="0" bIns="0" anchor="t">
            <a:spAutoFit/>
          </a:bodyPr>
          <a:lstStyle/>
          <a:p>
            <a:pPr algn="l">
              <a:lnSpc>
                <a:spcPct val="126000"/>
              </a:lnSpc>
              <a:spcAft>
                <a:spcPts val="0"/>
              </a:spcAft>
            </a:pPr>
            <a:r>
              <a:rPr sz="1050" b="0">
                <a:solidFill>
                  <a:srgbClr val="58595B"/>
                </a:solidFill>
                <a:latin typeface="Arial"/>
              </a:rPr>
              <a:t>cuttings per complete
alfalfa season</a:t>
            </a:r>
          </a:p>
        </p:txBody>
      </p:sp>
      <p:sp>
        <p:nvSpPr>
          <p:cNvPr id="15" name="Rounded Rectangle 14"/>
          <p:cNvSpPr/>
          <p:nvPr/>
        </p:nvSpPr>
        <p:spPr>
          <a:xfrm>
            <a:off x="3377107" y="2139696"/>
            <a:ext cx="2627299" cy="1225296"/>
          </a:xfrm>
          <a:prstGeom prst="roundRect">
            <a:avLst>
              <a:gd name="adj" fmla="val 6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8275" y="2295144"/>
            <a:ext cx="2224963" cy="548640"/>
          </a:xfrm>
          <a:prstGeom prst="rect">
            <a:avLst/>
          </a:prstGeom>
          <a:noFill/>
        </p:spPr>
        <p:txBody>
          <a:bodyPr wrap="square" lIns="0" rIns="0" tIns="0" bIns="0" anchor="t">
            <a:spAutoFit/>
          </a:bodyPr>
          <a:lstStyle/>
          <a:p>
            <a:pPr algn="l">
              <a:lnSpc>
                <a:spcPct val="100000"/>
              </a:lnSpc>
              <a:spcAft>
                <a:spcPts val="0"/>
              </a:spcAft>
            </a:pPr>
            <a:r>
              <a:rPr sz="3400" b="1">
                <a:solidFill>
                  <a:srgbClr val="10427C"/>
                </a:solidFill>
                <a:latin typeface="Arial Narrow"/>
              </a:rPr>
              <a:t>43 days</a:t>
            </a:r>
          </a:p>
        </p:txBody>
      </p:sp>
      <p:sp>
        <p:nvSpPr>
          <p:cNvPr id="17" name="TextBox 16"/>
          <p:cNvSpPr txBox="1"/>
          <p:nvPr/>
        </p:nvSpPr>
        <p:spPr>
          <a:xfrm>
            <a:off x="3578275" y="2871215"/>
            <a:ext cx="2224963" cy="365760"/>
          </a:xfrm>
          <a:prstGeom prst="rect">
            <a:avLst/>
          </a:prstGeom>
          <a:noFill/>
        </p:spPr>
        <p:txBody>
          <a:bodyPr wrap="square" lIns="0" rIns="0" tIns="0" bIns="0" anchor="t">
            <a:spAutoFit/>
          </a:bodyPr>
          <a:lstStyle/>
          <a:p>
            <a:pPr algn="l">
              <a:lnSpc>
                <a:spcPct val="126000"/>
              </a:lnSpc>
              <a:spcAft>
                <a:spcPts val="0"/>
              </a:spcAft>
            </a:pPr>
            <a:r>
              <a:rPr sz="1050" b="0">
                <a:solidFill>
                  <a:srgbClr val="58595B"/>
                </a:solidFill>
                <a:latin typeface="Arial"/>
              </a:rPr>
              <a:t>median between cuttings
(range 33 – 62)</a:t>
            </a:r>
          </a:p>
        </p:txBody>
      </p:sp>
      <p:sp>
        <p:nvSpPr>
          <p:cNvPr id="18" name="Rounded Rectangle 17"/>
          <p:cNvSpPr/>
          <p:nvPr/>
        </p:nvSpPr>
        <p:spPr>
          <a:xfrm>
            <a:off x="6187287" y="2139696"/>
            <a:ext cx="2627299" cy="1225296"/>
          </a:xfrm>
          <a:prstGeom prst="roundRect">
            <a:avLst>
              <a:gd name="adj" fmla="val 6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8455" y="2295144"/>
            <a:ext cx="2224963" cy="548640"/>
          </a:xfrm>
          <a:prstGeom prst="rect">
            <a:avLst/>
          </a:prstGeom>
          <a:noFill/>
        </p:spPr>
        <p:txBody>
          <a:bodyPr wrap="square" lIns="0" rIns="0" tIns="0" bIns="0" anchor="t">
            <a:spAutoFit/>
          </a:bodyPr>
          <a:lstStyle/>
          <a:p>
            <a:pPr algn="l">
              <a:lnSpc>
                <a:spcPct val="100000"/>
              </a:lnSpc>
              <a:spcAft>
                <a:spcPts val="0"/>
              </a:spcAft>
            </a:pPr>
            <a:r>
              <a:rPr sz="3400" b="1">
                <a:solidFill>
                  <a:srgbClr val="10427C"/>
                </a:solidFill>
                <a:latin typeface="Arial Narrow"/>
              </a:rPr>
              <a:t>4–15 Jun</a:t>
            </a:r>
          </a:p>
        </p:txBody>
      </p:sp>
      <p:sp>
        <p:nvSpPr>
          <p:cNvPr id="20" name="TextBox 19"/>
          <p:cNvSpPr txBox="1"/>
          <p:nvPr/>
        </p:nvSpPr>
        <p:spPr>
          <a:xfrm>
            <a:off x="6388455" y="2871215"/>
            <a:ext cx="2224963" cy="365760"/>
          </a:xfrm>
          <a:prstGeom prst="rect">
            <a:avLst/>
          </a:prstGeom>
          <a:noFill/>
        </p:spPr>
        <p:txBody>
          <a:bodyPr wrap="square" lIns="0" rIns="0" tIns="0" bIns="0" anchor="t">
            <a:spAutoFit/>
          </a:bodyPr>
          <a:lstStyle/>
          <a:p>
            <a:pPr algn="l">
              <a:lnSpc>
                <a:spcPct val="126000"/>
              </a:lnSpc>
              <a:spcAft>
                <a:spcPts val="0"/>
              </a:spcAft>
            </a:pPr>
            <a:r>
              <a:rPr sz="1050" b="0">
                <a:solidFill>
                  <a:srgbClr val="58595B"/>
                </a:solidFill>
                <a:latin typeface="Arial"/>
              </a:rPr>
              <a:t>first cutting, all five years
an 11-day spread</a:t>
            </a:r>
          </a:p>
        </p:txBody>
      </p:sp>
      <p:sp>
        <p:nvSpPr>
          <p:cNvPr id="21" name="Rounded Rectangle 20"/>
          <p:cNvSpPr/>
          <p:nvPr/>
        </p:nvSpPr>
        <p:spPr>
          <a:xfrm>
            <a:off x="8997467" y="2139696"/>
            <a:ext cx="2627299" cy="1225296"/>
          </a:xfrm>
          <a:prstGeom prst="roundRect">
            <a:avLst>
              <a:gd name="adj" fmla="val 6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98635" y="2295144"/>
            <a:ext cx="2224963" cy="548640"/>
          </a:xfrm>
          <a:prstGeom prst="rect">
            <a:avLst/>
          </a:prstGeom>
          <a:noFill/>
        </p:spPr>
        <p:txBody>
          <a:bodyPr wrap="square" lIns="0" rIns="0" tIns="0" bIns="0" anchor="t">
            <a:spAutoFit/>
          </a:bodyPr>
          <a:lstStyle/>
          <a:p>
            <a:pPr algn="l">
              <a:lnSpc>
                <a:spcPct val="100000"/>
              </a:lnSpc>
              <a:spcAft>
                <a:spcPts val="0"/>
              </a:spcAft>
            </a:pPr>
            <a:r>
              <a:rPr sz="2000" b="1">
                <a:solidFill>
                  <a:srgbClr val="10427C"/>
                </a:solidFill>
                <a:latin typeface="Arial Narrow"/>
              </a:rPr>
              <a:t>0.93 → 0.48</a:t>
            </a:r>
          </a:p>
        </p:txBody>
      </p:sp>
      <p:sp>
        <p:nvSpPr>
          <p:cNvPr id="23" name="TextBox 22"/>
          <p:cNvSpPr txBox="1"/>
          <p:nvPr/>
        </p:nvSpPr>
        <p:spPr>
          <a:xfrm>
            <a:off x="9198635" y="2871215"/>
            <a:ext cx="2224963" cy="365760"/>
          </a:xfrm>
          <a:prstGeom prst="rect">
            <a:avLst/>
          </a:prstGeom>
          <a:noFill/>
        </p:spPr>
        <p:txBody>
          <a:bodyPr wrap="square" lIns="0" rIns="0" tIns="0" bIns="0" anchor="t">
            <a:spAutoFit/>
          </a:bodyPr>
          <a:lstStyle/>
          <a:p>
            <a:pPr algn="l">
              <a:lnSpc>
                <a:spcPct val="126000"/>
              </a:lnSpc>
              <a:spcAft>
                <a:spcPts val="0"/>
              </a:spcAft>
            </a:pPr>
            <a:r>
              <a:rPr sz="1050" b="0">
                <a:solidFill>
                  <a:srgbClr val="58595B"/>
                </a:solidFill>
                <a:latin typeface="Arial"/>
              </a:rPr>
              <a:t>typical greenness
across a cutting</a:t>
            </a:r>
          </a:p>
        </p:txBody>
      </p:sp>
      <p:graphicFrame>
        <p:nvGraphicFramePr>
          <p:cNvPr id="24" name="Table 23"/>
          <p:cNvGraphicFramePr>
            <a:graphicFrameLocks noGrp="1"/>
          </p:cNvGraphicFramePr>
          <p:nvPr/>
        </p:nvGraphicFramePr>
        <p:xfrm>
          <a:off x="566928" y="3657600"/>
          <a:ext cx="11057837" cy="2281428"/>
        </p:xfrm>
        <a:graphic>
          <a:graphicData uri="http://schemas.openxmlformats.org/drawingml/2006/table">
            <a:tbl>
              <a:tblPr firstRow="1" bandRow="1">
                <a:tableStyleId>{5C22544A-7EE6-4342-B048-85BDC9FD1C3A}</a:tableStyleId>
              </a:tblPr>
              <a:tblGrid>
                <a:gridCol w="1454978"/>
                <a:gridCol w="2909957"/>
                <a:gridCol w="2182468"/>
                <a:gridCol w="2327966"/>
                <a:gridCol w="2182468"/>
              </a:tblGrid>
              <a:tr h="329184">
                <a:tc>
                  <a:txBody>
                    <a:bodyPr/>
                    <a:lstStyle/>
                    <a:p>
                      <a:pPr algn="l"/>
                      <a:r>
                        <a:rPr sz="1150" b="1">
                          <a:solidFill>
                            <a:srgbClr val="FFFFFF"/>
                          </a:solidFill>
                          <a:latin typeface="Arial Narrow"/>
                        </a:rPr>
                        <a:t>Year</a:t>
                      </a:r>
                    </a:p>
                  </a:txBody>
                  <a:tcPr marL="82296" marR="82296" marT="18288" marB="18288" anchor="ctr">
                    <a:solidFill>
                      <a:srgbClr val="10427C"/>
                    </a:solidFill>
                  </a:tcPr>
                </a:tc>
                <a:tc>
                  <a:txBody>
                    <a:bodyPr/>
                    <a:lstStyle/>
                    <a:p>
                      <a:pPr algn="l"/>
                      <a:r>
                        <a:rPr sz="1150" b="1">
                          <a:solidFill>
                            <a:srgbClr val="FFFFFF"/>
                          </a:solidFill>
                          <a:latin typeface="Arial Narrow"/>
                        </a:rPr>
                        <a:t>Crop (USDA)</a:t>
                      </a:r>
                    </a:p>
                  </a:txBody>
                  <a:tcPr marL="82296" marR="82296" marT="18288" marB="18288" anchor="ctr">
                    <a:solidFill>
                      <a:srgbClr val="10427C"/>
                    </a:solidFill>
                  </a:tcPr>
                </a:tc>
                <a:tc>
                  <a:txBody>
                    <a:bodyPr/>
                    <a:lstStyle/>
                    <a:p>
                      <a:pPr algn="ctr"/>
                      <a:r>
                        <a:rPr sz="1150" b="1">
                          <a:solidFill>
                            <a:srgbClr val="FFFFFF"/>
                          </a:solidFill>
                          <a:latin typeface="Arial Narrow"/>
                        </a:rPr>
                        <a:t>Cuttings</a:t>
                      </a:r>
                    </a:p>
                  </a:txBody>
                  <a:tcPr marL="82296" marR="82296" marT="18288" marB="18288" anchor="ctr">
                    <a:solidFill>
                      <a:srgbClr val="10427C"/>
                    </a:solidFill>
                  </a:tcPr>
                </a:tc>
                <a:tc>
                  <a:txBody>
                    <a:bodyPr/>
                    <a:lstStyle/>
                    <a:p>
                      <a:pPr algn="ctr"/>
                      <a:r>
                        <a:rPr sz="1150" b="1">
                          <a:solidFill>
                            <a:srgbClr val="FFFFFF"/>
                          </a:solidFill>
                          <a:latin typeface="Arial Narrow"/>
                        </a:rPr>
                        <a:t>First to last</a:t>
                      </a:r>
                    </a:p>
                  </a:txBody>
                  <a:tcPr marL="82296" marR="82296" marT="18288" marB="18288" anchor="ctr">
                    <a:solidFill>
                      <a:srgbClr val="10427C"/>
                    </a:solidFill>
                  </a:tcPr>
                </a:tc>
                <a:tc>
                  <a:txBody>
                    <a:bodyPr/>
                    <a:lstStyle/>
                    <a:p>
                      <a:pPr algn="ctr"/>
                      <a:r>
                        <a:rPr sz="1150" b="1">
                          <a:solidFill>
                            <a:srgbClr val="FFFFFF"/>
                          </a:solidFill>
                          <a:latin typeface="Arial Narrow"/>
                        </a:rPr>
                        <a:t>Mean gap (days)</a:t>
                      </a:r>
                    </a:p>
                  </a:txBody>
                  <a:tcPr marL="82296" marR="82296" marT="18288" marB="18288" anchor="ctr">
                    <a:solidFill>
                      <a:srgbClr val="10427C"/>
                    </a:solidFill>
                  </a:tcPr>
                </a:tc>
              </a:tr>
              <a:tr h="278892">
                <a:tc>
                  <a:txBody>
                    <a:bodyPr/>
                    <a:lstStyle/>
                    <a:p>
                      <a:pPr algn="l"/>
                      <a:r>
                        <a:rPr sz="1150" b="1">
                          <a:solidFill>
                            <a:srgbClr val="10427C"/>
                          </a:solidFill>
                          <a:latin typeface="Arial"/>
                        </a:rPr>
                        <a:t>2020</a:t>
                      </a:r>
                    </a:p>
                  </a:txBody>
                  <a:tcPr marL="82296" marR="82296" marT="18288" marB="18288" anchor="ctr">
                    <a:solidFill>
                      <a:srgbClr val="FFFFFF"/>
                    </a:solidFill>
                  </a:tcPr>
                </a:tc>
                <a:tc>
                  <a:txBody>
                    <a:bodyPr/>
                    <a:lstStyle/>
                    <a:p>
                      <a:pPr algn="l"/>
                      <a:r>
                        <a:rPr sz="1150" b="0">
                          <a:solidFill>
                            <a:srgbClr val="444444"/>
                          </a:solidFill>
                          <a:latin typeface="Arial"/>
                        </a:rPr>
                        <a:t>Winter Wheat</a:t>
                      </a:r>
                    </a:p>
                  </a:txBody>
                  <a:tcPr marL="82296" marR="82296" marT="18288" marB="18288" anchor="ctr">
                    <a:solidFill>
                      <a:srgbClr val="FFFFFF"/>
                    </a:solidFill>
                  </a:tcPr>
                </a:tc>
                <a:tc>
                  <a:txBody>
                    <a:bodyPr/>
                    <a:lstStyle/>
                    <a:p>
                      <a:pPr algn="ctr"/>
                      <a:r>
                        <a:rPr sz="1150" b="0">
                          <a:solidFill>
                            <a:srgbClr val="444444"/>
                          </a:solidFill>
                          <a:latin typeface="Arial"/>
                        </a:rPr>
                        <a:t>1</a:t>
                      </a:r>
                    </a:p>
                  </a:txBody>
                  <a:tcPr marL="82296" marR="82296" marT="18288" marB="18288" anchor="ctr">
                    <a:solidFill>
                      <a:srgbClr val="FFFFFF"/>
                    </a:solidFill>
                  </a:tcPr>
                </a:tc>
                <a:tc>
                  <a:txBody>
                    <a:bodyPr/>
                    <a:lstStyle/>
                    <a:p>
                      <a:pPr algn="ctr"/>
                      <a:r>
                        <a:rPr sz="1150" b="0">
                          <a:solidFill>
                            <a:srgbClr val="444444"/>
                          </a:solidFill>
                          <a:latin typeface="Arial"/>
                        </a:rPr>
                        <a:t>—</a:t>
                      </a:r>
                    </a:p>
                  </a:txBody>
                  <a:tcPr marL="82296" marR="82296" marT="18288" marB="18288" anchor="ctr">
                    <a:solidFill>
                      <a:srgbClr val="FFFFFF"/>
                    </a:solidFill>
                  </a:tcPr>
                </a:tc>
                <a:tc>
                  <a:txBody>
                    <a:bodyPr/>
                    <a:lstStyle/>
                    <a:p>
                      <a:pPr algn="ctr"/>
                      <a:r>
                        <a:rPr sz="1150" b="0">
                          <a:solidFill>
                            <a:srgbClr val="444444"/>
                          </a:solidFill>
                          <a:latin typeface="Arial"/>
                        </a:rPr>
                        <a:t>—</a:t>
                      </a:r>
                    </a:p>
                  </a:txBody>
                  <a:tcPr marL="82296" marR="82296" marT="18288" marB="18288" anchor="ctr">
                    <a:solidFill>
                      <a:srgbClr val="FFFFFF"/>
                    </a:solidFill>
                  </a:tcPr>
                </a:tc>
              </a:tr>
              <a:tr h="278892">
                <a:tc>
                  <a:txBody>
                    <a:bodyPr/>
                    <a:lstStyle/>
                    <a:p>
                      <a:pPr algn="l"/>
                      <a:r>
                        <a:rPr sz="1150" b="1">
                          <a:solidFill>
                            <a:srgbClr val="10427C"/>
                          </a:solidFill>
                          <a:latin typeface="Arial"/>
                        </a:rPr>
                        <a:t>2021</a:t>
                      </a:r>
                    </a:p>
                  </a:txBody>
                  <a:tcPr marL="82296" marR="82296" marT="18288" marB="18288" anchor="ctr">
                    <a:solidFill>
                      <a:srgbClr val="F2F2F2"/>
                    </a:solidFill>
                  </a:tcPr>
                </a:tc>
                <a:tc>
                  <a:txBody>
                    <a:bodyPr/>
                    <a:lstStyle/>
                    <a:p>
                      <a:pPr algn="l"/>
                      <a:r>
                        <a:rPr sz="1150" b="0">
                          <a:solidFill>
                            <a:srgbClr val="444444"/>
                          </a:solidFill>
                          <a:latin typeface="Arial"/>
                        </a:rPr>
                        <a:t>Winter Wheat</a:t>
                      </a:r>
                    </a:p>
                  </a:txBody>
                  <a:tcPr marL="82296" marR="82296" marT="18288" marB="18288" anchor="ctr">
                    <a:solidFill>
                      <a:srgbClr val="F2F2F2"/>
                    </a:solidFill>
                  </a:tcPr>
                </a:tc>
                <a:tc>
                  <a:txBody>
                    <a:bodyPr/>
                    <a:lstStyle/>
                    <a:p>
                      <a:pPr algn="ctr"/>
                      <a:r>
                        <a:rPr sz="1150" b="0">
                          <a:solidFill>
                            <a:srgbClr val="444444"/>
                          </a:solidFill>
                          <a:latin typeface="Arial"/>
                        </a:rPr>
                        <a:t>1</a:t>
                      </a:r>
                    </a:p>
                  </a:txBody>
                  <a:tcPr marL="82296" marR="82296" marT="18288" marB="18288" anchor="ctr">
                    <a:solidFill>
                      <a:srgbClr val="F2F2F2"/>
                    </a:solidFill>
                  </a:tcPr>
                </a:tc>
                <a:tc>
                  <a:txBody>
                    <a:bodyPr/>
                    <a:lstStyle/>
                    <a:p>
                      <a:pPr algn="ctr"/>
                      <a:r>
                        <a:rPr sz="1150" b="0">
                          <a:solidFill>
                            <a:srgbClr val="444444"/>
                          </a:solidFill>
                          <a:latin typeface="Arial"/>
                        </a:rPr>
                        <a:t>—</a:t>
                      </a:r>
                    </a:p>
                  </a:txBody>
                  <a:tcPr marL="82296" marR="82296" marT="18288" marB="18288" anchor="ctr">
                    <a:solidFill>
                      <a:srgbClr val="F2F2F2"/>
                    </a:solidFill>
                  </a:tcPr>
                </a:tc>
                <a:tc>
                  <a:txBody>
                    <a:bodyPr/>
                    <a:lstStyle/>
                    <a:p>
                      <a:pPr algn="ctr"/>
                      <a:r>
                        <a:rPr sz="1150" b="0">
                          <a:solidFill>
                            <a:srgbClr val="444444"/>
                          </a:solidFill>
                          <a:latin typeface="Arial"/>
                        </a:rPr>
                        <a:t>—</a:t>
                      </a:r>
                    </a:p>
                  </a:txBody>
                  <a:tcPr marL="82296" marR="82296" marT="18288" marB="18288" anchor="ctr">
                    <a:solidFill>
                      <a:srgbClr val="F2F2F2"/>
                    </a:solidFill>
                  </a:tcPr>
                </a:tc>
              </a:tr>
              <a:tr h="278892">
                <a:tc>
                  <a:txBody>
                    <a:bodyPr/>
                    <a:lstStyle/>
                    <a:p>
                      <a:pPr algn="l"/>
                      <a:r>
                        <a:rPr sz="1150" b="1">
                          <a:solidFill>
                            <a:srgbClr val="10427C"/>
                          </a:solidFill>
                          <a:latin typeface="Arial"/>
                        </a:rPr>
                        <a:t>2022</a:t>
                      </a:r>
                    </a:p>
                  </a:txBody>
                  <a:tcPr marL="82296" marR="82296" marT="18288" marB="18288" anchor="ctr">
                    <a:solidFill>
                      <a:srgbClr val="FFFFFF"/>
                    </a:solidFill>
                  </a:tcPr>
                </a:tc>
                <a:tc>
                  <a:txBody>
                    <a:bodyPr/>
                    <a:lstStyle/>
                    <a:p>
                      <a:pPr algn="l"/>
                      <a:r>
                        <a:rPr sz="1150" b="0">
                          <a:solidFill>
                            <a:srgbClr val="444444"/>
                          </a:solidFill>
                          <a:latin typeface="Arial"/>
                        </a:rPr>
                        <a:t>Alfalfa</a:t>
                      </a:r>
                    </a:p>
                  </a:txBody>
                  <a:tcPr marL="82296" marR="82296" marT="18288" marB="18288" anchor="ctr">
                    <a:solidFill>
                      <a:srgbClr val="FFFFFF"/>
                    </a:solidFill>
                  </a:tcPr>
                </a:tc>
                <a:tc>
                  <a:txBody>
                    <a:bodyPr/>
                    <a:lstStyle/>
                    <a:p>
                      <a:pPr algn="ctr"/>
                      <a:r>
                        <a:rPr sz="1150" b="0">
                          <a:solidFill>
                            <a:srgbClr val="F46C09"/>
                          </a:solidFill>
                          <a:latin typeface="Arial"/>
                        </a:rPr>
                        <a:t>4  (1 flagged)</a:t>
                      </a:r>
                    </a:p>
                  </a:txBody>
                  <a:tcPr marL="82296" marR="82296" marT="18288" marB="18288" anchor="ctr">
                    <a:solidFill>
                      <a:srgbClr val="FFFFFF"/>
                    </a:solidFill>
                  </a:tcPr>
                </a:tc>
                <a:tc>
                  <a:txBody>
                    <a:bodyPr/>
                    <a:lstStyle/>
                    <a:p>
                      <a:pPr algn="ctr"/>
                      <a:r>
                        <a:rPr sz="1150" b="0">
                          <a:solidFill>
                            <a:srgbClr val="444444"/>
                          </a:solidFill>
                          <a:latin typeface="Arial"/>
                        </a:rPr>
                        <a:t>13 Jun – 18 Oct</a:t>
                      </a:r>
                    </a:p>
                  </a:txBody>
                  <a:tcPr marL="82296" marR="82296" marT="18288" marB="18288" anchor="ctr">
                    <a:solidFill>
                      <a:srgbClr val="FFFFFF"/>
                    </a:solidFill>
                  </a:tcPr>
                </a:tc>
                <a:tc>
                  <a:txBody>
                    <a:bodyPr/>
                    <a:lstStyle/>
                    <a:p>
                      <a:pPr algn="ctr"/>
                      <a:r>
                        <a:rPr sz="1150" b="0">
                          <a:solidFill>
                            <a:srgbClr val="444444"/>
                          </a:solidFill>
                          <a:latin typeface="Arial"/>
                        </a:rPr>
                        <a:t>42</a:t>
                      </a:r>
                    </a:p>
                  </a:txBody>
                  <a:tcPr marL="82296" marR="82296" marT="18288" marB="18288" anchor="ctr">
                    <a:solidFill>
                      <a:srgbClr val="FFFFFF"/>
                    </a:solidFill>
                  </a:tcPr>
                </a:tc>
              </a:tr>
              <a:tr h="278892">
                <a:tc>
                  <a:txBody>
                    <a:bodyPr/>
                    <a:lstStyle/>
                    <a:p>
                      <a:pPr algn="l"/>
                      <a:r>
                        <a:rPr sz="1150" b="1">
                          <a:solidFill>
                            <a:srgbClr val="10427C"/>
                          </a:solidFill>
                          <a:latin typeface="Arial"/>
                        </a:rPr>
                        <a:t>2023</a:t>
                      </a:r>
                    </a:p>
                  </a:txBody>
                  <a:tcPr marL="82296" marR="82296" marT="18288" marB="18288" anchor="ctr">
                    <a:solidFill>
                      <a:srgbClr val="F2F2F2"/>
                    </a:solidFill>
                  </a:tcPr>
                </a:tc>
                <a:tc>
                  <a:txBody>
                    <a:bodyPr/>
                    <a:lstStyle/>
                    <a:p>
                      <a:pPr algn="l"/>
                      <a:r>
                        <a:rPr sz="1150" b="0">
                          <a:solidFill>
                            <a:srgbClr val="444444"/>
                          </a:solidFill>
                          <a:latin typeface="Arial"/>
                        </a:rPr>
                        <a:t>Alfalfa</a:t>
                      </a:r>
                    </a:p>
                  </a:txBody>
                  <a:tcPr marL="82296" marR="82296" marT="18288" marB="18288" anchor="ctr">
                    <a:solidFill>
                      <a:srgbClr val="F2F2F2"/>
                    </a:solidFill>
                  </a:tcPr>
                </a:tc>
                <a:tc>
                  <a:txBody>
                    <a:bodyPr/>
                    <a:lstStyle/>
                    <a:p>
                      <a:pPr algn="ctr"/>
                      <a:r>
                        <a:rPr sz="1150" b="0">
                          <a:solidFill>
                            <a:srgbClr val="F46C09"/>
                          </a:solidFill>
                          <a:latin typeface="Arial"/>
                        </a:rPr>
                        <a:t>4  (1 flagged)</a:t>
                      </a:r>
                    </a:p>
                  </a:txBody>
                  <a:tcPr marL="82296" marR="82296" marT="18288" marB="18288" anchor="ctr">
                    <a:solidFill>
                      <a:srgbClr val="F2F2F2"/>
                    </a:solidFill>
                  </a:tcPr>
                </a:tc>
                <a:tc>
                  <a:txBody>
                    <a:bodyPr/>
                    <a:lstStyle/>
                    <a:p>
                      <a:pPr algn="ctr"/>
                      <a:r>
                        <a:rPr sz="1150" b="0">
                          <a:solidFill>
                            <a:srgbClr val="444444"/>
                          </a:solidFill>
                          <a:latin typeface="Arial"/>
                        </a:rPr>
                        <a:t>15 Jun – 11 Oct</a:t>
                      </a:r>
                    </a:p>
                  </a:txBody>
                  <a:tcPr marL="82296" marR="82296" marT="18288" marB="18288" anchor="ctr">
                    <a:solidFill>
                      <a:srgbClr val="F2F2F2"/>
                    </a:solidFill>
                  </a:tcPr>
                </a:tc>
                <a:tc>
                  <a:txBody>
                    <a:bodyPr/>
                    <a:lstStyle/>
                    <a:p>
                      <a:pPr algn="ctr"/>
                      <a:r>
                        <a:rPr sz="1150" b="0">
                          <a:solidFill>
                            <a:srgbClr val="444444"/>
                          </a:solidFill>
                          <a:latin typeface="Arial"/>
                        </a:rPr>
                        <a:t>39</a:t>
                      </a:r>
                    </a:p>
                  </a:txBody>
                  <a:tcPr marL="82296" marR="82296" marT="18288" marB="18288" anchor="ctr">
                    <a:solidFill>
                      <a:srgbClr val="F2F2F2"/>
                    </a:solidFill>
                  </a:tcPr>
                </a:tc>
              </a:tr>
              <a:tr h="278892">
                <a:tc>
                  <a:txBody>
                    <a:bodyPr/>
                    <a:lstStyle/>
                    <a:p>
                      <a:pPr algn="l"/>
                      <a:r>
                        <a:rPr sz="1150" b="1">
                          <a:solidFill>
                            <a:srgbClr val="10427C"/>
                          </a:solidFill>
                          <a:latin typeface="Arial"/>
                        </a:rPr>
                        <a:t>2024</a:t>
                      </a:r>
                    </a:p>
                  </a:txBody>
                  <a:tcPr marL="82296" marR="82296" marT="18288" marB="18288" anchor="ctr">
                    <a:solidFill>
                      <a:srgbClr val="FFFFFF"/>
                    </a:solidFill>
                  </a:tcPr>
                </a:tc>
                <a:tc>
                  <a:txBody>
                    <a:bodyPr/>
                    <a:lstStyle/>
                    <a:p>
                      <a:pPr algn="l"/>
                      <a:r>
                        <a:rPr sz="1150" b="0">
                          <a:solidFill>
                            <a:srgbClr val="444444"/>
                          </a:solidFill>
                          <a:latin typeface="Arial"/>
                        </a:rPr>
                        <a:t>Alfalfa</a:t>
                      </a:r>
                    </a:p>
                  </a:txBody>
                  <a:tcPr marL="82296" marR="82296" marT="18288" marB="18288" anchor="ctr">
                    <a:solidFill>
                      <a:srgbClr val="FFFFFF"/>
                    </a:solidFill>
                  </a:tcPr>
                </a:tc>
                <a:tc>
                  <a:txBody>
                    <a:bodyPr/>
                    <a:lstStyle/>
                    <a:p>
                      <a:pPr algn="ctr"/>
                      <a:r>
                        <a:rPr sz="1150" b="0">
                          <a:solidFill>
                            <a:srgbClr val="444444"/>
                          </a:solidFill>
                          <a:latin typeface="Arial"/>
                        </a:rPr>
                        <a:t>3</a:t>
                      </a:r>
                    </a:p>
                  </a:txBody>
                  <a:tcPr marL="82296" marR="82296" marT="18288" marB="18288" anchor="ctr">
                    <a:solidFill>
                      <a:srgbClr val="FFFFFF"/>
                    </a:solidFill>
                  </a:tcPr>
                </a:tc>
                <a:tc>
                  <a:txBody>
                    <a:bodyPr/>
                    <a:lstStyle/>
                    <a:p>
                      <a:pPr algn="ctr"/>
                      <a:r>
                        <a:rPr sz="1150" b="0">
                          <a:solidFill>
                            <a:srgbClr val="444444"/>
                          </a:solidFill>
                          <a:latin typeface="Arial"/>
                        </a:rPr>
                        <a:t>04 Jun – 12 Sep</a:t>
                      </a:r>
                    </a:p>
                  </a:txBody>
                  <a:tcPr marL="82296" marR="82296" marT="18288" marB="18288" anchor="ctr">
                    <a:solidFill>
                      <a:srgbClr val="FFFFFF"/>
                    </a:solidFill>
                  </a:tcPr>
                </a:tc>
                <a:tc>
                  <a:txBody>
                    <a:bodyPr/>
                    <a:lstStyle/>
                    <a:p>
                      <a:pPr algn="ctr"/>
                      <a:r>
                        <a:rPr sz="1150" b="0">
                          <a:solidFill>
                            <a:srgbClr val="444444"/>
                          </a:solidFill>
                          <a:latin typeface="Arial"/>
                        </a:rPr>
                        <a:t>50</a:t>
                      </a:r>
                    </a:p>
                  </a:txBody>
                  <a:tcPr marL="82296" marR="82296" marT="18288" marB="18288" anchor="ctr">
                    <a:solidFill>
                      <a:srgbClr val="FFFFFF"/>
                    </a:solidFill>
                  </a:tcPr>
                </a:tc>
              </a:tr>
              <a:tr h="278892">
                <a:tc>
                  <a:txBody>
                    <a:bodyPr/>
                    <a:lstStyle/>
                    <a:p>
                      <a:pPr algn="l"/>
                      <a:r>
                        <a:rPr sz="1150" b="1">
                          <a:solidFill>
                            <a:srgbClr val="10427C"/>
                          </a:solidFill>
                          <a:latin typeface="Arial"/>
                        </a:rPr>
                        <a:t>2025</a:t>
                      </a:r>
                    </a:p>
                  </a:txBody>
                  <a:tcPr marL="82296" marR="82296" marT="18288" marB="18288" anchor="ctr">
                    <a:solidFill>
                      <a:srgbClr val="F2F2F2"/>
                    </a:solidFill>
                  </a:tcPr>
                </a:tc>
                <a:tc>
                  <a:txBody>
                    <a:bodyPr/>
                    <a:lstStyle/>
                    <a:p>
                      <a:pPr algn="l"/>
                      <a:r>
                        <a:rPr sz="1150" b="0">
                          <a:solidFill>
                            <a:srgbClr val="444444"/>
                          </a:solidFill>
                          <a:latin typeface="Arial"/>
                        </a:rPr>
                        <a:t>Alfalfa</a:t>
                      </a:r>
                    </a:p>
                  </a:txBody>
                  <a:tcPr marL="82296" marR="82296" marT="18288" marB="18288" anchor="ctr">
                    <a:solidFill>
                      <a:srgbClr val="F2F2F2"/>
                    </a:solidFill>
                  </a:tcPr>
                </a:tc>
                <a:tc>
                  <a:txBody>
                    <a:bodyPr/>
                    <a:lstStyle/>
                    <a:p>
                      <a:pPr algn="ctr"/>
                      <a:r>
                        <a:rPr sz="1150" b="0">
                          <a:solidFill>
                            <a:srgbClr val="F46C09"/>
                          </a:solidFill>
                          <a:latin typeface="Arial"/>
                        </a:rPr>
                        <a:t>4  (1 flagged)</a:t>
                      </a:r>
                    </a:p>
                  </a:txBody>
                  <a:tcPr marL="82296" marR="82296" marT="18288" marB="18288" anchor="ctr">
                    <a:solidFill>
                      <a:srgbClr val="F2F2F2"/>
                    </a:solidFill>
                  </a:tcPr>
                </a:tc>
                <a:tc>
                  <a:txBody>
                    <a:bodyPr/>
                    <a:lstStyle/>
                    <a:p>
                      <a:pPr algn="ctr"/>
                      <a:r>
                        <a:rPr sz="1150" b="0">
                          <a:solidFill>
                            <a:srgbClr val="444444"/>
                          </a:solidFill>
                          <a:latin typeface="Arial"/>
                        </a:rPr>
                        <a:t>12 Jun – 01 Nov</a:t>
                      </a:r>
                    </a:p>
                  </a:txBody>
                  <a:tcPr marL="82296" marR="82296" marT="18288" marB="18288" anchor="ctr">
                    <a:solidFill>
                      <a:srgbClr val="F2F2F2"/>
                    </a:solidFill>
                  </a:tcPr>
                </a:tc>
                <a:tc>
                  <a:txBody>
                    <a:bodyPr/>
                    <a:lstStyle/>
                    <a:p>
                      <a:pPr algn="ctr"/>
                      <a:r>
                        <a:rPr sz="1150" b="0">
                          <a:solidFill>
                            <a:srgbClr val="444444"/>
                          </a:solidFill>
                          <a:latin typeface="Arial"/>
                        </a:rPr>
                        <a:t>47</a:t>
                      </a:r>
                    </a:p>
                  </a:txBody>
                  <a:tcPr marL="82296" marR="82296" marT="18288" marB="18288" anchor="ctr">
                    <a:solidFill>
                      <a:srgbClr val="F2F2F2"/>
                    </a:solidFill>
                  </a:tcPr>
                </a:tc>
              </a:tr>
              <a:tr h="278892">
                <a:tc>
                  <a:txBody>
                    <a:bodyPr/>
                    <a:lstStyle/>
                    <a:p>
                      <a:pPr algn="l"/>
                      <a:r>
                        <a:rPr sz="1150" b="1">
                          <a:solidFill>
                            <a:srgbClr val="10427C"/>
                          </a:solidFill>
                          <a:latin typeface="Arial"/>
                        </a:rPr>
                        <a:t>2026</a:t>
                      </a:r>
                    </a:p>
                  </a:txBody>
                  <a:tcPr marL="82296" marR="82296" marT="18288" marB="18288" anchor="ctr">
                    <a:solidFill>
                      <a:srgbClr val="FFFFFF"/>
                    </a:solidFill>
                  </a:tcPr>
                </a:tc>
                <a:tc>
                  <a:txBody>
                    <a:bodyPr/>
                    <a:lstStyle/>
                    <a:p>
                      <a:pPr algn="l"/>
                      <a:r>
                        <a:rPr sz="1150" b="0">
                          <a:solidFill>
                            <a:srgbClr val="444444"/>
                          </a:solidFill>
                          <a:latin typeface="Arial"/>
                        </a:rPr>
                        <a:t>not yet published</a:t>
                      </a:r>
                    </a:p>
                  </a:txBody>
                  <a:tcPr marL="82296" marR="82296" marT="18288" marB="18288" anchor="ctr">
                    <a:solidFill>
                      <a:srgbClr val="FFFFFF"/>
                    </a:solidFill>
                  </a:tcPr>
                </a:tc>
                <a:tc>
                  <a:txBody>
                    <a:bodyPr/>
                    <a:lstStyle/>
                    <a:p>
                      <a:pPr algn="ctr"/>
                      <a:r>
                        <a:rPr sz="1150" b="0">
                          <a:solidFill>
                            <a:srgbClr val="444444"/>
                          </a:solidFill>
                          <a:latin typeface="Arial"/>
                        </a:rPr>
                        <a:t>3</a:t>
                      </a:r>
                    </a:p>
                  </a:txBody>
                  <a:tcPr marL="82296" marR="82296" marT="18288" marB="18288" anchor="ctr">
                    <a:solidFill>
                      <a:srgbClr val="FFFFFF"/>
                    </a:solidFill>
                  </a:tcPr>
                </a:tc>
                <a:tc>
                  <a:txBody>
                    <a:bodyPr/>
                    <a:lstStyle/>
                    <a:p>
                      <a:pPr algn="ctr"/>
                      <a:r>
                        <a:rPr sz="1150" b="0">
                          <a:solidFill>
                            <a:srgbClr val="444444"/>
                          </a:solidFill>
                          <a:latin typeface="Arial"/>
                        </a:rPr>
                        <a:t>02 Jun – 08 Aug</a:t>
                      </a:r>
                    </a:p>
                  </a:txBody>
                  <a:tcPr marL="82296" marR="82296" marT="18288" marB="18288" anchor="ctr">
                    <a:solidFill>
                      <a:srgbClr val="FFFFFF"/>
                    </a:solidFill>
                  </a:tcPr>
                </a:tc>
                <a:tc>
                  <a:txBody>
                    <a:bodyPr/>
                    <a:lstStyle/>
                    <a:p>
                      <a:pPr algn="ctr"/>
                      <a:r>
                        <a:rPr sz="1150" b="0">
                          <a:solidFill>
                            <a:srgbClr val="444444"/>
                          </a:solidFill>
                          <a:latin typeface="Arial"/>
                        </a:rPr>
                        <a:t>34</a:t>
                      </a:r>
                    </a:p>
                  </a:txBody>
                  <a:tcPr marL="82296" marR="82296" marT="18288" marB="18288" anchor="ctr">
                    <a:solidFill>
                      <a:srgbClr val="FFFFFF"/>
                    </a:solidFill>
                  </a:tcPr>
                </a:tc>
              </a:tr>
            </a:tbl>
          </a:graphicData>
        </a:graphic>
      </p:graphicFrame>
      <p:sp>
        <p:nvSpPr>
          <p:cNvPr id="25" name="TextBox 24"/>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a:solidFill>
                  <a:srgbClr val="8A8C8E"/>
                </a:solidFill>
                <a:latin typeface="Arial"/>
              </a:rPr>
              <a:t>"Flagged" marks a cutting detected after 1 October, when a hard freeze would produce the same signature. It is counted and labeled, not hidden.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The same rhythm, year after year</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2_all_years.png"/>
          <p:cNvPicPr>
            <a:picLocks noChangeAspect="1"/>
          </p:cNvPicPr>
          <p:nvPr/>
        </p:nvPicPr>
        <p:blipFill>
          <a:blip r:embed="rId3"/>
          <a:stretch>
            <a:fillRect/>
          </a:stretch>
        </p:blipFill>
        <p:spPr>
          <a:xfrm>
            <a:off x="1220190" y="1536192"/>
            <a:ext cx="9751314" cy="4370832"/>
          </a:xfrm>
          <a:prstGeom prst="rect">
            <a:avLst/>
          </a:prstGeom>
        </p:spPr>
      </p:pic>
      <p:sp>
        <p:nvSpPr>
          <p:cNvPr id="12" name="TextBox 11"/>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a:solidFill>
                  <a:srgbClr val="8A8C8E"/>
                </a:solidFill>
                <a:latin typeface="Arial"/>
              </a:rPr>
              <a:t>2026 is a part year, running to 20 September. Dashed lines are the flagged late-season cuttings.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A cutting calendar, built without visiting the farm</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4_cutting_calendar.png"/>
          <p:cNvPicPr>
            <a:picLocks noChangeAspect="1"/>
          </p:cNvPicPr>
          <p:nvPr/>
        </p:nvPicPr>
        <p:blipFill>
          <a:blip r:embed="rId3"/>
          <a:stretch>
            <a:fillRect/>
          </a:stretch>
        </p:blipFill>
        <p:spPr>
          <a:xfrm>
            <a:off x="2285459" y="1481328"/>
            <a:ext cx="7620777" cy="3401568"/>
          </a:xfrm>
          <a:prstGeom prst="rect">
            <a:avLst/>
          </a:prstGeom>
        </p:spPr>
      </p:pic>
      <p:sp>
        <p:nvSpPr>
          <p:cNvPr id="12" name="TextBox 11"/>
          <p:cNvSpPr txBox="1"/>
          <p:nvPr/>
        </p:nvSpPr>
        <p:spPr>
          <a:xfrm>
            <a:off x="566928" y="5120640"/>
            <a:ext cx="5349240" cy="822960"/>
          </a:xfrm>
          <a:prstGeom prst="rect">
            <a:avLst/>
          </a:prstGeom>
          <a:noFill/>
        </p:spPr>
        <p:txBody>
          <a:bodyPr wrap="square" lIns="0" rIns="0" tIns="0" bIns="0" anchor="t">
            <a:spAutoFit/>
          </a:bodyPr>
          <a:lstStyle/>
          <a:p>
            <a:pPr algn="l">
              <a:lnSpc>
                <a:spcPct val="130000"/>
              </a:lnSpc>
              <a:spcAft>
                <a:spcPts val="0"/>
              </a:spcAft>
            </a:pPr>
            <a:r>
              <a:rPr sz="1200" b="1">
                <a:solidFill>
                  <a:srgbClr val="58595B"/>
                </a:solidFill>
                <a:latin typeface="Arial"/>
              </a:rPr>
              <a:t>The schedule is remarkably stable. </a:t>
            </a:r>
            <a:r>
              <a:rPr sz="1200" b="0">
                <a:solidFill>
                  <a:srgbClr val="58595B"/>
                </a:solidFill>
                <a:latin typeface="Arial"/>
              </a:rPr>
              <a:t>First cutting between 4 and 15 June in all five years, then roughly every six weeks until the stand goes dormant.</a:t>
            </a:r>
          </a:p>
        </p:txBody>
      </p:sp>
      <p:sp>
        <p:nvSpPr>
          <p:cNvPr id="13" name="TextBox 12"/>
          <p:cNvSpPr txBox="1"/>
          <p:nvPr/>
        </p:nvSpPr>
        <p:spPr>
          <a:xfrm>
            <a:off x="6355080" y="5120640"/>
            <a:ext cx="5266944" cy="822960"/>
          </a:xfrm>
          <a:prstGeom prst="rect">
            <a:avLst/>
          </a:prstGeom>
          <a:noFill/>
        </p:spPr>
        <p:txBody>
          <a:bodyPr wrap="square" lIns="0" rIns="0" tIns="0" bIns="0" anchor="t">
            <a:spAutoFit/>
          </a:bodyPr>
          <a:lstStyle/>
          <a:p>
            <a:pPr algn="l">
              <a:lnSpc>
                <a:spcPct val="130000"/>
              </a:lnSpc>
              <a:spcAft>
                <a:spcPts val="0"/>
              </a:spcAft>
            </a:pPr>
            <a:r>
              <a:rPr sz="1200" b="1">
                <a:solidFill>
                  <a:srgbClr val="58595B"/>
                </a:solidFill>
                <a:latin typeface="Arial"/>
              </a:rPr>
              <a:t>2024 is the exception</a:t>
            </a:r>
            <a:r>
              <a:rPr sz="1200" b="0">
                <a:solidFill>
                  <a:srgbClr val="58595B"/>
                </a:solidFill>
                <a:latin typeface="Arial"/>
              </a:rPr>
              <a:t> — three cuttings, with 48- and 52-day gaps where other years run 33 to 45. Something stretched the cycle that summer. The imagery shows that it happened; it cannot say why.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The method did not know which crop it was looking at</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a:solidFill>
                  <a:srgbClr val="58595B"/>
                </a:solidFill>
                <a:latin typeface="Arial"/>
              </a:rPr>
              <a:t>Same field, same algorithm, same constants. Only the crop changed.</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3_wheat_vs_alfalfa.png"/>
          <p:cNvPicPr>
            <a:picLocks noChangeAspect="1"/>
          </p:cNvPicPr>
          <p:nvPr/>
        </p:nvPicPr>
        <p:blipFill>
          <a:blip r:embed="rId3"/>
          <a:stretch>
            <a:fillRect/>
          </a:stretch>
        </p:blipFill>
        <p:spPr>
          <a:xfrm>
            <a:off x="587186" y="1901952"/>
            <a:ext cx="11017323" cy="3913632"/>
          </a:xfrm>
          <a:prstGeom prst="rect">
            <a:avLst/>
          </a:prstGeom>
        </p:spPr>
      </p:pic>
      <p:sp>
        <p:nvSpPr>
          <p:cNvPr id="13" name="TextBox 12"/>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a:solidFill>
                  <a:srgbClr val="8A8C8E"/>
                </a:solidFill>
                <a:latin typeface="Arial"/>
              </a:rPr>
              <a:t>This is the closest thing to a control available without a grower record: a field that grew an annual grain and then a perennial forage, read by one unchanged method. One removal in the wheat years, four in the alfalfa year.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The biology is visible too</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5_regrowth.png"/>
          <p:cNvPicPr>
            <a:picLocks noChangeAspect="1"/>
          </p:cNvPicPr>
          <p:nvPr/>
        </p:nvPicPr>
        <p:blipFill>
          <a:blip r:embed="rId3"/>
          <a:stretch>
            <a:fillRect/>
          </a:stretch>
        </p:blipFill>
        <p:spPr>
          <a:xfrm>
            <a:off x="566928" y="1627632"/>
            <a:ext cx="5989320" cy="3525971"/>
          </a:xfrm>
          <a:prstGeom prst="rect">
            <a:avLst/>
          </a:prstGeom>
        </p:spPr>
      </p:pic>
      <p:sp>
        <p:nvSpPr>
          <p:cNvPr id="12" name="TextBox 11"/>
          <p:cNvSpPr txBox="1"/>
          <p:nvPr/>
        </p:nvSpPr>
        <p:spPr>
          <a:xfrm>
            <a:off x="6903720" y="1627632"/>
            <a:ext cx="4721047" cy="237744"/>
          </a:xfrm>
          <a:prstGeom prst="rect">
            <a:avLst/>
          </a:prstGeom>
          <a:noFill/>
        </p:spPr>
        <p:txBody>
          <a:bodyPr wrap="square" lIns="0" rIns="0" tIns="0" bIns="0" anchor="t">
            <a:spAutoFit/>
          </a:bodyPr>
          <a:lstStyle/>
          <a:p>
            <a:pPr algn="l">
              <a:lnSpc>
                <a:spcPct val="100000"/>
              </a:lnSpc>
              <a:spcAft>
                <a:spcPts val="0"/>
              </a:spcAft>
            </a:pPr>
            <a:r>
              <a:rPr sz="950" b="1">
                <a:solidFill>
                  <a:srgbClr val="F46C09"/>
                </a:solidFill>
                <a:latin typeface="Arial Narrow"/>
              </a:rPr>
              <a:t>WHAT THE CURVE SAYS</a:t>
            </a:r>
          </a:p>
        </p:txBody>
      </p:sp>
      <p:sp>
        <p:nvSpPr>
          <p:cNvPr id="13" name="TextBox 12"/>
          <p:cNvSpPr txBox="1"/>
          <p:nvPr/>
        </p:nvSpPr>
        <p:spPr>
          <a:xfrm>
            <a:off x="6903720" y="1975104"/>
            <a:ext cx="4721047" cy="3108960"/>
          </a:xfrm>
          <a:prstGeom prst="rect">
            <a:avLst/>
          </a:prstGeom>
          <a:noFill/>
        </p:spPr>
        <p:txBody>
          <a:bodyPr wrap="square" lIns="0" rIns="0" tIns="0" bIns="0" anchor="t">
            <a:spAutoFit/>
          </a:bodyPr>
          <a:lstStyle/>
          <a:p>
            <a:pPr algn="l">
              <a:lnSpc>
                <a:spcPct val="130000"/>
              </a:lnSpc>
              <a:spcAft>
                <a:spcPts val="600"/>
              </a:spcAft>
            </a:pPr>
            <a:r>
              <a:rPr sz="1250" b="1">
                <a:solidFill>
                  <a:srgbClr val="58595B"/>
                </a:solidFill>
                <a:latin typeface="Arial"/>
              </a:rPr>
              <a:t>Fifteen days from stubble back to full canopy</a:t>
            </a:r>
            <a:r>
              <a:rPr sz="1250" b="0">
                <a:solidFill>
                  <a:srgbClr val="58595B"/>
                </a:solidFill>
                <a:latin typeface="Arial"/>
              </a:rPr>
              <a:t>, as a median across all fifteen cuttings. The regrowth curves sit almost on top of one another — this stand behaves the same way every time it is cut.</a:t>
            </a:r>
          </a:p>
          <a:p>
            <a:pPr algn="l">
              <a:lnSpc>
                <a:spcPct val="130000"/>
              </a:lnSpc>
              <a:spcAft>
                <a:spcPts val="600"/>
              </a:spcAft>
            </a:pPr>
            <a:r>
              <a:rPr sz="1250" b="1">
                <a:solidFill>
                  <a:srgbClr val="58595B"/>
                </a:solidFill>
                <a:latin typeface="Arial"/>
              </a:rPr>
              <a:t>Then it waits. </a:t>
            </a:r>
            <a:r>
              <a:rPr sz="1250" b="0">
                <a:solidFill>
                  <a:srgbClr val="58595B"/>
                </a:solidFill>
                <a:latin typeface="Arial"/>
              </a:rPr>
              <a:t>The median gap between cuttings is 43 days, but the canopy is full again by day 15. The remaining four weeks are the grower letting the stand build yield before mowing again.</a:t>
            </a:r>
          </a:p>
          <a:p>
            <a:pPr algn="l">
              <a:lnSpc>
                <a:spcPct val="130000"/>
              </a:lnSpc>
              <a:spcAft>
                <a:spcPts val="600"/>
              </a:spcAft>
            </a:pPr>
            <a:r>
              <a:rPr sz="1250" b="1">
                <a:solidFill>
                  <a:srgbClr val="58595B"/>
                </a:solidFill>
                <a:latin typeface="Arial"/>
              </a:rPr>
              <a:t>The one flat track </a:t>
            </a:r>
            <a:r>
              <a:rPr sz="1250" b="0">
                <a:solidFill>
                  <a:srgbClr val="58595B"/>
                </a:solidFill>
                <a:latin typeface="Arial"/>
              </a:rPr>
              <a:t>near 0.47 is a late-October cutting that never regrows, because the stand is going dormant.</a:t>
            </a:r>
          </a:p>
        </p:txBody>
      </p:sp>
      <p:sp>
        <p:nvSpPr>
          <p:cNvPr id="14" name="TextBox 13"/>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a:solidFill>
                  <a:srgbClr val="8A8C8E"/>
                </a:solidFill>
                <a:latin typeface="Arial"/>
              </a:rPr>
              <a:t>"Full canopy" is a greenness of 0.80, the level this stand plateaus at through the summer. Each track stops at the next cutting.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Telling a cutting from a cloud</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a:solidFill>
                  <a:srgbClr val="58595B"/>
                </a:solidFill>
                <a:latin typeface="Arial"/>
              </a:rPr>
              <a:t>A fall in greenness is not enough on its own. Four tests, each one added because a real case in this field's own record defeated the rule before it.</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566928" y="2066543"/>
          <a:ext cx="11057837" cy="3621024"/>
        </p:xfrm>
        <a:graphic>
          <a:graphicData uri="http://schemas.openxmlformats.org/drawingml/2006/table">
            <a:tbl>
              <a:tblPr firstRow="1" bandRow="1">
                <a:tableStyleId>{5C22544A-7EE6-4342-B048-85BDC9FD1C3A}</a:tableStyleId>
              </a:tblPr>
              <a:tblGrid>
                <a:gridCol w="1452039"/>
                <a:gridCol w="3797641"/>
                <a:gridCol w="5808157"/>
              </a:tblGrid>
              <a:tr h="329184">
                <a:tc>
                  <a:txBody>
                    <a:bodyPr/>
                    <a:lstStyle/>
                    <a:p>
                      <a:pPr algn="l"/>
                      <a:r>
                        <a:rPr sz="1100" b="1">
                          <a:solidFill>
                            <a:srgbClr val="FFFFFF"/>
                          </a:solidFill>
                          <a:latin typeface="Arial Narrow"/>
                        </a:rPr>
                        <a:t>Test</a:t>
                      </a:r>
                    </a:p>
                  </a:txBody>
                  <a:tcPr marL="82296" marR="82296" marT="18288" marB="18288" anchor="ctr">
                    <a:solidFill>
                      <a:srgbClr val="10427C"/>
                    </a:solidFill>
                  </a:tcPr>
                </a:tc>
                <a:tc>
                  <a:txBody>
                    <a:bodyPr/>
                    <a:lstStyle/>
                    <a:p>
                      <a:pPr algn="l"/>
                      <a:r>
                        <a:rPr sz="1100" b="1">
                          <a:solidFill>
                            <a:srgbClr val="FFFFFF"/>
                          </a:solidFill>
                          <a:latin typeface="Arial Narrow"/>
                        </a:rPr>
                        <a:t>What it requires</a:t>
                      </a:r>
                    </a:p>
                  </a:txBody>
                  <a:tcPr marL="82296" marR="82296" marT="18288" marB="18288" anchor="ctr">
                    <a:solidFill>
                      <a:srgbClr val="10427C"/>
                    </a:solidFill>
                  </a:tcPr>
                </a:tc>
                <a:tc>
                  <a:txBody>
                    <a:bodyPr/>
                    <a:lstStyle/>
                    <a:p>
                      <a:pPr algn="ctr"/>
                      <a:r>
                        <a:rPr sz="1100" b="1">
                          <a:solidFill>
                            <a:srgbClr val="FFFFFF"/>
                          </a:solidFill>
                          <a:latin typeface="Arial Narrow"/>
                        </a:rPr>
                        <a:t>The case that put it there</a:t>
                      </a:r>
                    </a:p>
                  </a:txBody>
                  <a:tcPr marL="82296" marR="82296" marT="18288" marB="18288" anchor="ctr">
                    <a:solidFill>
                      <a:srgbClr val="10427C"/>
                    </a:solidFill>
                  </a:tcPr>
                </a:tc>
              </a:tr>
              <a:tr h="822960">
                <a:tc>
                  <a:txBody>
                    <a:bodyPr/>
                    <a:lstStyle/>
                    <a:p>
                      <a:pPr algn="l"/>
                      <a:r>
                        <a:rPr sz="1100" b="1">
                          <a:solidFill>
                            <a:srgbClr val="10427C"/>
                          </a:solidFill>
                          <a:latin typeface="Arial"/>
                        </a:rPr>
                        <a:t>Standing</a:t>
                      </a:r>
                    </a:p>
                  </a:txBody>
                  <a:tcPr marL="82296" marR="82296" marT="18288" marB="18288" anchor="ctr">
                    <a:solidFill>
                      <a:srgbClr val="FFFFFF"/>
                    </a:solidFill>
                  </a:tcPr>
                </a:tc>
                <a:tc>
                  <a:txBody>
                    <a:bodyPr/>
                    <a:lstStyle/>
                    <a:p>
                      <a:pPr algn="l"/>
                      <a:r>
                        <a:rPr sz="1100" b="0">
                          <a:solidFill>
                            <a:srgbClr val="444444"/>
                          </a:solidFill>
                          <a:latin typeface="Arial"/>
                        </a:rPr>
                        <a:t>Greenness above 0.60 before the fall</a:t>
                      </a:r>
                    </a:p>
                  </a:txBody>
                  <a:tcPr marL="82296" marR="82296" marT="18288" marB="18288" anchor="ctr">
                    <a:solidFill>
                      <a:srgbClr val="FFFFFF"/>
                    </a:solidFill>
                  </a:tcPr>
                </a:tc>
                <a:tc>
                  <a:txBody>
                    <a:bodyPr/>
                    <a:lstStyle/>
                    <a:p>
                      <a:pPr algn="ctr"/>
                      <a:r>
                        <a:rPr sz="1100" b="0">
                          <a:solidFill>
                            <a:srgbClr val="444444"/>
                          </a:solidFill>
                          <a:latin typeface="Arial"/>
                        </a:rPr>
                        <a:t>Dormant winter regrowth oscillates around 0.45 and is not a crop anyone cuts.</a:t>
                      </a:r>
                    </a:p>
                  </a:txBody>
                  <a:tcPr marL="82296" marR="82296" marT="18288" marB="18288" anchor="ctr">
                    <a:solidFill>
                      <a:srgbClr val="FFFFFF"/>
                    </a:solidFill>
                  </a:tcPr>
                </a:tc>
              </a:tr>
              <a:tr h="822960">
                <a:tc>
                  <a:txBody>
                    <a:bodyPr/>
                    <a:lstStyle/>
                    <a:p>
                      <a:pPr algn="l"/>
                      <a:r>
                        <a:rPr sz="1100" b="1">
                          <a:solidFill>
                            <a:srgbClr val="10427C"/>
                          </a:solidFill>
                          <a:latin typeface="Arial"/>
                        </a:rPr>
                        <a:t>Step</a:t>
                      </a:r>
                    </a:p>
                  </a:txBody>
                  <a:tcPr marL="82296" marR="82296" marT="18288" marB="18288" anchor="ctr">
                    <a:solidFill>
                      <a:srgbClr val="F2F2F2"/>
                    </a:solidFill>
                  </a:tcPr>
                </a:tc>
                <a:tc>
                  <a:txBody>
                    <a:bodyPr/>
                    <a:lstStyle/>
                    <a:p>
                      <a:pPr algn="l"/>
                      <a:r>
                        <a:rPr sz="1100" b="0">
                          <a:solidFill>
                            <a:srgbClr val="444444"/>
                          </a:solidFill>
                          <a:latin typeface="Arial"/>
                        </a:rPr>
                        <a:t>A drop of 0.30 or more, measured from the last standing observation, completed within 12 days</a:t>
                      </a:r>
                    </a:p>
                  </a:txBody>
                  <a:tcPr marL="82296" marR="82296" marT="18288" marB="18288" anchor="ctr">
                    <a:solidFill>
                      <a:srgbClr val="F2F2F2"/>
                    </a:solidFill>
                  </a:tcPr>
                </a:tc>
                <a:tc>
                  <a:txBody>
                    <a:bodyPr/>
                    <a:lstStyle/>
                    <a:p>
                      <a:pPr algn="ctr"/>
                      <a:r>
                        <a:rPr sz="1100" b="0">
                          <a:solidFill>
                            <a:srgbClr val="444444"/>
                          </a:solidFill>
                          <a:latin typeface="Arial"/>
                        </a:rPr>
                        <a:t>A mature stand sits near its peak for weeks before it is cut. Measuring from the seasonal peak instead turned the 7-day first cutting of 2023 into a "27-day senescence" and missed it entirely.</a:t>
                      </a:r>
                    </a:p>
                  </a:txBody>
                  <a:tcPr marL="82296" marR="82296" marT="18288" marB="18288" anchor="ctr">
                    <a:solidFill>
                      <a:srgbClr val="F2F2F2"/>
                    </a:solidFill>
                  </a:tcPr>
                </a:tc>
              </a:tr>
              <a:tr h="822960">
                <a:tc>
                  <a:txBody>
                    <a:bodyPr/>
                    <a:lstStyle/>
                    <a:p>
                      <a:pPr algn="l"/>
                      <a:r>
                        <a:rPr sz="1100" b="1">
                          <a:solidFill>
                            <a:srgbClr val="10427C"/>
                          </a:solidFill>
                          <a:latin typeface="Arial"/>
                        </a:rPr>
                        <a:t>Persistent</a:t>
                      </a:r>
                    </a:p>
                  </a:txBody>
                  <a:tcPr marL="82296" marR="82296" marT="18288" marB="18288" anchor="ctr">
                    <a:solidFill>
                      <a:srgbClr val="FFFFFF"/>
                    </a:solidFill>
                  </a:tcPr>
                </a:tc>
                <a:tc>
                  <a:txBody>
                    <a:bodyPr/>
                    <a:lstStyle/>
                    <a:p>
                      <a:pPr algn="l"/>
                      <a:r>
                        <a:rPr sz="1100" b="0">
                          <a:solidFill>
                            <a:srgbClr val="444444"/>
                          </a:solidFill>
                          <a:latin typeface="Arial"/>
                        </a:rPr>
                        <a:t>The low holds across at least two clear observations</a:t>
                      </a:r>
                    </a:p>
                  </a:txBody>
                  <a:tcPr marL="82296" marR="82296" marT="18288" marB="18288" anchor="ctr">
                    <a:solidFill>
                      <a:srgbClr val="FFFFFF"/>
                    </a:solidFill>
                  </a:tcPr>
                </a:tc>
                <a:tc>
                  <a:txBody>
                    <a:bodyPr/>
                    <a:lstStyle/>
                    <a:p>
                      <a:pPr algn="ctr"/>
                      <a:r>
                        <a:rPr sz="1100" b="0">
                          <a:solidFill>
                            <a:srgbClr val="444444"/>
                          </a:solidFill>
                          <a:latin typeface="Arial"/>
                        </a:rPr>
                        <a:t>On 12 August 2023 the field reads 0.49 between a 0.90 and a 0.93 five days later. Alfalfa cannot regrow a canopy in five days — that is cloud shadow. Without this test 2023 reads six cuttings instead of four.</a:t>
                      </a:r>
                    </a:p>
                  </a:txBody>
                  <a:tcPr marL="82296" marR="82296" marT="18288" marB="18288" anchor="ctr">
                    <a:solidFill>
                      <a:srgbClr val="FFFFFF"/>
                    </a:solidFill>
                  </a:tcPr>
                </a:tc>
              </a:tr>
              <a:tr h="822960">
                <a:tc>
                  <a:txBody>
                    <a:bodyPr/>
                    <a:lstStyle/>
                    <a:p>
                      <a:pPr algn="l"/>
                      <a:r>
                        <a:rPr sz="1100" b="1">
                          <a:solidFill>
                            <a:srgbClr val="10427C"/>
                          </a:solidFill>
                          <a:latin typeface="Arial"/>
                        </a:rPr>
                        <a:t>Spaced</a:t>
                      </a:r>
                    </a:p>
                  </a:txBody>
                  <a:tcPr marL="82296" marR="82296" marT="18288" marB="18288" anchor="ctr">
                    <a:solidFill>
                      <a:srgbClr val="F2F2F2"/>
                    </a:solidFill>
                  </a:tcPr>
                </a:tc>
                <a:tc>
                  <a:txBody>
                    <a:bodyPr/>
                    <a:lstStyle/>
                    <a:p>
                      <a:pPr algn="l"/>
                      <a:r>
                        <a:rPr sz="1100" b="0">
                          <a:solidFill>
                            <a:srgbClr val="444444"/>
                          </a:solidFill>
                          <a:latin typeface="Arial"/>
                        </a:rPr>
                        <a:t>At least 18 days since the previous cutting</a:t>
                      </a:r>
                    </a:p>
                  </a:txBody>
                  <a:tcPr marL="82296" marR="82296" marT="18288" marB="18288" anchor="ctr">
                    <a:solidFill>
                      <a:srgbClr val="F2F2F2"/>
                    </a:solidFill>
                  </a:tcPr>
                </a:tc>
                <a:tc>
                  <a:txBody>
                    <a:bodyPr/>
                    <a:lstStyle/>
                    <a:p>
                      <a:pPr algn="ctr"/>
                      <a:r>
                        <a:rPr sz="1100" b="0">
                          <a:solidFill>
                            <a:srgbClr val="444444"/>
                          </a:solidFill>
                          <a:latin typeface="Arial"/>
                        </a:rPr>
                        <a:t>A stand needs about a month to regrow; two cuttings a fortnight apart would be one event counted twice.</a:t>
                      </a:r>
                    </a:p>
                  </a:txBody>
                  <a:tcPr marL="82296" marR="82296" marT="18288" marB="18288" anchor="ctr">
                    <a:solidFill>
                      <a:srgbClr val="F2F2F2"/>
                    </a:solidFill>
                  </a:tcPr>
                </a:tc>
              </a:tr>
            </a:tbl>
          </a:graphicData>
        </a:graphic>
      </p:graphicFrame>
      <p:sp>
        <p:nvSpPr>
          <p:cNvPr id="13" name="TextBox 12"/>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a:solidFill>
                  <a:srgbClr val="8A8C8E"/>
                </a:solidFill>
                <a:latin typeface="Arial"/>
              </a:rPr>
              <a:t>Cloud is judged on the share of FIELD pixels that survived masking, not the scene cloud percentage: five of the twenty detected falls sit under scenes 14–34% clouded, and the field itself is clear in every 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What an annual-crop model makes of a perennial</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a:solidFill>
                  <a:srgbClr val="58595B"/>
                </a:solidFill>
                <a:latin typeface="Arial"/>
              </a:rPr>
              <a:t>This is the finding that matters for the people building the production pipeline.</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6_pipeline_vs_cuttings.png"/>
          <p:cNvPicPr>
            <a:picLocks noChangeAspect="1"/>
          </p:cNvPicPr>
          <p:nvPr/>
        </p:nvPicPr>
        <p:blipFill>
          <a:blip r:embed="rId3"/>
          <a:stretch>
            <a:fillRect/>
          </a:stretch>
        </p:blipFill>
        <p:spPr>
          <a:xfrm>
            <a:off x="2047500" y="1938528"/>
            <a:ext cx="8096694" cy="3858768"/>
          </a:xfrm>
          <a:prstGeom prst="rect">
            <a:avLst/>
          </a:prstGeom>
        </p:spPr>
      </p:pic>
      <p:sp>
        <p:nvSpPr>
          <p:cNvPr id="13" name="TextBox 12"/>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a:solidFill>
                  <a:srgbClr val="8A8C8E"/>
                </a:solidFill>
                <a:latin typeface="Arial"/>
              </a:rPr>
              <a:t>The pipeline reports one planting and one harvest per year. On this field its "harvest" lands on the first cutting in 2023, the second in 2026, the third in 2025, and on nothing at all in 2022 and 2024 — and the season it reports swings from 63 to 264 days on an unchanging crop.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A perennial has no off-season, so two of our metrics stop meaning anything</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664208"/>
            <a:ext cx="5349240" cy="237744"/>
          </a:xfrm>
          <a:prstGeom prst="rect">
            <a:avLst/>
          </a:prstGeom>
          <a:noFill/>
        </p:spPr>
        <p:txBody>
          <a:bodyPr wrap="square" lIns="0" rIns="0" tIns="0" bIns="0" anchor="t">
            <a:spAutoFit/>
          </a:bodyPr>
          <a:lstStyle/>
          <a:p>
            <a:pPr algn="l">
              <a:lnSpc>
                <a:spcPct val="100000"/>
              </a:lnSpc>
              <a:spcAft>
                <a:spcPts val="0"/>
              </a:spcAft>
            </a:pPr>
            <a:r>
              <a:rPr sz="950" b="1">
                <a:solidFill>
                  <a:srgbClr val="F46C09"/>
                </a:solidFill>
                <a:latin typeface="Arial Narrow"/>
              </a:rPr>
              <a:t>COVER CROP</a:t>
            </a:r>
          </a:p>
        </p:txBody>
      </p:sp>
      <p:sp>
        <p:nvSpPr>
          <p:cNvPr id="12" name="TextBox 11"/>
          <p:cNvSpPr txBox="1"/>
          <p:nvPr/>
        </p:nvSpPr>
        <p:spPr>
          <a:xfrm>
            <a:off x="566928" y="2011680"/>
            <a:ext cx="5349240" cy="2377440"/>
          </a:xfrm>
          <a:prstGeom prst="rect">
            <a:avLst/>
          </a:prstGeom>
          <a:noFill/>
        </p:spPr>
        <p:txBody>
          <a:bodyPr wrap="square" lIns="0" rIns="0" tIns="0" bIns="0" anchor="t">
            <a:spAutoFit/>
          </a:bodyPr>
          <a:lstStyle/>
          <a:p>
            <a:pPr algn="l">
              <a:lnSpc>
                <a:spcPct val="130000"/>
              </a:lnSpc>
              <a:spcAft>
                <a:spcPts val="600"/>
              </a:spcAft>
            </a:pPr>
            <a:r>
              <a:rPr sz="1250" b="0">
                <a:solidFill>
                  <a:srgbClr val="58595B"/>
                </a:solidFill>
                <a:latin typeface="Arial"/>
              </a:rPr>
              <a:t>Of the five winters from 2021–22 onward, the pipeline calls four a </a:t>
            </a:r>
            <a:r>
              <a:rPr sz="1250" b="1">
                <a:solidFill>
                  <a:srgbClr val="58595B"/>
                </a:solidFill>
                <a:latin typeface="Arial"/>
              </a:rPr>
              <a:t>likely cover crop</a:t>
            </a:r>
            <a:r>
              <a:rPr sz="1250" b="0">
                <a:solidFill>
                  <a:srgbClr val="58595B"/>
                </a:solidFill>
                <a:latin typeface="Arial"/>
              </a:rPr>
              <a:t> and the fifth a possible one. There is no cover crop. There is alfalfa, which was there in August and is still there in December.</a:t>
            </a:r>
          </a:p>
          <a:p>
            <a:pPr algn="l">
              <a:lnSpc>
                <a:spcPct val="130000"/>
              </a:lnSpc>
              <a:spcAft>
                <a:spcPts val="600"/>
              </a:spcAft>
            </a:pPr>
            <a:r>
              <a:rPr sz="1250" b="0">
                <a:solidFill>
                  <a:srgbClr val="58595B"/>
                </a:solidFill>
                <a:latin typeface="Arial"/>
              </a:rPr>
              <a:t>The clearest case is winter 2023–24, scored on an "off-season" greenness peak of </a:t>
            </a:r>
            <a:r>
              <a:rPr sz="1250" b="1">
                <a:solidFill>
                  <a:srgbClr val="58595B"/>
                </a:solidFill>
                <a:latin typeface="Arial"/>
              </a:rPr>
              <a:t>0.94 on 6 October</a:t>
            </a:r>
            <a:r>
              <a:rPr sz="1250" b="0">
                <a:solidFill>
                  <a:srgbClr val="58595B"/>
                </a:solidFill>
                <a:latin typeface="Arial"/>
              </a:rPr>
              <a:t>. That is not a cover crop establishing. It is the standing hay crop, five days before the fourth cutting.</a:t>
            </a:r>
          </a:p>
        </p:txBody>
      </p:sp>
      <p:sp>
        <p:nvSpPr>
          <p:cNvPr id="13" name="TextBox 12"/>
          <p:cNvSpPr txBox="1"/>
          <p:nvPr/>
        </p:nvSpPr>
        <p:spPr>
          <a:xfrm>
            <a:off x="6355080" y="1664208"/>
            <a:ext cx="5266944" cy="237744"/>
          </a:xfrm>
          <a:prstGeom prst="rect">
            <a:avLst/>
          </a:prstGeom>
          <a:noFill/>
        </p:spPr>
        <p:txBody>
          <a:bodyPr wrap="square" lIns="0" rIns="0" tIns="0" bIns="0" anchor="t">
            <a:spAutoFit/>
          </a:bodyPr>
          <a:lstStyle/>
          <a:p>
            <a:pPr algn="l">
              <a:lnSpc>
                <a:spcPct val="100000"/>
              </a:lnSpc>
              <a:spcAft>
                <a:spcPts val="0"/>
              </a:spcAft>
            </a:pPr>
            <a:r>
              <a:rPr sz="950" b="1">
                <a:solidFill>
                  <a:srgbClr val="F46C09"/>
                </a:solidFill>
                <a:latin typeface="Arial Narrow"/>
              </a:rPr>
              <a:t>SOIL ARMOR BEFORE PLANTING</a:t>
            </a:r>
          </a:p>
        </p:txBody>
      </p:sp>
      <p:sp>
        <p:nvSpPr>
          <p:cNvPr id="14" name="TextBox 13"/>
          <p:cNvSpPr txBox="1"/>
          <p:nvPr/>
        </p:nvSpPr>
        <p:spPr>
          <a:xfrm>
            <a:off x="6355080" y="2011680"/>
            <a:ext cx="5266944" cy="2377440"/>
          </a:xfrm>
          <a:prstGeom prst="rect">
            <a:avLst/>
          </a:prstGeom>
          <a:noFill/>
        </p:spPr>
        <p:txBody>
          <a:bodyPr wrap="square" lIns="0" rIns="0" tIns="0" bIns="0" anchor="t">
            <a:spAutoFit/>
          </a:bodyPr>
          <a:lstStyle/>
          <a:p>
            <a:pPr algn="l">
              <a:lnSpc>
                <a:spcPct val="130000"/>
              </a:lnSpc>
              <a:spcAft>
                <a:spcPts val="600"/>
              </a:spcAft>
            </a:pPr>
            <a:r>
              <a:rPr sz="1250" b="0">
                <a:solidFill>
                  <a:srgbClr val="58595B"/>
                </a:solidFill>
                <a:latin typeface="Arial"/>
              </a:rPr>
              <a:t>The pre-planting window runs from last year's harvest to this year's planting. On a perennial there is no planting, so in </a:t>
            </a:r>
            <a:r>
              <a:rPr sz="1250" b="1">
                <a:solidFill>
                  <a:srgbClr val="58595B"/>
                </a:solidFill>
                <a:latin typeface="Arial"/>
              </a:rPr>
              <a:t>2024 and 2026 the window collapses to nothing</a:t>
            </a:r>
            <a:r>
              <a:rPr sz="1250" b="0">
                <a:solidFill>
                  <a:srgbClr val="58595B"/>
                </a:solidFill>
                <a:latin typeface="Arial"/>
              </a:rPr>
              <a:t> and no figure is produced at all.</a:t>
            </a:r>
          </a:p>
          <a:p>
            <a:pPr algn="l">
              <a:lnSpc>
                <a:spcPct val="130000"/>
              </a:lnSpc>
              <a:spcAft>
                <a:spcPts val="600"/>
              </a:spcAft>
            </a:pPr>
            <a:r>
              <a:rPr sz="1250" b="0">
                <a:solidFill>
                  <a:srgbClr val="58595B"/>
                </a:solidFill>
                <a:latin typeface="Arial"/>
              </a:rPr>
              <a:t>Where a figure does appear it is not wrong so much as beside the point: March 2025 reads 0.97 covered, 96% of it classed as residue. That is a dormant alfalfa stand, not last year's crop residue.</a:t>
            </a:r>
          </a:p>
        </p:txBody>
      </p:sp>
      <p:sp>
        <p:nvSpPr>
          <p:cNvPr id="15" name="Rectangle 14"/>
          <p:cNvSpPr/>
          <p:nvPr/>
        </p:nvSpPr>
        <p:spPr>
          <a:xfrm>
            <a:off x="566928" y="4663440"/>
            <a:ext cx="45720" cy="512064"/>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700016"/>
            <a:ext cx="10607040" cy="457200"/>
          </a:xfrm>
          <a:prstGeom prst="rect">
            <a:avLst/>
          </a:prstGeom>
          <a:noFill/>
        </p:spPr>
        <p:txBody>
          <a:bodyPr wrap="square" lIns="0" rIns="0" tIns="0" bIns="0" anchor="t">
            <a:spAutoFit/>
          </a:bodyPr>
          <a:lstStyle/>
          <a:p>
            <a:pPr algn="l">
              <a:lnSpc>
                <a:spcPct val="140000"/>
              </a:lnSpc>
              <a:spcAft>
                <a:spcPts val="0"/>
              </a:spcAft>
            </a:pPr>
            <a:r>
              <a:rPr sz="1400" b="0">
                <a:solidFill>
                  <a:srgbClr val="212121"/>
                </a:solidFill>
                <a:latin typeface="Arial"/>
              </a:rPr>
              <a:t>Neither metric is broken. Both were defined for a crop that is planted and harvested once a year, and this field is not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What this is not</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737360"/>
            <a:ext cx="11057839" cy="4206240"/>
          </a:xfrm>
          <a:prstGeom prst="rect">
            <a:avLst/>
          </a:prstGeom>
          <a:noFill/>
        </p:spPr>
        <p:txBody>
          <a:bodyPr wrap="square" lIns="0" rIns="0" tIns="0" bIns="0" anchor="t">
            <a:spAutoFit/>
          </a:bodyPr>
          <a:lstStyle/>
          <a:p>
            <a:pPr algn="l">
              <a:lnSpc>
                <a:spcPct val="136000"/>
              </a:lnSpc>
              <a:spcAft>
                <a:spcPts val="600"/>
              </a:spcAft>
            </a:pPr>
            <a:r>
              <a:rPr sz="1300" b="0">
                <a:solidFill>
                  <a:srgbClr val="58595B"/>
                </a:solidFill>
                <a:latin typeface="Arial"/>
              </a:rPr>
              <a:t>•  </a:t>
            </a:r>
            <a:r>
              <a:rPr sz="1300" b="1">
                <a:solidFill>
                  <a:srgbClr val="58595B"/>
                </a:solidFill>
                <a:latin typeface="Arial"/>
              </a:rPr>
              <a:t>No cutting record has ever been checked against this. </a:t>
            </a:r>
            <a:r>
              <a:rPr sz="1300" b="0">
                <a:solidFill>
                  <a:srgbClr val="58595B"/>
                </a:solidFill>
                <a:latin typeface="Arial"/>
              </a:rPr>
              <a:t>Not for this field, not for any field. Every count in this deck is read from the shape of a curve. The pattern is strong and the biology is consistent, but no accuracy figure exists and none is quoted here.</a:t>
            </a:r>
          </a:p>
          <a:p>
            <a:pPr algn="l">
              <a:lnSpc>
                <a:spcPct val="136000"/>
              </a:lnSpc>
              <a:spcAft>
                <a:spcPts val="600"/>
              </a:spcAft>
            </a:pPr>
            <a:r>
              <a:rPr sz="1300" b="0">
                <a:solidFill>
                  <a:srgbClr val="58595B"/>
                </a:solidFill>
                <a:latin typeface="Arial"/>
              </a:rPr>
              <a:t>•  </a:t>
            </a:r>
            <a:r>
              <a:rPr sz="1300" b="1">
                <a:solidFill>
                  <a:srgbClr val="58595B"/>
                </a:solidFill>
                <a:latin typeface="Arial"/>
              </a:rPr>
              <a:t>Autumn is genuinely ambiguous. </a:t>
            </a:r>
            <a:r>
              <a:rPr sz="1300" b="0">
                <a:solidFill>
                  <a:srgbClr val="58595B"/>
                </a:solidFill>
                <a:latin typeface="Arial"/>
              </a:rPr>
              <a:t>Three of the fifteen cuttings fall after 1 October, when a hard freeze would take a canopy down the same way. They are flagged throughout rather than quietly counted or quietly dropped.</a:t>
            </a:r>
          </a:p>
          <a:p>
            <a:pPr algn="l">
              <a:lnSpc>
                <a:spcPct val="136000"/>
              </a:lnSpc>
              <a:spcAft>
                <a:spcPts val="600"/>
              </a:spcAft>
            </a:pPr>
            <a:r>
              <a:rPr sz="1300" b="0">
                <a:solidFill>
                  <a:srgbClr val="58595B"/>
                </a:solidFill>
                <a:latin typeface="Arial"/>
              </a:rPr>
              <a:t>•  </a:t>
            </a:r>
            <a:r>
              <a:rPr sz="1300" b="1">
                <a:solidFill>
                  <a:srgbClr val="58595B"/>
                </a:solidFill>
                <a:latin typeface="Arial"/>
              </a:rPr>
              <a:t>Dates carry a window, not a day. </a:t>
            </a:r>
            <a:r>
              <a:rPr sz="1300" b="0">
                <a:solidFill>
                  <a:srgbClr val="58595B"/>
                </a:solidFill>
                <a:latin typeface="Arial"/>
              </a:rPr>
              <a:t>A cutting is placed between the last clear image showing a standing crop and the first showing stubble — a median of 10 days apart. That window is set by cloud and revisit, not by the method.</a:t>
            </a:r>
          </a:p>
          <a:p>
            <a:pPr algn="l">
              <a:lnSpc>
                <a:spcPct val="136000"/>
              </a:lnSpc>
              <a:spcAft>
                <a:spcPts val="600"/>
              </a:spcAft>
            </a:pPr>
            <a:r>
              <a:rPr sz="1300" b="0">
                <a:solidFill>
                  <a:srgbClr val="58595B"/>
                </a:solidFill>
                <a:latin typeface="Arial"/>
              </a:rPr>
              <a:t>•  </a:t>
            </a:r>
            <a:r>
              <a:rPr sz="1300" b="1">
                <a:solidFill>
                  <a:srgbClr val="58595B"/>
                </a:solidFill>
                <a:latin typeface="Arial"/>
              </a:rPr>
              <a:t>The thresholds were tuned on this one field. </a:t>
            </a:r>
            <a:r>
              <a:rPr sz="1300" b="0">
                <a:solidFill>
                  <a:srgbClr val="58595B"/>
                </a:solidFill>
                <a:latin typeface="Arial"/>
              </a:rPr>
              <a:t>Four tests and seven constants, read against this field's own 2023 season and then left alone across the other six years. That is a demonstration, not a validated model.</a:t>
            </a:r>
          </a:p>
          <a:p>
            <a:pPr algn="l">
              <a:lnSpc>
                <a:spcPct val="136000"/>
              </a:lnSpc>
              <a:spcAft>
                <a:spcPts val="600"/>
              </a:spcAft>
            </a:pPr>
            <a:r>
              <a:rPr sz="1300" b="0">
                <a:solidFill>
                  <a:srgbClr val="58595B"/>
                </a:solidFill>
                <a:latin typeface="Arial"/>
              </a:rPr>
              <a:t>•  </a:t>
            </a:r>
            <a:r>
              <a:rPr sz="1300" b="1">
                <a:solidFill>
                  <a:srgbClr val="58595B"/>
                </a:solidFill>
                <a:latin typeface="Arial"/>
              </a:rPr>
              <a:t>One field is one field — and only half a pivot of it. </a:t>
            </a:r>
            <a:r>
              <a:rPr sz="1300" b="0">
                <a:solidFill>
                  <a:srgbClr val="58595B"/>
                </a:solidFill>
                <a:latin typeface="Arial"/>
              </a:rPr>
              <a:t>Everything here is a drawn rectangle covering 51% of one center pivot in one irrigated valley. A boundary taken out to the pivot edge would include the wetted margin and the dry corners, and would not behave the same way.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a:solidFill>
                  <a:srgbClr val="10427C"/>
                </a:solidFill>
                <a:latin typeface="Arial Narrow"/>
              </a:rPr>
              <a:t>Why it is worth doing properly</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664208"/>
            <a:ext cx="5349240" cy="237744"/>
          </a:xfrm>
          <a:prstGeom prst="rect">
            <a:avLst/>
          </a:prstGeom>
          <a:noFill/>
        </p:spPr>
        <p:txBody>
          <a:bodyPr wrap="square" lIns="0" rIns="0" tIns="0" bIns="0" anchor="t">
            <a:spAutoFit/>
          </a:bodyPr>
          <a:lstStyle/>
          <a:p>
            <a:pPr algn="l">
              <a:lnSpc>
                <a:spcPct val="100000"/>
              </a:lnSpc>
              <a:spcAft>
                <a:spcPts val="0"/>
              </a:spcAft>
            </a:pPr>
            <a:r>
              <a:rPr sz="950" b="1">
                <a:solidFill>
                  <a:srgbClr val="F46C09"/>
                </a:solidFill>
                <a:latin typeface="Arial Narrow"/>
              </a:rPr>
              <a:t>WHAT THIS WOULD UNLOCK</a:t>
            </a:r>
          </a:p>
        </p:txBody>
      </p:sp>
      <p:sp>
        <p:nvSpPr>
          <p:cNvPr id="12" name="TextBox 11"/>
          <p:cNvSpPr txBox="1"/>
          <p:nvPr/>
        </p:nvSpPr>
        <p:spPr>
          <a:xfrm>
            <a:off x="566928" y="2011680"/>
            <a:ext cx="5349240" cy="2743200"/>
          </a:xfrm>
          <a:prstGeom prst="rect">
            <a:avLst/>
          </a:prstGeom>
          <a:noFill/>
        </p:spPr>
        <p:txBody>
          <a:bodyPr wrap="square" lIns="0" rIns="0" tIns="0" bIns="0" anchor="t">
            <a:spAutoFit/>
          </a:bodyPr>
          <a:lstStyle/>
          <a:p>
            <a:pPr algn="l">
              <a:lnSpc>
                <a:spcPct val="130000"/>
              </a:lnSpc>
              <a:spcAft>
                <a:spcPts val="600"/>
              </a:spcAft>
            </a:pPr>
            <a:r>
              <a:rPr sz="1250" b="1">
                <a:solidFill>
                  <a:srgbClr val="58595B"/>
                </a:solidFill>
                <a:latin typeface="Arial"/>
              </a:rPr>
              <a:t>Forage is a blind spot. </a:t>
            </a:r>
            <a:r>
              <a:rPr sz="1250" b="0">
                <a:solidFill>
                  <a:srgbClr val="58595B"/>
                </a:solidFill>
                <a:latin typeface="Arial"/>
              </a:rPr>
              <a:t>Hay and alfalfa are poorly served by metrics built around a single annual harvest, and they are a large share of irrigated acreage in the West.</a:t>
            </a:r>
          </a:p>
          <a:p>
            <a:pPr algn="l">
              <a:lnSpc>
                <a:spcPct val="130000"/>
              </a:lnSpc>
              <a:spcAft>
                <a:spcPts val="600"/>
              </a:spcAft>
            </a:pPr>
            <a:r>
              <a:rPr sz="1250" b="1">
                <a:solidFill>
                  <a:srgbClr val="58595B"/>
                </a:solidFill>
                <a:latin typeface="Arial"/>
              </a:rPr>
              <a:t>Cutting count and timing are the management signal. </a:t>
            </a:r>
            <a:r>
              <a:rPr sz="1250" b="0">
                <a:solidFill>
                  <a:srgbClr val="58595B"/>
                </a:solidFill>
                <a:latin typeface="Arial"/>
              </a:rPr>
              <a:t>How many times a stand is cut, and how long it is allowed to recover, is most of what distinguishes one alfalfa operation from another.</a:t>
            </a:r>
          </a:p>
          <a:p>
            <a:pPr algn="l">
              <a:lnSpc>
                <a:spcPct val="130000"/>
              </a:lnSpc>
              <a:spcAft>
                <a:spcPts val="600"/>
              </a:spcAft>
            </a:pPr>
            <a:r>
              <a:rPr sz="1250" b="1">
                <a:solidFill>
                  <a:srgbClr val="58595B"/>
                </a:solidFill>
                <a:latin typeface="Arial"/>
              </a:rPr>
              <a:t>It needs no new data. </a:t>
            </a:r>
            <a:r>
              <a:rPr sz="1250" b="0">
                <a:solidFill>
                  <a:srgbClr val="58595B"/>
                </a:solidFill>
                <a:latin typeface="Arial"/>
              </a:rPr>
              <a:t>Every number here came from imagery the pipeline already downloads for every field it touches.</a:t>
            </a:r>
          </a:p>
        </p:txBody>
      </p:sp>
      <p:sp>
        <p:nvSpPr>
          <p:cNvPr id="13" name="TextBox 12"/>
          <p:cNvSpPr txBox="1"/>
          <p:nvPr/>
        </p:nvSpPr>
        <p:spPr>
          <a:xfrm>
            <a:off x="6355080" y="1664208"/>
            <a:ext cx="5266944" cy="237744"/>
          </a:xfrm>
          <a:prstGeom prst="rect">
            <a:avLst/>
          </a:prstGeom>
          <a:noFill/>
        </p:spPr>
        <p:txBody>
          <a:bodyPr wrap="square" lIns="0" rIns="0" tIns="0" bIns="0" anchor="t">
            <a:spAutoFit/>
          </a:bodyPr>
          <a:lstStyle/>
          <a:p>
            <a:pPr algn="l">
              <a:lnSpc>
                <a:spcPct val="100000"/>
              </a:lnSpc>
              <a:spcAft>
                <a:spcPts val="0"/>
              </a:spcAft>
            </a:pPr>
            <a:r>
              <a:rPr sz="950" b="1">
                <a:solidFill>
                  <a:srgbClr val="F46C09"/>
                </a:solidFill>
                <a:latin typeface="Arial Narrow"/>
              </a:rPr>
              <a:t>WHAT IT WOULD TAKE TO TRUST IT</a:t>
            </a:r>
          </a:p>
        </p:txBody>
      </p:sp>
      <p:sp>
        <p:nvSpPr>
          <p:cNvPr id="14" name="TextBox 13"/>
          <p:cNvSpPr txBox="1"/>
          <p:nvPr/>
        </p:nvSpPr>
        <p:spPr>
          <a:xfrm>
            <a:off x="6355080" y="2011680"/>
            <a:ext cx="5266944" cy="2743200"/>
          </a:xfrm>
          <a:prstGeom prst="rect">
            <a:avLst/>
          </a:prstGeom>
          <a:noFill/>
        </p:spPr>
        <p:txBody>
          <a:bodyPr wrap="square" lIns="0" rIns="0" tIns="0" bIns="0" anchor="t">
            <a:spAutoFit/>
          </a:bodyPr>
          <a:lstStyle/>
          <a:p>
            <a:pPr algn="l">
              <a:lnSpc>
                <a:spcPct val="130000"/>
              </a:lnSpc>
              <a:spcAft>
                <a:spcPts val="600"/>
              </a:spcAft>
            </a:pPr>
            <a:r>
              <a:rPr sz="1250" b="1">
                <a:solidFill>
                  <a:srgbClr val="58595B"/>
                </a:solidFill>
                <a:latin typeface="Arial"/>
              </a:rPr>
              <a:t>One season of real cutting dates. </a:t>
            </a:r>
            <a:r>
              <a:rPr sz="1250" b="0">
                <a:solidFill>
                  <a:srgbClr val="58595B"/>
                </a:solidFill>
                <a:latin typeface="Arial"/>
              </a:rPr>
              <a:t>A grower's log for ten alfalfa fields over one summer would be enough to measure, for the first time, whether the count is right and how close the dates land.</a:t>
            </a:r>
          </a:p>
          <a:p>
            <a:pPr algn="l">
              <a:lnSpc>
                <a:spcPct val="130000"/>
              </a:lnSpc>
              <a:spcAft>
                <a:spcPts val="600"/>
              </a:spcAft>
            </a:pPr>
            <a:r>
              <a:rPr sz="1250" b="1">
                <a:solidFill>
                  <a:srgbClr val="58595B"/>
                </a:solidFill>
                <a:latin typeface="Arial"/>
              </a:rPr>
              <a:t>A perennial path through the pipeline. </a:t>
            </a:r>
            <a:r>
              <a:rPr sz="1250" b="0">
                <a:solidFill>
                  <a:srgbClr val="58595B"/>
                </a:solidFill>
                <a:latin typeface="Arial"/>
              </a:rPr>
              <a:t>Detect the crop as perennial from the Cropland Data Layer, then skip planting, harvest, cover crop and pre-planting armor, and report a cutting series instead.</a:t>
            </a:r>
          </a:p>
          <a:p>
            <a:pPr algn="l">
              <a:lnSpc>
                <a:spcPct val="130000"/>
              </a:lnSpc>
              <a:spcAft>
                <a:spcPts val="600"/>
              </a:spcAft>
            </a:pPr>
            <a:r>
              <a:rPr sz="1250" b="1">
                <a:solidFill>
                  <a:srgbClr val="58595B"/>
                </a:solidFill>
                <a:latin typeface="Arial"/>
              </a:rPr>
              <a:t>Fields outside this valley. </a:t>
            </a:r>
            <a:r>
              <a:rPr sz="1250" b="0">
                <a:solidFill>
                  <a:srgbClr val="58595B"/>
                </a:solidFill>
                <a:latin typeface="Arial"/>
              </a:rPr>
              <a:t>Rain-fed and shorter-season stands, to see whether constants fitted here travel at all.</a:t>
            </a:r>
          </a:p>
        </p:txBody>
      </p:sp>
      <p:sp>
        <p:nvSpPr>
          <p:cNvPr id="15" name="Rectangle 14"/>
          <p:cNvSpPr/>
          <p:nvPr/>
        </p:nvSpPr>
        <p:spPr>
          <a:xfrm>
            <a:off x="566928" y="5047488"/>
            <a:ext cx="45720" cy="512064"/>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5084064"/>
            <a:ext cx="10607040" cy="457200"/>
          </a:xfrm>
          <a:prstGeom prst="rect">
            <a:avLst/>
          </a:prstGeom>
          <a:noFill/>
        </p:spPr>
        <p:txBody>
          <a:bodyPr wrap="square" lIns="0" rIns="0" tIns="0" bIns="0" anchor="t">
            <a:spAutoFit/>
          </a:bodyPr>
          <a:lstStyle/>
          <a:p>
            <a:pPr algn="l">
              <a:lnSpc>
                <a:spcPct val="140000"/>
              </a:lnSpc>
              <a:spcAft>
                <a:spcPts val="0"/>
              </a:spcAft>
            </a:pPr>
            <a:r>
              <a:rPr sz="1400" b="0">
                <a:solidFill>
                  <a:srgbClr val="212121"/>
                </a:solidFill>
                <a:latin typeface="Arial"/>
              </a:rPr>
              <a:t>The pipeline found something it was never designed to look for. That is worth a validation season.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